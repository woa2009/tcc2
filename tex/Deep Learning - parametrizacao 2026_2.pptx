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6"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Lst>
  <p:sldSz cy="5143500" cx="9144000"/>
  <p:notesSz cx="6858000" cy="9144000"/>
  <p:embeddedFontLst>
    <p:embeddedFont>
      <p:font typeface="Roboto"/>
      <p:regular r:id="rId87"/>
      <p:bold r:id="rId88"/>
      <p:italic r:id="rId89"/>
      <p:boldItalic r:id="rId90"/>
    </p:embeddedFont>
    <p:embeddedFont>
      <p:font typeface="Inter"/>
      <p:regular r:id="rId91"/>
      <p:bold r:id="rId92"/>
      <p:italic r:id="rId93"/>
      <p:boldItalic r:id="rId94"/>
    </p:embeddedFont>
    <p:embeddedFont>
      <p:font typeface="Bodoni"/>
      <p:bold r:id="rId95"/>
      <p:boldItalic r:id="rId96"/>
    </p:embeddedFont>
    <p:embeddedFont>
      <p:font typeface="Inter ExtraBold"/>
      <p:bold r:id="rId97"/>
      <p:boldItalic r:id="rId98"/>
    </p:embeddedFont>
    <p:embeddedFont>
      <p:font typeface="Jim Nightshade"/>
      <p:regular r:id="rId99"/>
    </p:embeddedFont>
    <p:embeddedFont>
      <p:font typeface="Merriweather"/>
      <p:regular r:id="rId100"/>
      <p:bold r:id="rId101"/>
      <p:italic r:id="rId102"/>
      <p:boldItalic r:id="rId10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0F24198-1B20-4A89-9A3D-959960E0EF43}">
  <a:tblStyle styleId="{30F24198-1B20-4A89-9A3D-959960E0EF43}"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3" Type="http://schemas.openxmlformats.org/officeDocument/2006/relationships/font" Target="fonts/Merriweather-boldItalic.fntdata"/><Relationship Id="rId102" Type="http://schemas.openxmlformats.org/officeDocument/2006/relationships/font" Target="fonts/Merriweather-italic.fntdata"/><Relationship Id="rId101" Type="http://schemas.openxmlformats.org/officeDocument/2006/relationships/font" Target="fonts/Merriweather-bold.fntdata"/><Relationship Id="rId100" Type="http://schemas.openxmlformats.org/officeDocument/2006/relationships/font" Target="fonts/Merriweather-regular.fntdata"/><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95" Type="http://schemas.openxmlformats.org/officeDocument/2006/relationships/font" Target="fonts/Bodoni-bold.fntdata"/><Relationship Id="rId94" Type="http://schemas.openxmlformats.org/officeDocument/2006/relationships/font" Target="fonts/Inter-boldItalic.fntdata"/><Relationship Id="rId97" Type="http://schemas.openxmlformats.org/officeDocument/2006/relationships/font" Target="fonts/InterExtraBold-bold.fntdata"/><Relationship Id="rId96" Type="http://schemas.openxmlformats.org/officeDocument/2006/relationships/font" Target="fonts/Bodoni-boldItalic.fntdata"/><Relationship Id="rId11" Type="http://schemas.openxmlformats.org/officeDocument/2006/relationships/slide" Target="slides/slide5.xml"/><Relationship Id="rId99" Type="http://schemas.openxmlformats.org/officeDocument/2006/relationships/font" Target="fonts/JimNightshade-regular.fntdata"/><Relationship Id="rId10" Type="http://schemas.openxmlformats.org/officeDocument/2006/relationships/slide" Target="slides/slide4.xml"/><Relationship Id="rId98" Type="http://schemas.openxmlformats.org/officeDocument/2006/relationships/font" Target="fonts/InterExtraBold-boldItalic.fntdata"/><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font" Target="fonts/Inter-regular.fntdata"/><Relationship Id="rId90" Type="http://schemas.openxmlformats.org/officeDocument/2006/relationships/font" Target="fonts/Roboto-boldItalic.fntdata"/><Relationship Id="rId93" Type="http://schemas.openxmlformats.org/officeDocument/2006/relationships/font" Target="fonts/Inter-italic.fntdata"/><Relationship Id="rId92" Type="http://schemas.openxmlformats.org/officeDocument/2006/relationships/font" Target="fonts/Inter-bold.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font" Target="fonts/Roboto-bold.fntdata"/><Relationship Id="rId87" Type="http://schemas.openxmlformats.org/officeDocument/2006/relationships/font" Target="fonts/Roboto-regular.fntdata"/><Relationship Id="rId89" Type="http://schemas.openxmlformats.org/officeDocument/2006/relationships/font" Target="fonts/Roboto-italic.fntdata"/><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10f20ac23fb_0_0:notes"/>
          <p:cNvSpPr txBox="1"/>
          <p:nvPr>
            <p:ph idx="1" type="body"/>
          </p:nvPr>
        </p:nvSpPr>
        <p:spPr>
          <a:xfrm>
            <a:off x="685793" y="4343395"/>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g10f20ac23fb_0_0:notes"/>
          <p:cNvSpPr/>
          <p:nvPr>
            <p:ph idx="2" type="sldImg"/>
          </p:nvPr>
        </p:nvSpPr>
        <p:spPr>
          <a:xfrm>
            <a:off x="377357" y="685783"/>
            <a:ext cx="6103800" cy="3429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1dfb0602fdc_0_3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g1dfb0602fdc_0_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1dfb0602fdc_0_4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g1dfb0602fdc_0_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1dfb0602fdc_0_4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g1dfb0602fdc_0_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1dfb0602fdc_0_5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g1dfb0602fdc_0_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1dfb0602fdc_0_6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g1dfb0602fdc_0_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1dfb0602fdc_0_6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g1dfb0602fdc_0_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1dfb0602fdc_0_7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g1dfb0602fdc_0_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1dfb0602fdc_0_7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g1dfb0602fdc_0_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1dfb0602fdc_0_8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g1dfb0602fdc_0_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1dfb0602fdc_0_9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g1dfb0602fdc_0_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1dfb0602fdc_0_9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g1dfb0602fdc_0_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1dfb0602fdc_0_10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g1dfb0602fdc_0_1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1dfb0602fdc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1dfb0602fdc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1dfb0602fdc_0_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1dfb0602fdc_0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1dfb0602fdc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1dfb0602fdc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1dfb0602fdc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1dfb0602fdc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1dfb0602fdc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1dfb0602fdc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1dfb0602fdc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1dfb0602fdc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1dfb0602fdc_0_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1dfb0602fdc_0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1dfb0602fdc_0_2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1dfb0602fdc_0_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1dfb0602fdc_0_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1dfb0602fdc_0_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10f20ac23fb_0_3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10f20ac23fb_0_3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10f20ac23fb_0_4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10f20ac23fb_0_4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10f20ac23fb_0_4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10f20ac23fb_0_4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10f20ac23fb_0_4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10f20ac23fb_0_4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10f509d663d_0_6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g10f509d663d_0_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10f20ac23fb_0_4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10f20ac23fb_0_4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10f20ac23fb_0_4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10f20ac23fb_0_4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10f509d663d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10f509d663d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10f509d663d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10f509d663d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10f509d663d_0_8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g10f509d663d_0_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1dfb0602fdc_0_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g1dfb0602fdc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10f509d663d_0_8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g10f509d663d_0_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10f20ac23fb_0_134:notes"/>
          <p:cNvSpPr txBox="1"/>
          <p:nvPr>
            <p:ph idx="1" type="body"/>
          </p:nvPr>
        </p:nvSpPr>
        <p:spPr>
          <a:xfrm>
            <a:off x="685793" y="4343395"/>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g10f20ac23fb_0_134:notes"/>
          <p:cNvSpPr/>
          <p:nvPr>
            <p:ph idx="2" type="sldImg"/>
          </p:nvPr>
        </p:nvSpPr>
        <p:spPr>
          <a:xfrm>
            <a:off x="377357" y="685783"/>
            <a:ext cx="6103800" cy="3429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10f509d663d_0_20:notes"/>
          <p:cNvSpPr txBox="1"/>
          <p:nvPr>
            <p:ph idx="1" type="body"/>
          </p:nvPr>
        </p:nvSpPr>
        <p:spPr>
          <a:xfrm>
            <a:off x="685793" y="4343395"/>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g10f509d663d_0_20:notes"/>
          <p:cNvSpPr/>
          <p:nvPr>
            <p:ph idx="2" type="sldImg"/>
          </p:nvPr>
        </p:nvSpPr>
        <p:spPr>
          <a:xfrm>
            <a:off x="377357" y="685783"/>
            <a:ext cx="6103800" cy="3429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10f509d663d_0_30:notes"/>
          <p:cNvSpPr txBox="1"/>
          <p:nvPr>
            <p:ph idx="1" type="body"/>
          </p:nvPr>
        </p:nvSpPr>
        <p:spPr>
          <a:xfrm>
            <a:off x="685793" y="4343395"/>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g10f509d663d_0_30:notes"/>
          <p:cNvSpPr/>
          <p:nvPr>
            <p:ph idx="2" type="sldImg"/>
          </p:nvPr>
        </p:nvSpPr>
        <p:spPr>
          <a:xfrm>
            <a:off x="377357" y="685783"/>
            <a:ext cx="6103800" cy="3429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1f4be608f2a_0_1:notes"/>
          <p:cNvSpPr txBox="1"/>
          <p:nvPr>
            <p:ph idx="1" type="body"/>
          </p:nvPr>
        </p:nvSpPr>
        <p:spPr>
          <a:xfrm>
            <a:off x="685793" y="4343395"/>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g1f4be608f2a_0_1:notes"/>
          <p:cNvSpPr/>
          <p:nvPr>
            <p:ph idx="2" type="sldImg"/>
          </p:nvPr>
        </p:nvSpPr>
        <p:spPr>
          <a:xfrm>
            <a:off x="377357" y="685783"/>
            <a:ext cx="6103800" cy="3429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1f4be608f2a_0_11:notes"/>
          <p:cNvSpPr txBox="1"/>
          <p:nvPr>
            <p:ph idx="1" type="body"/>
          </p:nvPr>
        </p:nvSpPr>
        <p:spPr>
          <a:xfrm>
            <a:off x="685793" y="4343395"/>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g1f4be608f2a_0_11:notes"/>
          <p:cNvSpPr/>
          <p:nvPr>
            <p:ph idx="2" type="sldImg"/>
          </p:nvPr>
        </p:nvSpPr>
        <p:spPr>
          <a:xfrm>
            <a:off x="377357" y="685783"/>
            <a:ext cx="6103800" cy="3429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1f4be608f2a_0_19:notes"/>
          <p:cNvSpPr txBox="1"/>
          <p:nvPr>
            <p:ph idx="1" type="body"/>
          </p:nvPr>
        </p:nvSpPr>
        <p:spPr>
          <a:xfrm>
            <a:off x="685793" y="4343395"/>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g1f4be608f2a_0_19:notes"/>
          <p:cNvSpPr/>
          <p:nvPr>
            <p:ph idx="2" type="sldImg"/>
          </p:nvPr>
        </p:nvSpPr>
        <p:spPr>
          <a:xfrm>
            <a:off x="377357" y="685783"/>
            <a:ext cx="6103800" cy="3429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10f509d663d_0_38:notes"/>
          <p:cNvSpPr txBox="1"/>
          <p:nvPr>
            <p:ph idx="1" type="body"/>
          </p:nvPr>
        </p:nvSpPr>
        <p:spPr>
          <a:xfrm>
            <a:off x="685793" y="4343395"/>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g10f509d663d_0_38:notes"/>
          <p:cNvSpPr/>
          <p:nvPr>
            <p:ph idx="2" type="sldImg"/>
          </p:nvPr>
        </p:nvSpPr>
        <p:spPr>
          <a:xfrm>
            <a:off x="377357" y="685783"/>
            <a:ext cx="6103800" cy="3429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10f509d663d_0_46:notes"/>
          <p:cNvSpPr txBox="1"/>
          <p:nvPr>
            <p:ph idx="1" type="body"/>
          </p:nvPr>
        </p:nvSpPr>
        <p:spPr>
          <a:xfrm>
            <a:off x="685793" y="4343395"/>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g10f509d663d_0_46:notes"/>
          <p:cNvSpPr/>
          <p:nvPr>
            <p:ph idx="2" type="sldImg"/>
          </p:nvPr>
        </p:nvSpPr>
        <p:spPr>
          <a:xfrm>
            <a:off x="377357" y="685783"/>
            <a:ext cx="6103800" cy="3429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10f509d663d_0_16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g10f509d663d_0_1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3fa0d7464fa_3_10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g3fa0d7464fa_3_10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3fa0d7464fa_3_3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3fa0d7464fa_3_3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10f509d663d_0_16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g10f509d663d_0_1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10f509d663d_0_22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g10f509d663d_0_2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10f509d663d_0_23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g10f509d663d_0_2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10f509d663d_0_23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g10f509d663d_0_2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1f4be608f2a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1" name="Google Shape;501;g1f4be608f2a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3a11429492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7" name="Google Shape;507;g3a11429492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10f509d663d_0_36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g10f509d663d_0_3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10f509d663d_0_29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g10f509d663d_0_2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10f509d663d_0_29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g10f509d663d_0_2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g10f509d663d_0_30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g10f509d663d_0_3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g10f509d663d_0_31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g10f509d663d_0_3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10f509d663d_0_51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g10f509d663d_0_5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10f509d663d_0_52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g10f509d663d_0_5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g10f509d663d_0_42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g10f509d663d_0_4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10f509d663d_0_43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g10f509d663d_0_4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10f509d663d_0_44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g10f509d663d_0_4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g10f509d663d_0_45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g10f509d663d_0_4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g10f509d663d_0_49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g10f509d663d_0_4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g1f4be608f2a_0_3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g1f4be608f2a_0_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fa0d7464fa_3_15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6" name="Google Shape;656;g3fa0d7464fa_3_15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g3fa0d7464fa_3_1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8" name="Google Shape;668;g3fa0d7464fa_3_1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10f20ac23fb_0_50:notes"/>
          <p:cNvSpPr txBox="1"/>
          <p:nvPr>
            <p:ph idx="1" type="body"/>
          </p:nvPr>
        </p:nvSpPr>
        <p:spPr>
          <a:xfrm>
            <a:off x="685793" y="4343395"/>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g10f20ac23fb_0_50:notes"/>
          <p:cNvSpPr/>
          <p:nvPr>
            <p:ph idx="2" type="sldImg"/>
          </p:nvPr>
        </p:nvSpPr>
        <p:spPr>
          <a:xfrm>
            <a:off x="377357" y="685783"/>
            <a:ext cx="6103800" cy="3429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g10f20ac23fb_0_39:notes"/>
          <p:cNvSpPr txBox="1"/>
          <p:nvPr>
            <p:ph idx="1" type="body"/>
          </p:nvPr>
        </p:nvSpPr>
        <p:spPr>
          <a:xfrm>
            <a:off x="685793" y="4343395"/>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g10f20ac23fb_0_39:notes"/>
          <p:cNvSpPr/>
          <p:nvPr>
            <p:ph idx="2" type="sldImg"/>
          </p:nvPr>
        </p:nvSpPr>
        <p:spPr>
          <a:xfrm>
            <a:off x="377357" y="685783"/>
            <a:ext cx="6103800" cy="3429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g10f20ac23fb_0_61:notes"/>
          <p:cNvSpPr txBox="1"/>
          <p:nvPr>
            <p:ph idx="1" type="body"/>
          </p:nvPr>
        </p:nvSpPr>
        <p:spPr>
          <a:xfrm>
            <a:off x="685793" y="4343395"/>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g10f20ac23fb_0_61:notes"/>
          <p:cNvSpPr/>
          <p:nvPr>
            <p:ph idx="2" type="sldImg"/>
          </p:nvPr>
        </p:nvSpPr>
        <p:spPr>
          <a:xfrm>
            <a:off x="377357" y="685783"/>
            <a:ext cx="6103800" cy="3429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10f20ac23fb_0_74:notes"/>
          <p:cNvSpPr txBox="1"/>
          <p:nvPr>
            <p:ph idx="1" type="body"/>
          </p:nvPr>
        </p:nvSpPr>
        <p:spPr>
          <a:xfrm>
            <a:off x="685793" y="4343395"/>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g10f20ac23fb_0_74:notes"/>
          <p:cNvSpPr/>
          <p:nvPr>
            <p:ph idx="2" type="sldImg"/>
          </p:nvPr>
        </p:nvSpPr>
        <p:spPr>
          <a:xfrm>
            <a:off x="377357" y="685783"/>
            <a:ext cx="6103800" cy="3429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g10f20ac23fb_0_80:notes"/>
          <p:cNvSpPr txBox="1"/>
          <p:nvPr>
            <p:ph idx="1" type="body"/>
          </p:nvPr>
        </p:nvSpPr>
        <p:spPr>
          <a:xfrm>
            <a:off x="685793" y="4343395"/>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g10f20ac23fb_0_80:notes"/>
          <p:cNvSpPr/>
          <p:nvPr>
            <p:ph idx="2" type="sldImg"/>
          </p:nvPr>
        </p:nvSpPr>
        <p:spPr>
          <a:xfrm>
            <a:off x="377357" y="685783"/>
            <a:ext cx="6103800" cy="3429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g1dfb0602fdc_0_19:notes"/>
          <p:cNvSpPr txBox="1"/>
          <p:nvPr>
            <p:ph idx="1" type="body"/>
          </p:nvPr>
        </p:nvSpPr>
        <p:spPr>
          <a:xfrm>
            <a:off x="685793" y="4343395"/>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g1dfb0602fdc_0_19:notes"/>
          <p:cNvSpPr/>
          <p:nvPr>
            <p:ph idx="2" type="sldImg"/>
          </p:nvPr>
        </p:nvSpPr>
        <p:spPr>
          <a:xfrm>
            <a:off x="377357" y="685783"/>
            <a:ext cx="6103800" cy="3429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g1dfb0602fdc_0_26:notes"/>
          <p:cNvSpPr txBox="1"/>
          <p:nvPr>
            <p:ph idx="1" type="body"/>
          </p:nvPr>
        </p:nvSpPr>
        <p:spPr>
          <a:xfrm>
            <a:off x="685793" y="4343395"/>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g1dfb0602fdc_0_26:notes"/>
          <p:cNvSpPr/>
          <p:nvPr>
            <p:ph idx="2" type="sldImg"/>
          </p:nvPr>
        </p:nvSpPr>
        <p:spPr>
          <a:xfrm>
            <a:off x="377357" y="685783"/>
            <a:ext cx="6103800" cy="3429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3" name="Shape 743"/>
        <p:cNvGrpSpPr/>
        <p:nvPr/>
      </p:nvGrpSpPr>
      <p:grpSpPr>
        <a:xfrm>
          <a:off x="0" y="0"/>
          <a:ext cx="0" cy="0"/>
          <a:chOff x="0" y="0"/>
          <a:chExt cx="0" cy="0"/>
        </a:xfrm>
      </p:grpSpPr>
      <p:sp>
        <p:nvSpPr>
          <p:cNvPr id="744" name="Google Shape;744;g10f20ac23fb_0_86:notes"/>
          <p:cNvSpPr txBox="1"/>
          <p:nvPr>
            <p:ph idx="1" type="body"/>
          </p:nvPr>
        </p:nvSpPr>
        <p:spPr>
          <a:xfrm>
            <a:off x="685793" y="4343395"/>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g10f20ac23fb_0_86:notes"/>
          <p:cNvSpPr/>
          <p:nvPr>
            <p:ph idx="2" type="sldImg"/>
          </p:nvPr>
        </p:nvSpPr>
        <p:spPr>
          <a:xfrm>
            <a:off x="377357" y="685783"/>
            <a:ext cx="6103800" cy="3429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g10f20ac23fb_0_67:notes"/>
          <p:cNvSpPr txBox="1"/>
          <p:nvPr>
            <p:ph idx="1" type="body"/>
          </p:nvPr>
        </p:nvSpPr>
        <p:spPr>
          <a:xfrm>
            <a:off x="685793" y="4343395"/>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g10f20ac23fb_0_67:notes"/>
          <p:cNvSpPr/>
          <p:nvPr>
            <p:ph idx="2" type="sldImg"/>
          </p:nvPr>
        </p:nvSpPr>
        <p:spPr>
          <a:xfrm>
            <a:off x="377357" y="685783"/>
            <a:ext cx="6103800" cy="3429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g10f509d663d_0_583:notes"/>
          <p:cNvSpPr txBox="1"/>
          <p:nvPr>
            <p:ph idx="1" type="body"/>
          </p:nvPr>
        </p:nvSpPr>
        <p:spPr>
          <a:xfrm>
            <a:off x="685793" y="4343395"/>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g10f509d663d_0_583:notes"/>
          <p:cNvSpPr/>
          <p:nvPr>
            <p:ph idx="2" type="sldImg"/>
          </p:nvPr>
        </p:nvSpPr>
        <p:spPr>
          <a:xfrm>
            <a:off x="377357" y="685783"/>
            <a:ext cx="6103800" cy="3429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g10610c86ee2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7" name="Google Shape;767;g10610c86ee2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g142287e2bd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3" name="Google Shape;773;g142287e2bd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g1428330db3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9" name="Google Shape;779;g1428330db3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Conteúdo" type="obj">
  <p:cSld name="OBJECT">
    <p:spTree>
      <p:nvGrpSpPr>
        <p:cNvPr id="50" name="Shape 50"/>
        <p:cNvGrpSpPr/>
        <p:nvPr/>
      </p:nvGrpSpPr>
      <p:grpSpPr>
        <a:xfrm>
          <a:off x="0" y="0"/>
          <a:ext cx="0" cy="0"/>
          <a:chOff x="0" y="0"/>
          <a:chExt cx="0" cy="0"/>
        </a:xfrm>
      </p:grpSpPr>
      <p:sp>
        <p:nvSpPr>
          <p:cNvPr id="51" name="Google Shape;51;p13"/>
          <p:cNvSpPr txBox="1"/>
          <p:nvPr>
            <p:ph type="title"/>
          </p:nvPr>
        </p:nvSpPr>
        <p:spPr>
          <a:xfrm>
            <a:off x="822960" y="214952"/>
            <a:ext cx="7543800" cy="1088100"/>
          </a:xfrm>
          <a:prstGeom prst="rect">
            <a:avLst/>
          </a:prstGeom>
          <a:noFill/>
          <a:ln>
            <a:noFill/>
          </a:ln>
        </p:spPr>
        <p:txBody>
          <a:bodyPr anchorCtr="0" anchor="b" bIns="34275" lIns="68575" spcFirstLastPara="1" rIns="68575" wrap="square" tIns="34275">
            <a:normAutofit/>
          </a:bodyPr>
          <a:lstStyle>
            <a:lvl1pPr lvl="0" rtl="0" algn="l">
              <a:lnSpc>
                <a:spcPct val="85000"/>
              </a:lnSpc>
              <a:spcBef>
                <a:spcPts val="0"/>
              </a:spcBef>
              <a:spcAft>
                <a:spcPts val="0"/>
              </a:spcAft>
              <a:buClr>
                <a:srgbClr val="3F3F3F"/>
              </a:buClr>
              <a:buSzPts val="1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 name="Google Shape;52;p13"/>
          <p:cNvSpPr txBox="1"/>
          <p:nvPr>
            <p:ph idx="1" type="body"/>
          </p:nvPr>
        </p:nvSpPr>
        <p:spPr>
          <a:xfrm>
            <a:off x="822960" y="1384300"/>
            <a:ext cx="7543800" cy="3017400"/>
          </a:xfrm>
          <a:prstGeom prst="rect">
            <a:avLst/>
          </a:prstGeom>
          <a:noFill/>
          <a:ln>
            <a:noFill/>
          </a:ln>
        </p:spPr>
        <p:txBody>
          <a:bodyPr anchorCtr="0" anchor="t" bIns="34275" lIns="0" spcFirstLastPara="1" rIns="0" wrap="square" tIns="34275">
            <a:normAutofit/>
          </a:bodyPr>
          <a:lstStyle>
            <a:lvl1pPr indent="-317500" lvl="0" marL="457200" rtl="0" algn="l">
              <a:lnSpc>
                <a:spcPct val="90000"/>
              </a:lnSpc>
              <a:spcBef>
                <a:spcPts val="900"/>
              </a:spcBef>
              <a:spcAft>
                <a:spcPts val="0"/>
              </a:spcAft>
              <a:buSzPts val="1400"/>
              <a:buChar char="●"/>
              <a:defRPr/>
            </a:lvl1pPr>
            <a:lvl2pPr indent="-317500" lvl="1" marL="914400" rtl="0" algn="l">
              <a:lnSpc>
                <a:spcPct val="90000"/>
              </a:lnSpc>
              <a:spcBef>
                <a:spcPts val="200"/>
              </a:spcBef>
              <a:spcAft>
                <a:spcPts val="0"/>
              </a:spcAft>
              <a:buSzPts val="1400"/>
              <a:buChar char="○"/>
              <a:defRPr/>
            </a:lvl2pPr>
            <a:lvl3pPr indent="-317500" lvl="2" marL="1371600" rtl="0" algn="l">
              <a:lnSpc>
                <a:spcPct val="90000"/>
              </a:lnSpc>
              <a:spcBef>
                <a:spcPts val="300"/>
              </a:spcBef>
              <a:spcAft>
                <a:spcPts val="0"/>
              </a:spcAft>
              <a:buSzPts val="1400"/>
              <a:buChar char="■"/>
              <a:defRPr/>
            </a:lvl3pPr>
            <a:lvl4pPr indent="-317500" lvl="3" marL="1828800" rtl="0" algn="l">
              <a:lnSpc>
                <a:spcPct val="90000"/>
              </a:lnSpc>
              <a:spcBef>
                <a:spcPts val="300"/>
              </a:spcBef>
              <a:spcAft>
                <a:spcPts val="0"/>
              </a:spcAft>
              <a:buSzPts val="1400"/>
              <a:buChar char="●"/>
              <a:defRPr/>
            </a:lvl4pPr>
            <a:lvl5pPr indent="-317500" lvl="4" marL="2286000" rtl="0" algn="l">
              <a:lnSpc>
                <a:spcPct val="90000"/>
              </a:lnSpc>
              <a:spcBef>
                <a:spcPts val="300"/>
              </a:spcBef>
              <a:spcAft>
                <a:spcPts val="0"/>
              </a:spcAft>
              <a:buSzPts val="1400"/>
              <a:buChar char="○"/>
              <a:defRPr/>
            </a:lvl5pPr>
            <a:lvl6pPr indent="-317500" lvl="5" marL="2743200" rtl="0" algn="l">
              <a:lnSpc>
                <a:spcPct val="90000"/>
              </a:lnSpc>
              <a:spcBef>
                <a:spcPts val="300"/>
              </a:spcBef>
              <a:spcAft>
                <a:spcPts val="0"/>
              </a:spcAft>
              <a:buSzPts val="1400"/>
              <a:buChar char="■"/>
              <a:defRPr/>
            </a:lvl6pPr>
            <a:lvl7pPr indent="-317500" lvl="6" marL="3200400" rtl="0" algn="l">
              <a:lnSpc>
                <a:spcPct val="90000"/>
              </a:lnSpc>
              <a:spcBef>
                <a:spcPts val="300"/>
              </a:spcBef>
              <a:spcAft>
                <a:spcPts val="0"/>
              </a:spcAft>
              <a:buSzPts val="1400"/>
              <a:buChar char="●"/>
              <a:defRPr/>
            </a:lvl7pPr>
            <a:lvl8pPr indent="-317500" lvl="7" marL="3657600" rtl="0" algn="l">
              <a:lnSpc>
                <a:spcPct val="90000"/>
              </a:lnSpc>
              <a:spcBef>
                <a:spcPts val="300"/>
              </a:spcBef>
              <a:spcAft>
                <a:spcPts val="0"/>
              </a:spcAft>
              <a:buSzPts val="1400"/>
              <a:buChar char="○"/>
              <a:defRPr/>
            </a:lvl8pPr>
            <a:lvl9pPr indent="-317500" lvl="8" marL="4114800" rtl="0" algn="l">
              <a:lnSpc>
                <a:spcPct val="90000"/>
              </a:lnSpc>
              <a:spcBef>
                <a:spcPts val="300"/>
              </a:spcBef>
              <a:spcAft>
                <a:spcPts val="300"/>
              </a:spcAft>
              <a:buSzPts val="1400"/>
              <a:buChar char="■"/>
              <a:defRPr/>
            </a:lvl9pPr>
          </a:lstStyle>
          <a:p/>
        </p:txBody>
      </p:sp>
      <p:sp>
        <p:nvSpPr>
          <p:cNvPr id="53" name="Google Shape;53;p13"/>
          <p:cNvSpPr txBox="1"/>
          <p:nvPr>
            <p:ph idx="10" type="dt"/>
          </p:nvPr>
        </p:nvSpPr>
        <p:spPr>
          <a:xfrm>
            <a:off x="822960" y="4844839"/>
            <a:ext cx="18543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sz="1100"/>
            </a:lvl1pPr>
            <a:lvl2pPr lvl="1" rtl="0" algn="l">
              <a:spcBef>
                <a:spcPts val="0"/>
              </a:spcBef>
              <a:spcAft>
                <a:spcPts val="0"/>
              </a:spcAft>
              <a:buSzPts val="1100"/>
              <a:buNone/>
              <a:defRPr sz="1100"/>
            </a:lvl2pPr>
            <a:lvl3pPr lvl="2" rtl="0" algn="l">
              <a:spcBef>
                <a:spcPts val="0"/>
              </a:spcBef>
              <a:spcAft>
                <a:spcPts val="0"/>
              </a:spcAft>
              <a:buSzPts val="1100"/>
              <a:buNone/>
              <a:defRPr sz="1100"/>
            </a:lvl3pPr>
            <a:lvl4pPr lvl="3" rtl="0" algn="l">
              <a:spcBef>
                <a:spcPts val="0"/>
              </a:spcBef>
              <a:spcAft>
                <a:spcPts val="0"/>
              </a:spcAft>
              <a:buSzPts val="1100"/>
              <a:buNone/>
              <a:defRPr sz="1100"/>
            </a:lvl4pPr>
            <a:lvl5pPr lvl="4" rtl="0" algn="l">
              <a:spcBef>
                <a:spcPts val="0"/>
              </a:spcBef>
              <a:spcAft>
                <a:spcPts val="0"/>
              </a:spcAft>
              <a:buSzPts val="1100"/>
              <a:buNone/>
              <a:defRPr sz="1100"/>
            </a:lvl5pPr>
            <a:lvl6pPr lvl="5" rtl="0" algn="l">
              <a:spcBef>
                <a:spcPts val="0"/>
              </a:spcBef>
              <a:spcAft>
                <a:spcPts val="0"/>
              </a:spcAft>
              <a:buSzPts val="1100"/>
              <a:buNone/>
              <a:defRPr sz="1100"/>
            </a:lvl6pPr>
            <a:lvl7pPr lvl="6" rtl="0" algn="l">
              <a:spcBef>
                <a:spcPts val="0"/>
              </a:spcBef>
              <a:spcAft>
                <a:spcPts val="0"/>
              </a:spcAft>
              <a:buSzPts val="1100"/>
              <a:buNone/>
              <a:defRPr sz="1100"/>
            </a:lvl7pPr>
            <a:lvl8pPr lvl="7" rtl="0" algn="l">
              <a:spcBef>
                <a:spcPts val="0"/>
              </a:spcBef>
              <a:spcAft>
                <a:spcPts val="0"/>
              </a:spcAft>
              <a:buSzPts val="1100"/>
              <a:buNone/>
              <a:defRPr sz="1100"/>
            </a:lvl8pPr>
            <a:lvl9pPr lvl="8" rtl="0" algn="l">
              <a:spcBef>
                <a:spcPts val="0"/>
              </a:spcBef>
              <a:spcAft>
                <a:spcPts val="0"/>
              </a:spcAft>
              <a:buSzPts val="1100"/>
              <a:buNone/>
              <a:defRPr sz="1100"/>
            </a:lvl9pPr>
          </a:lstStyle>
          <a:p/>
        </p:txBody>
      </p:sp>
      <p:sp>
        <p:nvSpPr>
          <p:cNvPr id="54" name="Google Shape;54;p13"/>
          <p:cNvSpPr txBox="1"/>
          <p:nvPr>
            <p:ph idx="11" type="ftr"/>
          </p:nvPr>
        </p:nvSpPr>
        <p:spPr>
          <a:xfrm>
            <a:off x="2764639" y="4844839"/>
            <a:ext cx="3617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sz="1100"/>
            </a:lvl1pPr>
            <a:lvl2pPr lvl="1" rtl="0" algn="l">
              <a:spcBef>
                <a:spcPts val="0"/>
              </a:spcBef>
              <a:spcAft>
                <a:spcPts val="0"/>
              </a:spcAft>
              <a:buSzPts val="1100"/>
              <a:buNone/>
              <a:defRPr sz="1100"/>
            </a:lvl2pPr>
            <a:lvl3pPr lvl="2" rtl="0" algn="l">
              <a:spcBef>
                <a:spcPts val="0"/>
              </a:spcBef>
              <a:spcAft>
                <a:spcPts val="0"/>
              </a:spcAft>
              <a:buSzPts val="1100"/>
              <a:buNone/>
              <a:defRPr sz="1100"/>
            </a:lvl3pPr>
            <a:lvl4pPr lvl="3" rtl="0" algn="l">
              <a:spcBef>
                <a:spcPts val="0"/>
              </a:spcBef>
              <a:spcAft>
                <a:spcPts val="0"/>
              </a:spcAft>
              <a:buSzPts val="1100"/>
              <a:buNone/>
              <a:defRPr sz="1100"/>
            </a:lvl4pPr>
            <a:lvl5pPr lvl="4" rtl="0" algn="l">
              <a:spcBef>
                <a:spcPts val="0"/>
              </a:spcBef>
              <a:spcAft>
                <a:spcPts val="0"/>
              </a:spcAft>
              <a:buSzPts val="1100"/>
              <a:buNone/>
              <a:defRPr sz="1100"/>
            </a:lvl5pPr>
            <a:lvl6pPr lvl="5" rtl="0" algn="l">
              <a:spcBef>
                <a:spcPts val="0"/>
              </a:spcBef>
              <a:spcAft>
                <a:spcPts val="0"/>
              </a:spcAft>
              <a:buSzPts val="1100"/>
              <a:buNone/>
              <a:defRPr sz="1100"/>
            </a:lvl6pPr>
            <a:lvl7pPr lvl="6" rtl="0" algn="l">
              <a:spcBef>
                <a:spcPts val="0"/>
              </a:spcBef>
              <a:spcAft>
                <a:spcPts val="0"/>
              </a:spcAft>
              <a:buSzPts val="1100"/>
              <a:buNone/>
              <a:defRPr sz="1100"/>
            </a:lvl7pPr>
            <a:lvl8pPr lvl="7" rtl="0" algn="l">
              <a:spcBef>
                <a:spcPts val="0"/>
              </a:spcBef>
              <a:spcAft>
                <a:spcPts val="0"/>
              </a:spcAft>
              <a:buSzPts val="1100"/>
              <a:buNone/>
              <a:defRPr sz="1100"/>
            </a:lvl8pPr>
            <a:lvl9pPr lvl="8" rtl="0" algn="l">
              <a:spcBef>
                <a:spcPts val="0"/>
              </a:spcBef>
              <a:spcAft>
                <a:spcPts val="0"/>
              </a:spcAft>
              <a:buSzPts val="1100"/>
              <a:buNone/>
              <a:defRPr sz="1100"/>
            </a:lvl9pPr>
          </a:lstStyle>
          <a:p/>
        </p:txBody>
      </p:sp>
      <p:sp>
        <p:nvSpPr>
          <p:cNvPr id="55" name="Google Shape;55;p13"/>
          <p:cNvSpPr txBox="1"/>
          <p:nvPr>
            <p:ph idx="12" type="sldNum"/>
          </p:nvPr>
        </p:nvSpPr>
        <p:spPr>
          <a:xfrm>
            <a:off x="7425343" y="4844839"/>
            <a:ext cx="984000" cy="273900"/>
          </a:xfrm>
          <a:prstGeom prst="rect">
            <a:avLst/>
          </a:prstGeom>
          <a:noFill/>
          <a:ln>
            <a:noFill/>
          </a:ln>
        </p:spPr>
        <p:txBody>
          <a:bodyPr anchorCtr="0" anchor="ctr" bIns="34275" lIns="68575" spcFirstLastPara="1" rIns="68575" wrap="square" tIns="34275">
            <a:norm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on left, two objects on right" type="txAndTwoObj">
  <p:cSld name="TEXT_AND_TWO_OBJECTS">
    <p:spTree>
      <p:nvGrpSpPr>
        <p:cNvPr id="56" name="Shape 56"/>
        <p:cNvGrpSpPr/>
        <p:nvPr/>
      </p:nvGrpSpPr>
      <p:grpSpPr>
        <a:xfrm>
          <a:off x="0" y="0"/>
          <a:ext cx="0" cy="0"/>
          <a:chOff x="0" y="0"/>
          <a:chExt cx="0" cy="0"/>
        </a:xfrm>
      </p:grpSpPr>
      <p:sp>
        <p:nvSpPr>
          <p:cNvPr id="57" name="Google Shape;57;p14"/>
          <p:cNvSpPr txBox="1"/>
          <p:nvPr>
            <p:ph idx="10" type="dt"/>
          </p:nvPr>
        </p:nvSpPr>
        <p:spPr>
          <a:xfrm>
            <a:off x="457200" y="4683919"/>
            <a:ext cx="2133600" cy="357000"/>
          </a:xfrm>
          <a:prstGeom prst="rect">
            <a:avLst/>
          </a:prstGeom>
          <a:noFill/>
          <a:ln>
            <a:noFill/>
          </a:ln>
        </p:spPr>
        <p:txBody>
          <a:bodyPr anchorCtr="0" anchor="t"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58" name="Google Shape;58;p14"/>
          <p:cNvSpPr txBox="1"/>
          <p:nvPr>
            <p:ph idx="11" type="ftr"/>
          </p:nvPr>
        </p:nvSpPr>
        <p:spPr>
          <a:xfrm>
            <a:off x="3124200" y="4683919"/>
            <a:ext cx="2895600" cy="357000"/>
          </a:xfrm>
          <a:prstGeom prst="rect">
            <a:avLst/>
          </a:prstGeom>
          <a:noFill/>
          <a:ln>
            <a:noFill/>
          </a:ln>
        </p:spPr>
        <p:txBody>
          <a:bodyPr anchorCtr="0" anchor="t"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59" name="Google Shape;59;p14"/>
          <p:cNvSpPr txBox="1"/>
          <p:nvPr>
            <p:ph idx="12" type="sldNum"/>
          </p:nvPr>
        </p:nvSpPr>
        <p:spPr>
          <a:xfrm>
            <a:off x="6553200" y="4683919"/>
            <a:ext cx="2133600" cy="357000"/>
          </a:xfrm>
          <a:prstGeom prst="rect">
            <a:avLst/>
          </a:prstGeom>
          <a:noFill/>
          <a:ln>
            <a:noFill/>
          </a:ln>
        </p:spPr>
        <p:txBody>
          <a:bodyPr anchorCtr="0" anchor="t" bIns="45700" lIns="91425" spcFirstLastPara="1" rIns="91425" wrap="square" tIns="45700">
            <a:noAutofit/>
          </a:bodyPr>
          <a:lstStyle>
            <a:lvl1pPr indent="0" lvl="0" marL="0" rtl="0" algn="r">
              <a:lnSpc>
                <a:spcPct val="100000"/>
              </a:lnSpc>
              <a:spcBef>
                <a:spcPts val="0"/>
              </a:spcBef>
              <a:spcAft>
                <a:spcPts val="0"/>
              </a:spcAft>
              <a:buNone/>
              <a:defRPr sz="1400"/>
            </a:lvl1pPr>
            <a:lvl2pPr indent="0" lvl="1" marL="0" rtl="0" algn="r">
              <a:lnSpc>
                <a:spcPct val="100000"/>
              </a:lnSpc>
              <a:spcBef>
                <a:spcPts val="0"/>
              </a:spcBef>
              <a:spcAft>
                <a:spcPts val="0"/>
              </a:spcAft>
              <a:buNone/>
              <a:defRPr sz="1400"/>
            </a:lvl2pPr>
            <a:lvl3pPr indent="0" lvl="2" marL="0" rtl="0" algn="r">
              <a:lnSpc>
                <a:spcPct val="100000"/>
              </a:lnSpc>
              <a:spcBef>
                <a:spcPts val="0"/>
              </a:spcBef>
              <a:spcAft>
                <a:spcPts val="0"/>
              </a:spcAft>
              <a:buNone/>
              <a:defRPr sz="1400"/>
            </a:lvl3pPr>
            <a:lvl4pPr indent="0" lvl="3" marL="0" rtl="0" algn="r">
              <a:lnSpc>
                <a:spcPct val="100000"/>
              </a:lnSpc>
              <a:spcBef>
                <a:spcPts val="0"/>
              </a:spcBef>
              <a:spcAft>
                <a:spcPts val="0"/>
              </a:spcAft>
              <a:buNone/>
              <a:defRPr sz="1400"/>
            </a:lvl4pPr>
            <a:lvl5pPr indent="0" lvl="4" marL="0" rtl="0" algn="r">
              <a:lnSpc>
                <a:spcPct val="100000"/>
              </a:lnSpc>
              <a:spcBef>
                <a:spcPts val="0"/>
              </a:spcBef>
              <a:spcAft>
                <a:spcPts val="0"/>
              </a:spcAft>
              <a:buNone/>
              <a:defRPr sz="1400"/>
            </a:lvl5pPr>
            <a:lvl6pPr indent="0" lvl="5" marL="0" rtl="0" algn="r">
              <a:lnSpc>
                <a:spcPct val="100000"/>
              </a:lnSpc>
              <a:spcBef>
                <a:spcPts val="0"/>
              </a:spcBef>
              <a:spcAft>
                <a:spcPts val="0"/>
              </a:spcAft>
              <a:buNone/>
              <a:defRPr sz="1400"/>
            </a:lvl6pPr>
            <a:lvl7pPr indent="0" lvl="6" marL="0" rtl="0" algn="r">
              <a:lnSpc>
                <a:spcPct val="100000"/>
              </a:lnSpc>
              <a:spcBef>
                <a:spcPts val="0"/>
              </a:spcBef>
              <a:spcAft>
                <a:spcPts val="0"/>
              </a:spcAft>
              <a:buNone/>
              <a:defRPr sz="1400"/>
            </a:lvl7pPr>
            <a:lvl8pPr indent="0" lvl="7" marL="0" rtl="0" algn="r">
              <a:lnSpc>
                <a:spcPct val="100000"/>
              </a:lnSpc>
              <a:spcBef>
                <a:spcPts val="0"/>
              </a:spcBef>
              <a:spcAft>
                <a:spcPts val="0"/>
              </a:spcAft>
              <a:buNone/>
              <a:defRPr sz="1400"/>
            </a:lvl8pPr>
            <a:lvl9pPr indent="0" lvl="8" marL="0" rtl="0" algn="r">
              <a:lnSpc>
                <a:spcPct val="100000"/>
              </a:lnSpc>
              <a:spcBef>
                <a:spcPts val="0"/>
              </a:spcBef>
              <a:spcAft>
                <a:spcPts val="0"/>
              </a:spcAft>
              <a:buNone/>
              <a:defRPr sz="1400"/>
            </a:lvl9pPr>
          </a:lstStyle>
          <a:p>
            <a:pPr indent="0" lvl="0" marL="0" rtl="0" algn="r">
              <a:spcBef>
                <a:spcPts val="0"/>
              </a:spcBef>
              <a:spcAft>
                <a:spcPts val="0"/>
              </a:spcAft>
              <a:buNone/>
            </a:pPr>
            <a:fld id="{00000000-1234-1234-1234-123412341234}" type="slidenum">
              <a:rPr lang="pt-BR"/>
              <a:t>‹#›</a:t>
            </a:fld>
            <a:endParaRPr sz="100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on left, text on right">
  <p:cSld name="TITLE_AND_TWO_COLUMNS_1">
    <p:spTree>
      <p:nvGrpSpPr>
        <p:cNvPr id="60" name="Shape 60"/>
        <p:cNvGrpSpPr/>
        <p:nvPr/>
      </p:nvGrpSpPr>
      <p:grpSpPr>
        <a:xfrm>
          <a:off x="0" y="0"/>
          <a:ext cx="0" cy="0"/>
          <a:chOff x="0" y="0"/>
          <a:chExt cx="0" cy="0"/>
        </a:xfrm>
      </p:grpSpPr>
      <p:sp>
        <p:nvSpPr>
          <p:cNvPr id="61" name="Google Shape;61;p15"/>
          <p:cNvSpPr txBox="1"/>
          <p:nvPr>
            <p:ph idx="10" type="dt"/>
          </p:nvPr>
        </p:nvSpPr>
        <p:spPr>
          <a:xfrm>
            <a:off x="457200" y="4683919"/>
            <a:ext cx="2133600" cy="357000"/>
          </a:xfrm>
          <a:prstGeom prst="rect">
            <a:avLst/>
          </a:prstGeom>
          <a:noFill/>
          <a:ln>
            <a:noFill/>
          </a:ln>
        </p:spPr>
        <p:txBody>
          <a:bodyPr anchorCtr="0" anchor="t"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62" name="Google Shape;62;p15"/>
          <p:cNvSpPr txBox="1"/>
          <p:nvPr>
            <p:ph idx="11" type="ftr"/>
          </p:nvPr>
        </p:nvSpPr>
        <p:spPr>
          <a:xfrm>
            <a:off x="3124200" y="4683919"/>
            <a:ext cx="2895600" cy="357000"/>
          </a:xfrm>
          <a:prstGeom prst="rect">
            <a:avLst/>
          </a:prstGeom>
          <a:noFill/>
          <a:ln>
            <a:noFill/>
          </a:ln>
        </p:spPr>
        <p:txBody>
          <a:bodyPr anchorCtr="0" anchor="t"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63" name="Google Shape;63;p15"/>
          <p:cNvSpPr txBox="1"/>
          <p:nvPr>
            <p:ph idx="12" type="sldNum"/>
          </p:nvPr>
        </p:nvSpPr>
        <p:spPr>
          <a:xfrm>
            <a:off x="6553200" y="4683919"/>
            <a:ext cx="2133600" cy="357000"/>
          </a:xfrm>
          <a:prstGeom prst="rect">
            <a:avLst/>
          </a:prstGeom>
          <a:noFill/>
          <a:ln>
            <a:noFill/>
          </a:ln>
        </p:spPr>
        <p:txBody>
          <a:bodyPr anchorCtr="0" anchor="t" bIns="45700" lIns="91425" spcFirstLastPara="1" rIns="91425" wrap="square" tIns="45700">
            <a:noAutofit/>
          </a:bodyPr>
          <a:lstStyle>
            <a:lvl1pPr indent="0" lvl="0" marL="0" rtl="0" algn="r">
              <a:lnSpc>
                <a:spcPct val="100000"/>
              </a:lnSpc>
              <a:spcBef>
                <a:spcPts val="0"/>
              </a:spcBef>
              <a:spcAft>
                <a:spcPts val="0"/>
              </a:spcAft>
              <a:buNone/>
              <a:defRPr sz="1400"/>
            </a:lvl1pPr>
            <a:lvl2pPr indent="0" lvl="1" marL="0" rtl="0" algn="r">
              <a:lnSpc>
                <a:spcPct val="100000"/>
              </a:lnSpc>
              <a:spcBef>
                <a:spcPts val="0"/>
              </a:spcBef>
              <a:spcAft>
                <a:spcPts val="0"/>
              </a:spcAft>
              <a:buNone/>
              <a:defRPr sz="1400"/>
            </a:lvl2pPr>
            <a:lvl3pPr indent="0" lvl="2" marL="0" rtl="0" algn="r">
              <a:lnSpc>
                <a:spcPct val="100000"/>
              </a:lnSpc>
              <a:spcBef>
                <a:spcPts val="0"/>
              </a:spcBef>
              <a:spcAft>
                <a:spcPts val="0"/>
              </a:spcAft>
              <a:buNone/>
              <a:defRPr sz="1400"/>
            </a:lvl3pPr>
            <a:lvl4pPr indent="0" lvl="3" marL="0" rtl="0" algn="r">
              <a:lnSpc>
                <a:spcPct val="100000"/>
              </a:lnSpc>
              <a:spcBef>
                <a:spcPts val="0"/>
              </a:spcBef>
              <a:spcAft>
                <a:spcPts val="0"/>
              </a:spcAft>
              <a:buNone/>
              <a:defRPr sz="1400"/>
            </a:lvl4pPr>
            <a:lvl5pPr indent="0" lvl="4" marL="0" rtl="0" algn="r">
              <a:lnSpc>
                <a:spcPct val="100000"/>
              </a:lnSpc>
              <a:spcBef>
                <a:spcPts val="0"/>
              </a:spcBef>
              <a:spcAft>
                <a:spcPts val="0"/>
              </a:spcAft>
              <a:buNone/>
              <a:defRPr sz="1400"/>
            </a:lvl5pPr>
            <a:lvl6pPr indent="0" lvl="5" marL="0" rtl="0" algn="r">
              <a:lnSpc>
                <a:spcPct val="100000"/>
              </a:lnSpc>
              <a:spcBef>
                <a:spcPts val="0"/>
              </a:spcBef>
              <a:spcAft>
                <a:spcPts val="0"/>
              </a:spcAft>
              <a:buNone/>
              <a:defRPr sz="1400"/>
            </a:lvl6pPr>
            <a:lvl7pPr indent="0" lvl="6" marL="0" rtl="0" algn="r">
              <a:lnSpc>
                <a:spcPct val="100000"/>
              </a:lnSpc>
              <a:spcBef>
                <a:spcPts val="0"/>
              </a:spcBef>
              <a:spcAft>
                <a:spcPts val="0"/>
              </a:spcAft>
              <a:buNone/>
              <a:defRPr sz="1400"/>
            </a:lvl7pPr>
            <a:lvl8pPr indent="0" lvl="7" marL="0" rtl="0" algn="r">
              <a:lnSpc>
                <a:spcPct val="100000"/>
              </a:lnSpc>
              <a:spcBef>
                <a:spcPts val="0"/>
              </a:spcBef>
              <a:spcAft>
                <a:spcPts val="0"/>
              </a:spcAft>
              <a:buNone/>
              <a:defRPr sz="1400"/>
            </a:lvl8pPr>
            <a:lvl9pPr indent="0" lvl="8" marL="0" rtl="0" algn="r">
              <a:lnSpc>
                <a:spcPct val="100000"/>
              </a:lnSpc>
              <a:spcBef>
                <a:spcPts val="0"/>
              </a:spcBef>
              <a:spcAft>
                <a:spcPts val="0"/>
              </a:spcAft>
              <a:buNone/>
              <a:defRPr sz="1400"/>
            </a:lvl9pPr>
          </a:lstStyle>
          <a:p>
            <a:pPr indent="0" lvl="0" marL="0" rtl="0" algn="r">
              <a:spcBef>
                <a:spcPts val="0"/>
              </a:spcBef>
              <a:spcAft>
                <a:spcPts val="0"/>
              </a:spcAft>
              <a:buNone/>
            </a:pPr>
            <a:fld id="{00000000-1234-1234-1234-123412341234}" type="slidenum">
              <a:rPr lang="pt-BR"/>
              <a:t>‹#›</a:t>
            </a:fld>
            <a:endParaRPr sz="100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on left, text on right 1">
  <p:cSld name="TITLE_AND_TWO_COLUMNS_2">
    <p:spTree>
      <p:nvGrpSpPr>
        <p:cNvPr id="64" name="Shape 64"/>
        <p:cNvGrpSpPr/>
        <p:nvPr/>
      </p:nvGrpSpPr>
      <p:grpSpPr>
        <a:xfrm>
          <a:off x="0" y="0"/>
          <a:ext cx="0" cy="0"/>
          <a:chOff x="0" y="0"/>
          <a:chExt cx="0" cy="0"/>
        </a:xfrm>
      </p:grpSpPr>
      <p:sp>
        <p:nvSpPr>
          <p:cNvPr id="65" name="Google Shape;65;p16"/>
          <p:cNvSpPr txBox="1"/>
          <p:nvPr>
            <p:ph idx="10" type="dt"/>
          </p:nvPr>
        </p:nvSpPr>
        <p:spPr>
          <a:xfrm>
            <a:off x="457200" y="4683919"/>
            <a:ext cx="2133600" cy="357000"/>
          </a:xfrm>
          <a:prstGeom prst="rect">
            <a:avLst/>
          </a:prstGeom>
          <a:noFill/>
          <a:ln>
            <a:noFill/>
          </a:ln>
        </p:spPr>
        <p:txBody>
          <a:bodyPr anchorCtr="0" anchor="t"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66" name="Google Shape;66;p16"/>
          <p:cNvSpPr txBox="1"/>
          <p:nvPr>
            <p:ph idx="11" type="ftr"/>
          </p:nvPr>
        </p:nvSpPr>
        <p:spPr>
          <a:xfrm>
            <a:off x="3124200" y="4683919"/>
            <a:ext cx="2895600" cy="357000"/>
          </a:xfrm>
          <a:prstGeom prst="rect">
            <a:avLst/>
          </a:prstGeom>
          <a:noFill/>
          <a:ln>
            <a:noFill/>
          </a:ln>
        </p:spPr>
        <p:txBody>
          <a:bodyPr anchorCtr="0" anchor="t"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67" name="Google Shape;67;p16"/>
          <p:cNvSpPr txBox="1"/>
          <p:nvPr>
            <p:ph idx="12" type="sldNum"/>
          </p:nvPr>
        </p:nvSpPr>
        <p:spPr>
          <a:xfrm>
            <a:off x="6553200" y="4683919"/>
            <a:ext cx="2133600" cy="357000"/>
          </a:xfrm>
          <a:prstGeom prst="rect">
            <a:avLst/>
          </a:prstGeom>
          <a:noFill/>
          <a:ln>
            <a:noFill/>
          </a:ln>
        </p:spPr>
        <p:txBody>
          <a:bodyPr anchorCtr="0" anchor="t" bIns="45700" lIns="91425" spcFirstLastPara="1" rIns="91425" wrap="square" tIns="45700">
            <a:noAutofit/>
          </a:bodyPr>
          <a:lstStyle>
            <a:lvl1pPr indent="0" lvl="0" marL="0" rtl="0" algn="r">
              <a:lnSpc>
                <a:spcPct val="100000"/>
              </a:lnSpc>
              <a:spcBef>
                <a:spcPts val="0"/>
              </a:spcBef>
              <a:spcAft>
                <a:spcPts val="0"/>
              </a:spcAft>
              <a:buNone/>
              <a:defRPr sz="1400"/>
            </a:lvl1pPr>
            <a:lvl2pPr indent="0" lvl="1" marL="0" rtl="0" algn="r">
              <a:lnSpc>
                <a:spcPct val="100000"/>
              </a:lnSpc>
              <a:spcBef>
                <a:spcPts val="0"/>
              </a:spcBef>
              <a:spcAft>
                <a:spcPts val="0"/>
              </a:spcAft>
              <a:buNone/>
              <a:defRPr sz="1400"/>
            </a:lvl2pPr>
            <a:lvl3pPr indent="0" lvl="2" marL="0" rtl="0" algn="r">
              <a:lnSpc>
                <a:spcPct val="100000"/>
              </a:lnSpc>
              <a:spcBef>
                <a:spcPts val="0"/>
              </a:spcBef>
              <a:spcAft>
                <a:spcPts val="0"/>
              </a:spcAft>
              <a:buNone/>
              <a:defRPr sz="1400"/>
            </a:lvl3pPr>
            <a:lvl4pPr indent="0" lvl="3" marL="0" rtl="0" algn="r">
              <a:lnSpc>
                <a:spcPct val="100000"/>
              </a:lnSpc>
              <a:spcBef>
                <a:spcPts val="0"/>
              </a:spcBef>
              <a:spcAft>
                <a:spcPts val="0"/>
              </a:spcAft>
              <a:buNone/>
              <a:defRPr sz="1400"/>
            </a:lvl4pPr>
            <a:lvl5pPr indent="0" lvl="4" marL="0" rtl="0" algn="r">
              <a:lnSpc>
                <a:spcPct val="100000"/>
              </a:lnSpc>
              <a:spcBef>
                <a:spcPts val="0"/>
              </a:spcBef>
              <a:spcAft>
                <a:spcPts val="0"/>
              </a:spcAft>
              <a:buNone/>
              <a:defRPr sz="1400"/>
            </a:lvl5pPr>
            <a:lvl6pPr indent="0" lvl="5" marL="0" rtl="0" algn="r">
              <a:lnSpc>
                <a:spcPct val="100000"/>
              </a:lnSpc>
              <a:spcBef>
                <a:spcPts val="0"/>
              </a:spcBef>
              <a:spcAft>
                <a:spcPts val="0"/>
              </a:spcAft>
              <a:buNone/>
              <a:defRPr sz="1400"/>
            </a:lvl6pPr>
            <a:lvl7pPr indent="0" lvl="6" marL="0" rtl="0" algn="r">
              <a:lnSpc>
                <a:spcPct val="100000"/>
              </a:lnSpc>
              <a:spcBef>
                <a:spcPts val="0"/>
              </a:spcBef>
              <a:spcAft>
                <a:spcPts val="0"/>
              </a:spcAft>
              <a:buNone/>
              <a:defRPr sz="1400"/>
            </a:lvl7pPr>
            <a:lvl8pPr indent="0" lvl="7" marL="0" rtl="0" algn="r">
              <a:lnSpc>
                <a:spcPct val="100000"/>
              </a:lnSpc>
              <a:spcBef>
                <a:spcPts val="0"/>
              </a:spcBef>
              <a:spcAft>
                <a:spcPts val="0"/>
              </a:spcAft>
              <a:buNone/>
              <a:defRPr sz="1400"/>
            </a:lvl8pPr>
            <a:lvl9pPr indent="0" lvl="8" marL="0" rtl="0" algn="r">
              <a:lnSpc>
                <a:spcPct val="100000"/>
              </a:lnSpc>
              <a:spcBef>
                <a:spcPts val="0"/>
              </a:spcBef>
              <a:spcAft>
                <a:spcPts val="0"/>
              </a:spcAft>
              <a:buNone/>
              <a:defRPr sz="1400"/>
            </a:lvl9pPr>
          </a:lstStyle>
          <a:p>
            <a:pPr indent="0" lvl="0" marL="0" rtl="0" algn="r">
              <a:spcBef>
                <a:spcPts val="0"/>
              </a:spcBef>
              <a:spcAft>
                <a:spcPts val="0"/>
              </a:spcAft>
              <a:buNone/>
            </a:pPr>
            <a:fld id="{00000000-1234-1234-1234-123412341234}" type="slidenum">
              <a:rPr lang="pt-BR"/>
              <a:t>‹#›</a:t>
            </a:fld>
            <a:endParaRPr sz="100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68" name="Shape 68"/>
        <p:cNvGrpSpPr/>
        <p:nvPr/>
      </p:nvGrpSpPr>
      <p:grpSpPr>
        <a:xfrm>
          <a:off x="0" y="0"/>
          <a:ext cx="0" cy="0"/>
          <a:chOff x="0" y="0"/>
          <a:chExt cx="0" cy="0"/>
        </a:xfrm>
      </p:grpSpPr>
      <p:sp>
        <p:nvSpPr>
          <p:cNvPr id="69" name="Google Shape;69;p17"/>
          <p:cNvSpPr txBox="1"/>
          <p:nvPr>
            <p:ph type="title"/>
          </p:nvPr>
        </p:nvSpPr>
        <p:spPr>
          <a:xfrm>
            <a:off x="242417" y="2213864"/>
            <a:ext cx="8659200" cy="665400"/>
          </a:xfrm>
          <a:prstGeom prst="rect">
            <a:avLst/>
          </a:prstGeom>
          <a:noFill/>
          <a:ln>
            <a:noFill/>
          </a:ln>
        </p:spPr>
        <p:txBody>
          <a:bodyPr anchorCtr="0" anchor="t" bIns="0" lIns="0" spcFirstLastPara="1" rIns="0" wrap="square" tIns="0">
            <a:spAutoFit/>
          </a:bodyPr>
          <a:lstStyle>
            <a:lvl1pPr lvl="0" rtl="0" algn="l">
              <a:spcBef>
                <a:spcPts val="0"/>
              </a:spcBef>
              <a:spcAft>
                <a:spcPts val="0"/>
              </a:spcAft>
              <a:buSzPts val="2800"/>
              <a:buNone/>
              <a:defRPr b="0" i="0" sz="4200">
                <a:solidFill>
                  <a:schemeClr val="lt1"/>
                </a:solidFill>
                <a:latin typeface="Roboto"/>
                <a:ea typeface="Roboto"/>
                <a:cs typeface="Roboto"/>
                <a:sym typeface="Robo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0" name="Google Shape;70;p17"/>
          <p:cNvSpPr txBox="1"/>
          <p:nvPr>
            <p:ph idx="11" type="ftr"/>
          </p:nvPr>
        </p:nvSpPr>
        <p:spPr>
          <a:xfrm>
            <a:off x="78739" y="4860221"/>
            <a:ext cx="2579400" cy="234900"/>
          </a:xfrm>
          <a:prstGeom prst="rect">
            <a:avLst/>
          </a:prstGeom>
          <a:noFill/>
          <a:ln>
            <a:noFill/>
          </a:ln>
        </p:spPr>
        <p:txBody>
          <a:bodyPr anchorCtr="0" anchor="t" bIns="0" lIns="0" spcFirstLastPara="1" rIns="0" wrap="square" tIns="0">
            <a:spAutoFit/>
          </a:bodyPr>
          <a:lstStyle>
            <a:lvl1pPr lvl="0" rtl="0" algn="l">
              <a:spcBef>
                <a:spcPts val="0"/>
              </a:spcBef>
              <a:spcAft>
                <a:spcPts val="0"/>
              </a:spcAft>
              <a:buSzPts val="1400"/>
              <a:buNone/>
              <a:defRPr b="1" i="0" sz="1400">
                <a:solidFill>
                  <a:schemeClr val="lt1"/>
                </a:solidFill>
                <a:latin typeface="Roboto"/>
                <a:ea typeface="Roboto"/>
                <a:cs typeface="Roboto"/>
                <a:sym typeface="Roboto"/>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71" name="Google Shape;71;p17"/>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rtl="0" algn="l">
              <a:spcBef>
                <a:spcPts val="0"/>
              </a:spcBef>
              <a:spcAft>
                <a:spcPts val="0"/>
              </a:spcAft>
              <a:buSzPts val="1400"/>
              <a:buNone/>
              <a:defRPr>
                <a:solidFill>
                  <a:srgbClr val="888888"/>
                </a:solidFill>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72" name="Google Shape;72;p17"/>
          <p:cNvSpPr txBox="1"/>
          <p:nvPr>
            <p:ph idx="12" type="sldNum"/>
          </p:nvPr>
        </p:nvSpPr>
        <p:spPr>
          <a:xfrm>
            <a:off x="8800845" y="4808013"/>
            <a:ext cx="219600" cy="153900"/>
          </a:xfrm>
          <a:prstGeom prst="rect">
            <a:avLst/>
          </a:prstGeom>
          <a:noFill/>
          <a:ln>
            <a:noFill/>
          </a:ln>
        </p:spPr>
        <p:txBody>
          <a:bodyPr anchorCtr="0" anchor="t" bIns="0" lIns="0" spcFirstLastPara="1" rIns="0" wrap="square" tIns="0">
            <a:spAutoFit/>
          </a:bodyPr>
          <a:lstStyle>
            <a:lvl1pPr indent="0" lvl="0" marL="38100" marR="0" rtl="0" algn="l">
              <a:lnSpc>
                <a:spcPct val="100000"/>
              </a:lnSpc>
              <a:spcBef>
                <a:spcPts val="0"/>
              </a:spcBef>
              <a:buNone/>
              <a:defRPr b="0" i="0" sz="1000">
                <a:solidFill>
                  <a:srgbClr val="737373"/>
                </a:solidFill>
                <a:latin typeface="Roboto"/>
                <a:ea typeface="Roboto"/>
                <a:cs typeface="Roboto"/>
                <a:sym typeface="Roboto"/>
              </a:defRPr>
            </a:lvl1pPr>
            <a:lvl2pPr indent="0" lvl="1" marL="38100" marR="0" rtl="0" algn="l">
              <a:lnSpc>
                <a:spcPct val="100000"/>
              </a:lnSpc>
              <a:spcBef>
                <a:spcPts val="0"/>
              </a:spcBef>
              <a:buNone/>
              <a:defRPr b="0" i="0" sz="1000">
                <a:solidFill>
                  <a:srgbClr val="737373"/>
                </a:solidFill>
                <a:latin typeface="Roboto"/>
                <a:ea typeface="Roboto"/>
                <a:cs typeface="Roboto"/>
                <a:sym typeface="Roboto"/>
              </a:defRPr>
            </a:lvl2pPr>
            <a:lvl3pPr indent="0" lvl="2" marL="38100" marR="0" rtl="0" algn="l">
              <a:lnSpc>
                <a:spcPct val="100000"/>
              </a:lnSpc>
              <a:spcBef>
                <a:spcPts val="0"/>
              </a:spcBef>
              <a:buNone/>
              <a:defRPr b="0" i="0" sz="1000">
                <a:solidFill>
                  <a:srgbClr val="737373"/>
                </a:solidFill>
                <a:latin typeface="Roboto"/>
                <a:ea typeface="Roboto"/>
                <a:cs typeface="Roboto"/>
                <a:sym typeface="Roboto"/>
              </a:defRPr>
            </a:lvl3pPr>
            <a:lvl4pPr indent="0" lvl="3" marL="38100" marR="0" rtl="0" algn="l">
              <a:lnSpc>
                <a:spcPct val="100000"/>
              </a:lnSpc>
              <a:spcBef>
                <a:spcPts val="0"/>
              </a:spcBef>
              <a:buNone/>
              <a:defRPr b="0" i="0" sz="1000">
                <a:solidFill>
                  <a:srgbClr val="737373"/>
                </a:solidFill>
                <a:latin typeface="Roboto"/>
                <a:ea typeface="Roboto"/>
                <a:cs typeface="Roboto"/>
                <a:sym typeface="Roboto"/>
              </a:defRPr>
            </a:lvl4pPr>
            <a:lvl5pPr indent="0" lvl="4" marL="38100" marR="0" rtl="0" algn="l">
              <a:lnSpc>
                <a:spcPct val="100000"/>
              </a:lnSpc>
              <a:spcBef>
                <a:spcPts val="0"/>
              </a:spcBef>
              <a:buNone/>
              <a:defRPr b="0" i="0" sz="1000">
                <a:solidFill>
                  <a:srgbClr val="737373"/>
                </a:solidFill>
                <a:latin typeface="Roboto"/>
                <a:ea typeface="Roboto"/>
                <a:cs typeface="Roboto"/>
                <a:sym typeface="Roboto"/>
              </a:defRPr>
            </a:lvl5pPr>
            <a:lvl6pPr indent="0" lvl="5" marL="38100" marR="0" rtl="0" algn="l">
              <a:lnSpc>
                <a:spcPct val="100000"/>
              </a:lnSpc>
              <a:spcBef>
                <a:spcPts val="0"/>
              </a:spcBef>
              <a:buNone/>
              <a:defRPr b="0" i="0" sz="1000">
                <a:solidFill>
                  <a:srgbClr val="737373"/>
                </a:solidFill>
                <a:latin typeface="Roboto"/>
                <a:ea typeface="Roboto"/>
                <a:cs typeface="Roboto"/>
                <a:sym typeface="Roboto"/>
              </a:defRPr>
            </a:lvl6pPr>
            <a:lvl7pPr indent="0" lvl="6" marL="38100" marR="0" rtl="0" algn="l">
              <a:lnSpc>
                <a:spcPct val="100000"/>
              </a:lnSpc>
              <a:spcBef>
                <a:spcPts val="0"/>
              </a:spcBef>
              <a:buNone/>
              <a:defRPr b="0" i="0" sz="1000">
                <a:solidFill>
                  <a:srgbClr val="737373"/>
                </a:solidFill>
                <a:latin typeface="Roboto"/>
                <a:ea typeface="Roboto"/>
                <a:cs typeface="Roboto"/>
                <a:sym typeface="Roboto"/>
              </a:defRPr>
            </a:lvl7pPr>
            <a:lvl8pPr indent="0" lvl="7" marL="38100" marR="0" rtl="0" algn="l">
              <a:lnSpc>
                <a:spcPct val="100000"/>
              </a:lnSpc>
              <a:spcBef>
                <a:spcPts val="0"/>
              </a:spcBef>
              <a:buNone/>
              <a:defRPr b="0" i="0" sz="1000">
                <a:solidFill>
                  <a:srgbClr val="737373"/>
                </a:solidFill>
                <a:latin typeface="Roboto"/>
                <a:ea typeface="Roboto"/>
                <a:cs typeface="Roboto"/>
                <a:sym typeface="Roboto"/>
              </a:defRPr>
            </a:lvl8pPr>
            <a:lvl9pPr indent="0" lvl="8" marL="38100" marR="0" rtl="0" algn="l">
              <a:lnSpc>
                <a:spcPct val="100000"/>
              </a:lnSpc>
              <a:spcBef>
                <a:spcPts val="0"/>
              </a:spcBef>
              <a:buNone/>
              <a:defRPr b="0" i="0" sz="1000">
                <a:solidFill>
                  <a:srgbClr val="737373"/>
                </a:solidFill>
                <a:latin typeface="Roboto"/>
                <a:ea typeface="Roboto"/>
                <a:cs typeface="Roboto"/>
                <a:sym typeface="Roboto"/>
              </a:defRPr>
            </a:lvl9pPr>
          </a:lstStyle>
          <a:p>
            <a:pPr indent="0" lvl="0" marL="38100" rtl="0" algn="l">
              <a:spcBef>
                <a:spcPts val="0"/>
              </a:spcBef>
              <a:spcAft>
                <a:spcPts val="0"/>
              </a:spcAft>
              <a:buNone/>
            </a:pPr>
            <a:fld id="{00000000-1234-1234-1234-123412341234}" type="slidenum">
              <a:rPr lang="pt-BR"/>
              <a:t>‹#›</a:t>
            </a:fld>
            <a:endParaRPr>
              <a:solidFill>
                <a:schemeClr val="dk2"/>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73" name="Shape 73"/>
        <p:cNvGrpSpPr/>
        <p:nvPr/>
      </p:nvGrpSpPr>
      <p:grpSpPr>
        <a:xfrm>
          <a:off x="0" y="0"/>
          <a:ext cx="0" cy="0"/>
          <a:chOff x="0" y="0"/>
          <a:chExt cx="0" cy="0"/>
        </a:xfrm>
      </p:grpSpPr>
      <p:sp>
        <p:nvSpPr>
          <p:cNvPr id="74" name="Google Shape;74;p18"/>
          <p:cNvSpPr txBox="1"/>
          <p:nvPr>
            <p:ph idx="11" type="ftr"/>
          </p:nvPr>
        </p:nvSpPr>
        <p:spPr>
          <a:xfrm>
            <a:off x="78739" y="4860221"/>
            <a:ext cx="2579400" cy="234900"/>
          </a:xfrm>
          <a:prstGeom prst="rect">
            <a:avLst/>
          </a:prstGeom>
          <a:noFill/>
          <a:ln>
            <a:noFill/>
          </a:ln>
        </p:spPr>
        <p:txBody>
          <a:bodyPr anchorCtr="0" anchor="t" bIns="0" lIns="0" spcFirstLastPara="1" rIns="0" wrap="square" tIns="0">
            <a:spAutoFit/>
          </a:bodyPr>
          <a:lstStyle>
            <a:lvl1pPr lvl="0" rtl="0" algn="l">
              <a:spcBef>
                <a:spcPts val="0"/>
              </a:spcBef>
              <a:spcAft>
                <a:spcPts val="0"/>
              </a:spcAft>
              <a:buSzPts val="1400"/>
              <a:buNone/>
              <a:defRPr b="1" i="0" sz="1400">
                <a:solidFill>
                  <a:schemeClr val="lt1"/>
                </a:solidFill>
                <a:latin typeface="Roboto"/>
                <a:ea typeface="Roboto"/>
                <a:cs typeface="Roboto"/>
                <a:sym typeface="Roboto"/>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75" name="Google Shape;75;p18"/>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rtl="0" algn="l">
              <a:spcBef>
                <a:spcPts val="0"/>
              </a:spcBef>
              <a:spcAft>
                <a:spcPts val="0"/>
              </a:spcAft>
              <a:buSzPts val="1400"/>
              <a:buNone/>
              <a:defRPr>
                <a:solidFill>
                  <a:srgbClr val="888888"/>
                </a:solidFill>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76" name="Google Shape;76;p18"/>
          <p:cNvSpPr txBox="1"/>
          <p:nvPr>
            <p:ph idx="12" type="sldNum"/>
          </p:nvPr>
        </p:nvSpPr>
        <p:spPr>
          <a:xfrm>
            <a:off x="8800845" y="4808013"/>
            <a:ext cx="219600" cy="153900"/>
          </a:xfrm>
          <a:prstGeom prst="rect">
            <a:avLst/>
          </a:prstGeom>
          <a:noFill/>
          <a:ln>
            <a:noFill/>
          </a:ln>
        </p:spPr>
        <p:txBody>
          <a:bodyPr anchorCtr="0" anchor="t" bIns="0" lIns="0" spcFirstLastPara="1" rIns="0" wrap="square" tIns="0">
            <a:spAutoFit/>
          </a:bodyPr>
          <a:lstStyle>
            <a:lvl1pPr indent="0" lvl="0" marL="38100" marR="0" rtl="0" algn="l">
              <a:lnSpc>
                <a:spcPct val="100000"/>
              </a:lnSpc>
              <a:spcBef>
                <a:spcPts val="0"/>
              </a:spcBef>
              <a:buNone/>
              <a:defRPr b="0" i="0" sz="1000">
                <a:solidFill>
                  <a:srgbClr val="737373"/>
                </a:solidFill>
                <a:latin typeface="Roboto"/>
                <a:ea typeface="Roboto"/>
                <a:cs typeface="Roboto"/>
                <a:sym typeface="Roboto"/>
              </a:defRPr>
            </a:lvl1pPr>
            <a:lvl2pPr indent="0" lvl="1" marL="38100" marR="0" rtl="0" algn="l">
              <a:lnSpc>
                <a:spcPct val="100000"/>
              </a:lnSpc>
              <a:spcBef>
                <a:spcPts val="0"/>
              </a:spcBef>
              <a:buNone/>
              <a:defRPr b="0" i="0" sz="1000">
                <a:solidFill>
                  <a:srgbClr val="737373"/>
                </a:solidFill>
                <a:latin typeface="Roboto"/>
                <a:ea typeface="Roboto"/>
                <a:cs typeface="Roboto"/>
                <a:sym typeface="Roboto"/>
              </a:defRPr>
            </a:lvl2pPr>
            <a:lvl3pPr indent="0" lvl="2" marL="38100" marR="0" rtl="0" algn="l">
              <a:lnSpc>
                <a:spcPct val="100000"/>
              </a:lnSpc>
              <a:spcBef>
                <a:spcPts val="0"/>
              </a:spcBef>
              <a:buNone/>
              <a:defRPr b="0" i="0" sz="1000">
                <a:solidFill>
                  <a:srgbClr val="737373"/>
                </a:solidFill>
                <a:latin typeface="Roboto"/>
                <a:ea typeface="Roboto"/>
                <a:cs typeface="Roboto"/>
                <a:sym typeface="Roboto"/>
              </a:defRPr>
            </a:lvl3pPr>
            <a:lvl4pPr indent="0" lvl="3" marL="38100" marR="0" rtl="0" algn="l">
              <a:lnSpc>
                <a:spcPct val="100000"/>
              </a:lnSpc>
              <a:spcBef>
                <a:spcPts val="0"/>
              </a:spcBef>
              <a:buNone/>
              <a:defRPr b="0" i="0" sz="1000">
                <a:solidFill>
                  <a:srgbClr val="737373"/>
                </a:solidFill>
                <a:latin typeface="Roboto"/>
                <a:ea typeface="Roboto"/>
                <a:cs typeface="Roboto"/>
                <a:sym typeface="Roboto"/>
              </a:defRPr>
            </a:lvl4pPr>
            <a:lvl5pPr indent="0" lvl="4" marL="38100" marR="0" rtl="0" algn="l">
              <a:lnSpc>
                <a:spcPct val="100000"/>
              </a:lnSpc>
              <a:spcBef>
                <a:spcPts val="0"/>
              </a:spcBef>
              <a:buNone/>
              <a:defRPr b="0" i="0" sz="1000">
                <a:solidFill>
                  <a:srgbClr val="737373"/>
                </a:solidFill>
                <a:latin typeface="Roboto"/>
                <a:ea typeface="Roboto"/>
                <a:cs typeface="Roboto"/>
                <a:sym typeface="Roboto"/>
              </a:defRPr>
            </a:lvl5pPr>
            <a:lvl6pPr indent="0" lvl="5" marL="38100" marR="0" rtl="0" algn="l">
              <a:lnSpc>
                <a:spcPct val="100000"/>
              </a:lnSpc>
              <a:spcBef>
                <a:spcPts val="0"/>
              </a:spcBef>
              <a:buNone/>
              <a:defRPr b="0" i="0" sz="1000">
                <a:solidFill>
                  <a:srgbClr val="737373"/>
                </a:solidFill>
                <a:latin typeface="Roboto"/>
                <a:ea typeface="Roboto"/>
                <a:cs typeface="Roboto"/>
                <a:sym typeface="Roboto"/>
              </a:defRPr>
            </a:lvl6pPr>
            <a:lvl7pPr indent="0" lvl="6" marL="38100" marR="0" rtl="0" algn="l">
              <a:lnSpc>
                <a:spcPct val="100000"/>
              </a:lnSpc>
              <a:spcBef>
                <a:spcPts val="0"/>
              </a:spcBef>
              <a:buNone/>
              <a:defRPr b="0" i="0" sz="1000">
                <a:solidFill>
                  <a:srgbClr val="737373"/>
                </a:solidFill>
                <a:latin typeface="Roboto"/>
                <a:ea typeface="Roboto"/>
                <a:cs typeface="Roboto"/>
                <a:sym typeface="Roboto"/>
              </a:defRPr>
            </a:lvl7pPr>
            <a:lvl8pPr indent="0" lvl="7" marL="38100" marR="0" rtl="0" algn="l">
              <a:lnSpc>
                <a:spcPct val="100000"/>
              </a:lnSpc>
              <a:spcBef>
                <a:spcPts val="0"/>
              </a:spcBef>
              <a:buNone/>
              <a:defRPr b="0" i="0" sz="1000">
                <a:solidFill>
                  <a:srgbClr val="737373"/>
                </a:solidFill>
                <a:latin typeface="Roboto"/>
                <a:ea typeface="Roboto"/>
                <a:cs typeface="Roboto"/>
                <a:sym typeface="Roboto"/>
              </a:defRPr>
            </a:lvl8pPr>
            <a:lvl9pPr indent="0" lvl="8" marL="38100" marR="0" rtl="0" algn="l">
              <a:lnSpc>
                <a:spcPct val="100000"/>
              </a:lnSpc>
              <a:spcBef>
                <a:spcPts val="0"/>
              </a:spcBef>
              <a:buNone/>
              <a:defRPr b="0" i="0" sz="1000">
                <a:solidFill>
                  <a:srgbClr val="737373"/>
                </a:solidFill>
                <a:latin typeface="Roboto"/>
                <a:ea typeface="Roboto"/>
                <a:cs typeface="Roboto"/>
                <a:sym typeface="Roboto"/>
              </a:defRPr>
            </a:lvl9pPr>
          </a:lstStyle>
          <a:p>
            <a:pPr indent="0" lvl="0" marL="38100" rtl="0" algn="l">
              <a:spcBef>
                <a:spcPts val="0"/>
              </a:spcBef>
              <a:spcAft>
                <a:spcPts val="0"/>
              </a:spcAft>
              <a:buNone/>
            </a:pPr>
            <a:fld id="{00000000-1234-1234-1234-123412341234}" type="slidenum">
              <a:rPr lang="pt-BR"/>
              <a:t>‹#›</a:t>
            </a:fld>
            <a:endParaRPr>
              <a:solidFill>
                <a:schemeClr val="dk2"/>
              </a:solidFill>
              <a:latin typeface="Arial"/>
              <a:ea typeface="Arial"/>
              <a:cs typeface="Arial"/>
              <a:sym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fa0d7464fa_15_0)">
  <p:cSld name="Generated (g3fa0d7464fa_15_0)">
    <p:spTree>
      <p:nvGrpSpPr>
        <p:cNvPr id="77" name="Shape 7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theme" Target="../theme/theme2.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pt-B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3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hyperlink" Target="https://scikit-learn.org/stable/modules/classes.html#module-sklearn.preprocessing" TargetMode="External"/><Relationship Id="rId4" Type="http://schemas.openxmlformats.org/officeDocument/2006/relationships/hyperlink" Target="https://scikit-learn.org/stable/modules/generated/sklearn.preprocessing.Binarizer.html#sklearn.preprocessing.Binarizer" TargetMode="External"/><Relationship Id="rId9" Type="http://schemas.openxmlformats.org/officeDocument/2006/relationships/hyperlink" Target="https://scikit-learn.org/stable/modules/generated/sklearn.preprocessing.StandardScaler.html#sklearn.preprocessing.StandardScaler" TargetMode="External"/><Relationship Id="rId5" Type="http://schemas.openxmlformats.org/officeDocument/2006/relationships/hyperlink" Target="https://scikit-learn.org/stable/modules/generated/sklearn.preprocessing.MaxAbsScaler.html#sklearn.preprocessing.MaxAbsScaler" TargetMode="External"/><Relationship Id="rId6" Type="http://schemas.openxmlformats.org/officeDocument/2006/relationships/hyperlink" Target="https://scikit-learn.org/stable/modules/generated/sklearn.preprocessing.MinMaxScaler.html#sklearn.preprocessing.MinMaxScaler" TargetMode="External"/><Relationship Id="rId7" Type="http://schemas.openxmlformats.org/officeDocument/2006/relationships/hyperlink" Target="https://scikit-learn.org/stable/modules/generated/sklearn.preprocessing.Normalizer.html#sklearn.preprocessing.Normalizer" TargetMode="External"/><Relationship Id="rId8" Type="http://schemas.openxmlformats.org/officeDocument/2006/relationships/hyperlink" Target="https://scikit-learn.org/stable/modules/generated/sklearn.preprocessing.OneHotEncoder.html#sklearn.preprocessing.OneHotEncoder"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image" Target="../media/image3.png"/><Relationship Id="rId4" Type="http://schemas.openxmlformats.org/officeDocument/2006/relationships/image" Target="../media/image2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 Id="rId3" Type="http://schemas.openxmlformats.org/officeDocument/2006/relationships/image" Target="../media/image3.png"/><Relationship Id="rId4" Type="http://schemas.openxmlformats.org/officeDocument/2006/relationships/image" Target="../media/image25.png"/><Relationship Id="rId5" Type="http://schemas.openxmlformats.org/officeDocument/2006/relationships/image" Target="../media/image1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 Id="rId3" Type="http://schemas.openxmlformats.org/officeDocument/2006/relationships/image" Target="../media/image15.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 Id="rId3" Type="http://schemas.openxmlformats.org/officeDocument/2006/relationships/image" Target="../media/image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 Id="rId3" Type="http://schemas.openxmlformats.org/officeDocument/2006/relationships/image" Target="../media/image3.png"/><Relationship Id="rId4" Type="http://schemas.openxmlformats.org/officeDocument/2006/relationships/image" Target="../media/image3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 Id="rId3" Type="http://schemas.openxmlformats.org/officeDocument/2006/relationships/image" Target="../media/image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 Id="rId3" Type="http://schemas.openxmlformats.org/officeDocument/2006/relationships/image" Target="../media/image3.png"/><Relationship Id="rId4" Type="http://schemas.openxmlformats.org/officeDocument/2006/relationships/image" Target="../media/image17.png"/><Relationship Id="rId5" Type="http://schemas.openxmlformats.org/officeDocument/2006/relationships/image" Target="../media/image2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 Id="rId3" Type="http://schemas.openxmlformats.org/officeDocument/2006/relationships/image" Target="../media/image21.png"/><Relationship Id="rId4" Type="http://schemas.openxmlformats.org/officeDocument/2006/relationships/image" Target="../media/image2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 Id="rId3" Type="http://schemas.openxmlformats.org/officeDocument/2006/relationships/image" Target="../media/image22.png"/><Relationship Id="rId4" Type="http://schemas.openxmlformats.org/officeDocument/2006/relationships/image" Target="../media/image4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 Id="rId3" Type="http://schemas.openxmlformats.org/officeDocument/2006/relationships/image" Target="../media/image22.png"/><Relationship Id="rId4" Type="http://schemas.openxmlformats.org/officeDocument/2006/relationships/image" Target="../media/image4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 Id="rId3" Type="http://schemas.openxmlformats.org/officeDocument/2006/relationships/image" Target="../media/image40.jpg"/><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 Id="rId3" Type="http://schemas.openxmlformats.org/officeDocument/2006/relationships/image" Target="../media/image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 Id="rId3" Type="http://schemas.openxmlformats.org/officeDocument/2006/relationships/image" Target="../media/image3.png"/><Relationship Id="rId4" Type="http://schemas.openxmlformats.org/officeDocument/2006/relationships/image" Target="../media/image5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 Id="rId3" Type="http://schemas.openxmlformats.org/officeDocument/2006/relationships/hyperlink" Target="https://doi.org/10.1016/j.neucom.2022.06.111" TargetMode="External"/><Relationship Id="rId4" Type="http://schemas.openxmlformats.org/officeDocument/2006/relationships/image" Target="../media/image3.png"/><Relationship Id="rId5" Type="http://schemas.openxmlformats.org/officeDocument/2006/relationships/image" Target="../media/image4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 Id="rId3" Type="http://schemas.openxmlformats.org/officeDocument/2006/relationships/image" Target="../media/image3.png"/><Relationship Id="rId4" Type="http://schemas.openxmlformats.org/officeDocument/2006/relationships/image" Target="../media/image3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 Id="rId3" Type="http://schemas.openxmlformats.org/officeDocument/2006/relationships/image" Target="../media/image3.png"/><Relationship Id="rId4" Type="http://schemas.openxmlformats.org/officeDocument/2006/relationships/image" Target="../media/image4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 Id="rId3" Type="http://schemas.openxmlformats.org/officeDocument/2006/relationships/image" Target="../media/image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 Id="rId3" Type="http://schemas.openxmlformats.org/officeDocument/2006/relationships/image" Target="../media/image3.png"/><Relationship Id="rId4" Type="http://schemas.openxmlformats.org/officeDocument/2006/relationships/image" Target="../media/image26.png"/><Relationship Id="rId5" Type="http://schemas.openxmlformats.org/officeDocument/2006/relationships/image" Target="../media/image3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 Id="rId3" Type="http://schemas.openxmlformats.org/officeDocument/2006/relationships/image" Target="../media/image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5.xml"/><Relationship Id="rId3" Type="http://schemas.openxmlformats.org/officeDocument/2006/relationships/image" Target="../media/image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6.xml"/><Relationship Id="rId3" Type="http://schemas.openxmlformats.org/officeDocument/2006/relationships/image" Target="../media/image28.png"/><Relationship Id="rId4" Type="http://schemas.openxmlformats.org/officeDocument/2006/relationships/image" Target="../media/image46.png"/><Relationship Id="rId5" Type="http://schemas.openxmlformats.org/officeDocument/2006/relationships/image" Target="../media/image31.png"/><Relationship Id="rId6" Type="http://schemas.openxmlformats.org/officeDocument/2006/relationships/image" Target="../media/image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 Id="rId3" Type="http://schemas.openxmlformats.org/officeDocument/2006/relationships/image" Target="../media/image4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 Id="rId3" Type="http://schemas.openxmlformats.org/officeDocument/2006/relationships/image" Target="../media/image34.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9.xml"/><Relationship Id="rId3" Type="http://schemas.openxmlformats.org/officeDocument/2006/relationships/image" Target="../media/image35.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 Id="rId3" Type="http://schemas.openxmlformats.org/officeDocument/2006/relationships/image" Target="../media/image5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3.xml"/><Relationship Id="rId3" Type="http://schemas.openxmlformats.org/officeDocument/2006/relationships/hyperlink" Target="https://www.youtube.com/watch?v=DQWI1kvmwRg"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4.xml"/><Relationship Id="rId3" Type="http://schemas.openxmlformats.org/officeDocument/2006/relationships/hyperlink" Target="https://amzn.to/2oX2qCD" TargetMode="External"/><Relationship Id="rId4" Type="http://schemas.openxmlformats.org/officeDocument/2006/relationships/image" Target="../media/image36.png"/><Relationship Id="rId5" Type="http://schemas.openxmlformats.org/officeDocument/2006/relationships/image" Target="../media/image38.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5.xml"/><Relationship Id="rId3" Type="http://schemas.openxmlformats.org/officeDocument/2006/relationships/image" Target="../media/image51.png"/><Relationship Id="rId4" Type="http://schemas.openxmlformats.org/officeDocument/2006/relationships/image" Target="../media/image64.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6.xml"/><Relationship Id="rId3" Type="http://schemas.openxmlformats.org/officeDocument/2006/relationships/image" Target="../media/image50.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7.xml"/><Relationship Id="rId3" Type="http://schemas.openxmlformats.org/officeDocument/2006/relationships/image" Target="../media/image45.png"/><Relationship Id="rId4" Type="http://schemas.openxmlformats.org/officeDocument/2006/relationships/image" Target="../media/image48.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9.xml"/><Relationship Id="rId3" Type="http://schemas.openxmlformats.org/officeDocument/2006/relationships/image" Target="../media/image59.png"/><Relationship Id="rId4" Type="http://schemas.openxmlformats.org/officeDocument/2006/relationships/image" Target="../media/image52.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0.xml"/><Relationship Id="rId3" Type="http://schemas.openxmlformats.org/officeDocument/2006/relationships/image" Target="../media/image69.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1.xml"/><Relationship Id="rId3" Type="http://schemas.openxmlformats.org/officeDocument/2006/relationships/image" Target="../media/image78.jp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5.xml"/><Relationship Id="rId3" Type="http://schemas.openxmlformats.org/officeDocument/2006/relationships/image" Target="../media/image56.jpg"/><Relationship Id="rId4" Type="http://schemas.openxmlformats.org/officeDocument/2006/relationships/image" Target="../media/image55.jpg"/><Relationship Id="rId5" Type="http://schemas.openxmlformats.org/officeDocument/2006/relationships/image" Target="../media/image53.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6.xml"/><Relationship Id="rId3" Type="http://schemas.openxmlformats.org/officeDocument/2006/relationships/image" Target="../media/image49.png"/><Relationship Id="rId4" Type="http://schemas.openxmlformats.org/officeDocument/2006/relationships/image" Target="../media/image57.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7.xml"/><Relationship Id="rId3" Type="http://schemas.openxmlformats.org/officeDocument/2006/relationships/image" Target="../media/image60.png"/><Relationship Id="rId4" Type="http://schemas.openxmlformats.org/officeDocument/2006/relationships/image" Target="../media/image61.png"/><Relationship Id="rId5" Type="http://schemas.openxmlformats.org/officeDocument/2006/relationships/hyperlink" Target="https://optuna.org/" TargetMode="Externa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8.xml"/><Relationship Id="rId3" Type="http://schemas.openxmlformats.org/officeDocument/2006/relationships/image" Target="../media/image71.jpg"/><Relationship Id="rId4" Type="http://schemas.openxmlformats.org/officeDocument/2006/relationships/image" Target="../media/image66.jpg"/><Relationship Id="rId5" Type="http://schemas.openxmlformats.org/officeDocument/2006/relationships/image" Target="../media/image72.jp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9.xml"/><Relationship Id="rId3" Type="http://schemas.openxmlformats.org/officeDocument/2006/relationships/image" Target="../media/image62.jpg"/><Relationship Id="rId4" Type="http://schemas.openxmlformats.org/officeDocument/2006/relationships/image" Target="../media/image63.jpg"/><Relationship Id="rId5" Type="http://schemas.openxmlformats.org/officeDocument/2006/relationships/hyperlink" Target="https://keras.io/api/losses/" TargetMode="External"/><Relationship Id="rId6" Type="http://schemas.openxmlformats.org/officeDocument/2006/relationships/image" Target="../media/image80.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0.xml"/><Relationship Id="rId3" Type="http://schemas.openxmlformats.org/officeDocument/2006/relationships/image" Target="../media/image73.jp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1.xml"/><Relationship Id="rId3" Type="http://schemas.openxmlformats.org/officeDocument/2006/relationships/image" Target="../media/image68.jp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2.xml"/><Relationship Id="rId3" Type="http://schemas.openxmlformats.org/officeDocument/2006/relationships/image" Target="../media/image79.jp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3.xml"/><Relationship Id="rId3" Type="http://schemas.openxmlformats.org/officeDocument/2006/relationships/image" Target="../media/image67.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4.xml"/><Relationship Id="rId3" Type="http://schemas.openxmlformats.org/officeDocument/2006/relationships/image" Target="../media/image75.png"/><Relationship Id="rId4" Type="http://schemas.openxmlformats.org/officeDocument/2006/relationships/hyperlink" Target="https://gallery.mailchimp.com/dc3a7ef4d750c0abfc19202a3/files/5dd91615-3b3f-4f5d-bbfb-4ebd8608d330/Ng_MLY01_13.pdf" TargetMode="Externa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5.xml"/><Relationship Id="rId3" Type="http://schemas.openxmlformats.org/officeDocument/2006/relationships/image" Target="../media/image74.jp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6.xml"/><Relationship Id="rId3" Type="http://schemas.openxmlformats.org/officeDocument/2006/relationships/image" Target="../media/image77.jpg"/><Relationship Id="rId4" Type="http://schemas.openxmlformats.org/officeDocument/2006/relationships/image" Target="../media/image76.jp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7.xml"/><Relationship Id="rId3" Type="http://schemas.openxmlformats.org/officeDocument/2006/relationships/hyperlink" Target="https://colab.research.google.com/drive/1XfnX4XhK5hnCdNmUgu6VV3MnSgWym1VQ?usp=sharing" TargetMode="External"/><Relationship Id="rId4" Type="http://schemas.openxmlformats.org/officeDocument/2006/relationships/image" Target="../media/image81.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 Id="rId3" Type="http://schemas.openxmlformats.org/officeDocument/2006/relationships/hyperlink" Target="https://learning.oreilly.com/library/view/neural-networks-and/9781492037354/" TargetMode="External"/><Relationship Id="rId4" Type="http://schemas.openxmlformats.org/officeDocument/2006/relationships/hyperlink" Target="https://www.oreilly.com/library/view/neural-networks-and/9781492037354/ch01.html" TargetMode="Externa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 Id="rId3" Type="http://schemas.openxmlformats.org/officeDocument/2006/relationships/hyperlink" Target="http://scikit-learn.org/stable/modules/generated/sklearn.utils.class_weight.compute_class_weight.html" TargetMode="Externa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20"/>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pt-BR"/>
              <a:t>Deep Learning</a:t>
            </a:r>
            <a:endParaRPr/>
          </a:p>
          <a:p>
            <a:pPr indent="0" lvl="0" marL="0" rtl="0" algn="ctr">
              <a:spcBef>
                <a:spcPts val="0"/>
              </a:spcBef>
              <a:spcAft>
                <a:spcPts val="0"/>
              </a:spcAft>
              <a:buNone/>
            </a:pPr>
            <a:r>
              <a:rPr lang="pt-BR" sz="4200"/>
              <a:t>Lidando com (Hiper)p</a:t>
            </a:r>
            <a:r>
              <a:rPr lang="pt-BR" sz="4200"/>
              <a:t>arâmetros</a:t>
            </a:r>
            <a:endParaRPr sz="4200"/>
          </a:p>
        </p:txBody>
      </p:sp>
      <p:sp>
        <p:nvSpPr>
          <p:cNvPr id="83" name="Google Shape;83;p20"/>
          <p:cNvSpPr txBox="1"/>
          <p:nvPr>
            <p:ph idx="1" type="subTitle"/>
          </p:nvPr>
        </p:nvSpPr>
        <p:spPr>
          <a:xfrm>
            <a:off x="311700" y="393977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pt-BR"/>
              <a:t>Prof. Sérgio Canuto  - sergio.canuto@ifg.edu.br</a:t>
            </a:r>
            <a:endParaRPr/>
          </a:p>
        </p:txBody>
      </p:sp>
      <p:pic>
        <p:nvPicPr>
          <p:cNvPr id="84" name="Google Shape;84;p20"/>
          <p:cNvPicPr preferRelativeResize="0"/>
          <p:nvPr/>
        </p:nvPicPr>
        <p:blipFill>
          <a:blip r:embed="rId3">
            <a:alphaModFix/>
          </a:blip>
          <a:stretch>
            <a:fillRect/>
          </a:stretch>
        </p:blipFill>
        <p:spPr>
          <a:xfrm>
            <a:off x="8050625" y="44817"/>
            <a:ext cx="1093375" cy="13223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8" name="Shape 88"/>
        <p:cNvGrpSpPr/>
        <p:nvPr/>
      </p:nvGrpSpPr>
      <p:grpSpPr>
        <a:xfrm>
          <a:off x="0" y="0"/>
          <a:ext cx="0" cy="0"/>
          <a:chOff x="0" y="0"/>
          <a:chExt cx="0" cy="0"/>
        </a:xfrm>
      </p:grpSpPr>
      <p:sp>
        <p:nvSpPr>
          <p:cNvPr id="89" name="Google Shape;89;p21"/>
          <p:cNvSpPr txBox="1"/>
          <p:nvPr>
            <p:ph type="title"/>
          </p:nvPr>
        </p:nvSpPr>
        <p:spPr>
          <a:xfrm>
            <a:off x="441367" y="451124"/>
            <a:ext cx="1396500" cy="413100"/>
          </a:xfrm>
          <a:prstGeom prst="rect">
            <a:avLst/>
          </a:prstGeom>
          <a:noFill/>
          <a:ln>
            <a:noFill/>
          </a:ln>
        </p:spPr>
        <p:txBody>
          <a:bodyPr anchorCtr="0" anchor="t" bIns="0" lIns="0" spcFirstLastPara="1" rIns="0" wrap="square" tIns="12675">
            <a:spAutoFit/>
          </a:bodyPr>
          <a:lstStyle/>
          <a:p>
            <a:pPr indent="0" lvl="0" marL="12700" rtl="0" algn="l">
              <a:lnSpc>
                <a:spcPct val="100000"/>
              </a:lnSpc>
              <a:spcBef>
                <a:spcPts val="0"/>
              </a:spcBef>
              <a:spcAft>
                <a:spcPts val="0"/>
              </a:spcAft>
              <a:buNone/>
            </a:pPr>
            <a:r>
              <a:rPr lang="pt-BR" sz="2600"/>
              <a:t>Tópicos:</a:t>
            </a:r>
            <a:endParaRPr sz="2600"/>
          </a:p>
        </p:txBody>
      </p:sp>
      <p:sp>
        <p:nvSpPr>
          <p:cNvPr id="90" name="Google Shape;90;p21"/>
          <p:cNvSpPr txBox="1"/>
          <p:nvPr/>
        </p:nvSpPr>
        <p:spPr>
          <a:xfrm>
            <a:off x="540994" y="1571346"/>
            <a:ext cx="8117700" cy="2976900"/>
          </a:xfrm>
          <a:prstGeom prst="rect">
            <a:avLst/>
          </a:prstGeom>
          <a:noFill/>
          <a:ln>
            <a:noFill/>
          </a:ln>
        </p:spPr>
        <p:txBody>
          <a:bodyPr anchorCtr="0" anchor="t" bIns="0" lIns="0" spcFirstLastPara="1" rIns="0" wrap="square" tIns="127325">
            <a:spAutoFit/>
          </a:bodyPr>
          <a:lstStyle/>
          <a:p>
            <a:pPr indent="-273050" lvl="0" marL="279400" marR="0" rtl="0" algn="l">
              <a:lnSpc>
                <a:spcPct val="100000"/>
              </a:lnSpc>
              <a:spcBef>
                <a:spcPts val="0"/>
              </a:spcBef>
              <a:spcAft>
                <a:spcPts val="0"/>
              </a:spcAft>
              <a:buSzPts val="1100"/>
              <a:buFont typeface="Noto Sans Symbols"/>
              <a:buChar char="●"/>
            </a:pPr>
            <a:r>
              <a:rPr lang="pt-BR" sz="2300"/>
              <a:t>Implementação (keras)</a:t>
            </a:r>
            <a:endParaRPr sz="2300"/>
          </a:p>
          <a:p>
            <a:pPr indent="-273050" lvl="0" marL="279400" marR="0" rtl="0" algn="l">
              <a:lnSpc>
                <a:spcPct val="100000"/>
              </a:lnSpc>
              <a:spcBef>
                <a:spcPts val="0"/>
              </a:spcBef>
              <a:spcAft>
                <a:spcPts val="0"/>
              </a:spcAft>
              <a:buSzPts val="1100"/>
              <a:buFont typeface="Noto Sans Symbols"/>
              <a:buChar char="●"/>
            </a:pPr>
            <a:r>
              <a:rPr lang="pt-BR" sz="2300"/>
              <a:t>Tratando redes profundas</a:t>
            </a:r>
            <a:endParaRPr sz="2300">
              <a:latin typeface="Arial"/>
              <a:ea typeface="Arial"/>
              <a:cs typeface="Arial"/>
              <a:sym typeface="Arial"/>
            </a:endParaRPr>
          </a:p>
          <a:p>
            <a:pPr indent="-273050" lvl="0" marL="279400" marR="101600" rtl="0" algn="l">
              <a:lnSpc>
                <a:spcPct val="113571"/>
              </a:lnSpc>
              <a:spcBef>
                <a:spcPts val="1100"/>
              </a:spcBef>
              <a:spcAft>
                <a:spcPts val="0"/>
              </a:spcAft>
              <a:buSzPts val="1100"/>
              <a:buFont typeface="Noto Sans Symbols"/>
              <a:buChar char="●"/>
            </a:pPr>
            <a:r>
              <a:rPr lang="pt-BR" sz="2300"/>
              <a:t>Problemas…</a:t>
            </a:r>
            <a:endParaRPr sz="2300"/>
          </a:p>
          <a:p>
            <a:pPr indent="-260350" lvl="1" marL="762000" marR="101600" rtl="0" algn="l">
              <a:lnSpc>
                <a:spcPct val="113571"/>
              </a:lnSpc>
              <a:spcBef>
                <a:spcPts val="1100"/>
              </a:spcBef>
              <a:spcAft>
                <a:spcPts val="0"/>
              </a:spcAft>
              <a:buSzPts val="1100"/>
              <a:buFont typeface="Noto Sans Symbols"/>
              <a:buChar char="○"/>
            </a:pPr>
            <a:r>
              <a:rPr lang="pt-BR" sz="2300"/>
              <a:t>Potenciais soluções/parametrizações</a:t>
            </a:r>
            <a:endParaRPr sz="2300">
              <a:latin typeface="Arial"/>
              <a:ea typeface="Arial"/>
              <a:cs typeface="Arial"/>
              <a:sym typeface="Arial"/>
            </a:endParaRPr>
          </a:p>
          <a:p>
            <a:pPr indent="-273050" lvl="0" marL="279400" marR="0" rtl="0" algn="l">
              <a:lnSpc>
                <a:spcPct val="110714"/>
              </a:lnSpc>
              <a:spcBef>
                <a:spcPts val="1200"/>
              </a:spcBef>
              <a:spcAft>
                <a:spcPts val="0"/>
              </a:spcAft>
              <a:buSzPts val="1100"/>
              <a:buFont typeface="Noto Sans Symbols"/>
              <a:buChar char="●"/>
            </a:pPr>
            <a:r>
              <a:rPr lang="pt-BR" sz="2300">
                <a:latin typeface="Arial"/>
                <a:ea typeface="Arial"/>
                <a:cs typeface="Arial"/>
                <a:sym typeface="Arial"/>
              </a:rPr>
              <a:t>Interpretação e Correção de Resultados </a:t>
            </a:r>
            <a:endParaRPr sz="2300"/>
          </a:p>
          <a:p>
            <a:pPr indent="-273050" lvl="0" marL="279400" marR="0" rtl="0" algn="l">
              <a:lnSpc>
                <a:spcPct val="110714"/>
              </a:lnSpc>
              <a:spcBef>
                <a:spcPts val="1200"/>
              </a:spcBef>
              <a:spcAft>
                <a:spcPts val="0"/>
              </a:spcAft>
              <a:buSzPts val="1100"/>
              <a:buFont typeface="Noto Sans Symbols"/>
              <a:buChar char="●"/>
            </a:pPr>
            <a:r>
              <a:rPr lang="pt-BR" sz="2300"/>
              <a:t>Depurando código com tensorboard.</a:t>
            </a:r>
            <a:endParaRPr sz="2300">
              <a:latin typeface="Arial"/>
              <a:ea typeface="Arial"/>
              <a:cs typeface="Arial"/>
              <a:sym typeface="Arial"/>
            </a:endParaRPr>
          </a:p>
        </p:txBody>
      </p:sp>
      <p:pic>
        <p:nvPicPr>
          <p:cNvPr id="91" name="Google Shape;91;p21"/>
          <p:cNvPicPr preferRelativeResize="0"/>
          <p:nvPr/>
        </p:nvPicPr>
        <p:blipFill>
          <a:blip r:embed="rId3">
            <a:alphaModFix/>
          </a:blip>
          <a:stretch>
            <a:fillRect/>
          </a:stretch>
        </p:blipFill>
        <p:spPr>
          <a:xfrm>
            <a:off x="8050625" y="44817"/>
            <a:ext cx="1093375" cy="13223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2"/>
          <p:cNvSpPr txBox="1"/>
          <p:nvPr>
            <p:ph type="title"/>
          </p:nvPr>
        </p:nvSpPr>
        <p:spPr>
          <a:xfrm>
            <a:off x="617220" y="161214"/>
            <a:ext cx="5658000" cy="816000"/>
          </a:xfrm>
          <a:prstGeom prst="rect">
            <a:avLst/>
          </a:prstGeom>
          <a:noFill/>
          <a:ln>
            <a:noFill/>
          </a:ln>
        </p:spPr>
        <p:txBody>
          <a:bodyPr anchorCtr="0" anchor="b" bIns="34275" lIns="68575" spcFirstLastPara="1" rIns="68575" wrap="square" tIns="34275">
            <a:normAutofit/>
          </a:bodyPr>
          <a:lstStyle/>
          <a:p>
            <a:pPr indent="0" lvl="0" marL="0" rtl="0" algn="l">
              <a:lnSpc>
                <a:spcPct val="85000"/>
              </a:lnSpc>
              <a:spcBef>
                <a:spcPts val="0"/>
              </a:spcBef>
              <a:spcAft>
                <a:spcPts val="0"/>
              </a:spcAft>
              <a:buClr>
                <a:srgbClr val="3F3F3F"/>
              </a:buClr>
              <a:buSzPts val="3600"/>
              <a:buFont typeface="Calibri"/>
              <a:buNone/>
            </a:pPr>
            <a:r>
              <a:t/>
            </a:r>
            <a:endParaRPr/>
          </a:p>
        </p:txBody>
      </p:sp>
      <p:sp>
        <p:nvSpPr>
          <p:cNvPr id="97" name="Google Shape;97;p22"/>
          <p:cNvSpPr txBox="1"/>
          <p:nvPr>
            <p:ph idx="1" type="body"/>
          </p:nvPr>
        </p:nvSpPr>
        <p:spPr>
          <a:xfrm>
            <a:off x="617220" y="1038225"/>
            <a:ext cx="5658000" cy="2263200"/>
          </a:xfrm>
          <a:prstGeom prst="rect">
            <a:avLst/>
          </a:prstGeom>
          <a:noFill/>
          <a:ln>
            <a:noFill/>
          </a:ln>
        </p:spPr>
        <p:txBody>
          <a:bodyPr anchorCtr="0" anchor="t" bIns="34275" lIns="0" spcFirstLastPara="1" rIns="0" wrap="square" tIns="34275">
            <a:normAutofit/>
          </a:bodyPr>
          <a:lstStyle/>
          <a:p>
            <a:pPr indent="0" lvl="0" marL="63500" rtl="0" algn="l">
              <a:lnSpc>
                <a:spcPct val="90000"/>
              </a:lnSpc>
              <a:spcBef>
                <a:spcPts val="0"/>
              </a:spcBef>
              <a:spcAft>
                <a:spcPts val="0"/>
              </a:spcAft>
              <a:buSzPts val="1500"/>
              <a:buNone/>
            </a:pPr>
            <a:r>
              <a:t/>
            </a:r>
            <a:endParaRPr/>
          </a:p>
        </p:txBody>
      </p:sp>
      <p:pic>
        <p:nvPicPr>
          <p:cNvPr id="98" name="Google Shape;98;p22"/>
          <p:cNvPicPr preferRelativeResize="0"/>
          <p:nvPr/>
        </p:nvPicPr>
        <p:blipFill rotWithShape="1">
          <a:blip r:embed="rId3">
            <a:alphaModFix/>
          </a:blip>
          <a:srcRect b="17799" l="21883" r="21906" t="22270"/>
          <a:stretch/>
        </p:blipFill>
        <p:spPr>
          <a:xfrm>
            <a:off x="-1" y="0"/>
            <a:ext cx="8576434" cy="5143500"/>
          </a:xfrm>
          <a:prstGeom prst="rect">
            <a:avLst/>
          </a:prstGeom>
          <a:noFill/>
          <a:ln>
            <a:noFill/>
          </a:ln>
        </p:spPr>
      </p:pic>
      <p:sp>
        <p:nvSpPr>
          <p:cNvPr id="99" name="Google Shape;99;p22"/>
          <p:cNvSpPr txBox="1"/>
          <p:nvPr/>
        </p:nvSpPr>
        <p:spPr>
          <a:xfrm>
            <a:off x="-285775" y="5186825"/>
            <a:ext cx="9230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t> link (com tensorboard) </a:t>
            </a:r>
            <a:r>
              <a:rPr lang="pt-BR"/>
              <a:t>https://colab.research.google.com/drive/1XfnX4XhK5hnCdNmUgu6VV3MnSgWym1VQ</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3"/>
          <p:cNvSpPr txBox="1"/>
          <p:nvPr>
            <p:ph type="title"/>
          </p:nvPr>
        </p:nvSpPr>
        <p:spPr>
          <a:xfrm>
            <a:off x="617220" y="161214"/>
            <a:ext cx="5658000" cy="816000"/>
          </a:xfrm>
          <a:prstGeom prst="rect">
            <a:avLst/>
          </a:prstGeom>
          <a:noFill/>
          <a:ln>
            <a:noFill/>
          </a:ln>
        </p:spPr>
        <p:txBody>
          <a:bodyPr anchorCtr="0" anchor="b" bIns="34275" lIns="68575" spcFirstLastPara="1" rIns="68575" wrap="square" tIns="34275">
            <a:normAutofit/>
          </a:bodyPr>
          <a:lstStyle/>
          <a:p>
            <a:pPr indent="0" lvl="0" marL="0" rtl="0" algn="l">
              <a:lnSpc>
                <a:spcPct val="85000"/>
              </a:lnSpc>
              <a:spcBef>
                <a:spcPts val="0"/>
              </a:spcBef>
              <a:spcAft>
                <a:spcPts val="0"/>
              </a:spcAft>
              <a:buClr>
                <a:srgbClr val="3F3F3F"/>
              </a:buClr>
              <a:buSzPts val="3600"/>
              <a:buFont typeface="Calibri"/>
              <a:buNone/>
            </a:pPr>
            <a:r>
              <a:t/>
            </a:r>
            <a:endParaRPr/>
          </a:p>
        </p:txBody>
      </p:sp>
      <p:sp>
        <p:nvSpPr>
          <p:cNvPr id="105" name="Google Shape;105;p23"/>
          <p:cNvSpPr txBox="1"/>
          <p:nvPr>
            <p:ph idx="1" type="body"/>
          </p:nvPr>
        </p:nvSpPr>
        <p:spPr>
          <a:xfrm>
            <a:off x="617220" y="1038225"/>
            <a:ext cx="5658000" cy="2263200"/>
          </a:xfrm>
          <a:prstGeom prst="rect">
            <a:avLst/>
          </a:prstGeom>
          <a:noFill/>
          <a:ln>
            <a:noFill/>
          </a:ln>
        </p:spPr>
        <p:txBody>
          <a:bodyPr anchorCtr="0" anchor="t" bIns="34275" lIns="0" spcFirstLastPara="1" rIns="0" wrap="square" tIns="34275">
            <a:normAutofit/>
          </a:bodyPr>
          <a:lstStyle/>
          <a:p>
            <a:pPr indent="0" lvl="0" marL="63500" rtl="0" algn="l">
              <a:lnSpc>
                <a:spcPct val="90000"/>
              </a:lnSpc>
              <a:spcBef>
                <a:spcPts val="0"/>
              </a:spcBef>
              <a:spcAft>
                <a:spcPts val="0"/>
              </a:spcAft>
              <a:buSzPts val="1500"/>
              <a:buNone/>
            </a:pPr>
            <a:r>
              <a:t/>
            </a:r>
            <a:endParaRPr/>
          </a:p>
        </p:txBody>
      </p:sp>
      <p:pic>
        <p:nvPicPr>
          <p:cNvPr id="106" name="Google Shape;106;p23"/>
          <p:cNvPicPr preferRelativeResize="0"/>
          <p:nvPr/>
        </p:nvPicPr>
        <p:blipFill rotWithShape="1">
          <a:blip r:embed="rId3">
            <a:alphaModFix/>
          </a:blip>
          <a:srcRect b="19175" l="22192" r="35824" t="19108"/>
          <a:stretch/>
        </p:blipFill>
        <p:spPr>
          <a:xfrm>
            <a:off x="0" y="-2854"/>
            <a:ext cx="6228758" cy="515048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4"/>
          <p:cNvSpPr txBox="1"/>
          <p:nvPr>
            <p:ph type="title"/>
          </p:nvPr>
        </p:nvSpPr>
        <p:spPr>
          <a:xfrm>
            <a:off x="617220" y="161214"/>
            <a:ext cx="5658000" cy="816000"/>
          </a:xfrm>
          <a:prstGeom prst="rect">
            <a:avLst/>
          </a:prstGeom>
          <a:noFill/>
          <a:ln>
            <a:noFill/>
          </a:ln>
        </p:spPr>
        <p:txBody>
          <a:bodyPr anchorCtr="0" anchor="b" bIns="34275" lIns="68575" spcFirstLastPara="1" rIns="68575" wrap="square" tIns="34275">
            <a:normAutofit/>
          </a:bodyPr>
          <a:lstStyle/>
          <a:p>
            <a:pPr indent="0" lvl="0" marL="0" rtl="0" algn="l">
              <a:lnSpc>
                <a:spcPct val="85000"/>
              </a:lnSpc>
              <a:spcBef>
                <a:spcPts val="0"/>
              </a:spcBef>
              <a:spcAft>
                <a:spcPts val="0"/>
              </a:spcAft>
              <a:buClr>
                <a:srgbClr val="3F3F3F"/>
              </a:buClr>
              <a:buSzPts val="3600"/>
              <a:buFont typeface="Calibri"/>
              <a:buNone/>
            </a:pPr>
            <a:r>
              <a:t/>
            </a:r>
            <a:endParaRPr/>
          </a:p>
        </p:txBody>
      </p:sp>
      <p:sp>
        <p:nvSpPr>
          <p:cNvPr id="112" name="Google Shape;112;p24"/>
          <p:cNvSpPr txBox="1"/>
          <p:nvPr>
            <p:ph idx="1" type="body"/>
          </p:nvPr>
        </p:nvSpPr>
        <p:spPr>
          <a:xfrm>
            <a:off x="617220" y="1038225"/>
            <a:ext cx="5658000" cy="2263200"/>
          </a:xfrm>
          <a:prstGeom prst="rect">
            <a:avLst/>
          </a:prstGeom>
          <a:noFill/>
          <a:ln>
            <a:noFill/>
          </a:ln>
        </p:spPr>
        <p:txBody>
          <a:bodyPr anchorCtr="0" anchor="t" bIns="34275" lIns="0" spcFirstLastPara="1" rIns="0" wrap="square" tIns="34275">
            <a:normAutofit/>
          </a:bodyPr>
          <a:lstStyle/>
          <a:p>
            <a:pPr indent="0" lvl="0" marL="63500" rtl="0" algn="l">
              <a:lnSpc>
                <a:spcPct val="90000"/>
              </a:lnSpc>
              <a:spcBef>
                <a:spcPts val="0"/>
              </a:spcBef>
              <a:spcAft>
                <a:spcPts val="0"/>
              </a:spcAft>
              <a:buSzPts val="1500"/>
              <a:buNone/>
            </a:pPr>
            <a:r>
              <a:t/>
            </a:r>
            <a:endParaRPr/>
          </a:p>
        </p:txBody>
      </p:sp>
      <p:pic>
        <p:nvPicPr>
          <p:cNvPr id="113" name="Google Shape;113;p24"/>
          <p:cNvPicPr preferRelativeResize="0"/>
          <p:nvPr/>
        </p:nvPicPr>
        <p:blipFill rotWithShape="1">
          <a:blip r:embed="rId3">
            <a:alphaModFix/>
          </a:blip>
          <a:srcRect b="17644" l="29614" r="39535" t="17869"/>
          <a:stretch/>
        </p:blipFill>
        <p:spPr>
          <a:xfrm>
            <a:off x="496999" y="3063"/>
            <a:ext cx="4369325" cy="513736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5"/>
          <p:cNvSpPr txBox="1"/>
          <p:nvPr>
            <p:ph type="title"/>
          </p:nvPr>
        </p:nvSpPr>
        <p:spPr>
          <a:xfrm>
            <a:off x="617220" y="161214"/>
            <a:ext cx="5658000" cy="816000"/>
          </a:xfrm>
          <a:prstGeom prst="rect">
            <a:avLst/>
          </a:prstGeom>
          <a:noFill/>
          <a:ln>
            <a:noFill/>
          </a:ln>
        </p:spPr>
        <p:txBody>
          <a:bodyPr anchorCtr="0" anchor="b" bIns="34275" lIns="68575" spcFirstLastPara="1" rIns="68575" wrap="square" tIns="34275">
            <a:normAutofit/>
          </a:bodyPr>
          <a:lstStyle/>
          <a:p>
            <a:pPr indent="0" lvl="0" marL="0" rtl="0" algn="l">
              <a:lnSpc>
                <a:spcPct val="85000"/>
              </a:lnSpc>
              <a:spcBef>
                <a:spcPts val="0"/>
              </a:spcBef>
              <a:spcAft>
                <a:spcPts val="0"/>
              </a:spcAft>
              <a:buClr>
                <a:srgbClr val="3F3F3F"/>
              </a:buClr>
              <a:buSzPts val="3600"/>
              <a:buFont typeface="Calibri"/>
              <a:buNone/>
            </a:pPr>
            <a:r>
              <a:t/>
            </a:r>
            <a:endParaRPr/>
          </a:p>
        </p:txBody>
      </p:sp>
      <p:sp>
        <p:nvSpPr>
          <p:cNvPr id="119" name="Google Shape;119;p25"/>
          <p:cNvSpPr txBox="1"/>
          <p:nvPr>
            <p:ph idx="1" type="body"/>
          </p:nvPr>
        </p:nvSpPr>
        <p:spPr>
          <a:xfrm>
            <a:off x="617220" y="1038225"/>
            <a:ext cx="5658000" cy="2263200"/>
          </a:xfrm>
          <a:prstGeom prst="rect">
            <a:avLst/>
          </a:prstGeom>
          <a:noFill/>
          <a:ln>
            <a:noFill/>
          </a:ln>
        </p:spPr>
        <p:txBody>
          <a:bodyPr anchorCtr="0" anchor="t" bIns="34275" lIns="0" spcFirstLastPara="1" rIns="0" wrap="square" tIns="34275">
            <a:normAutofit/>
          </a:bodyPr>
          <a:lstStyle/>
          <a:p>
            <a:pPr indent="0" lvl="0" marL="63500" rtl="0" algn="l">
              <a:lnSpc>
                <a:spcPct val="90000"/>
              </a:lnSpc>
              <a:spcBef>
                <a:spcPts val="0"/>
              </a:spcBef>
              <a:spcAft>
                <a:spcPts val="0"/>
              </a:spcAft>
              <a:buSzPts val="1500"/>
              <a:buNone/>
            </a:pPr>
            <a:r>
              <a:t/>
            </a:r>
            <a:endParaRPr/>
          </a:p>
        </p:txBody>
      </p:sp>
      <p:pic>
        <p:nvPicPr>
          <p:cNvPr id="120" name="Google Shape;120;p25"/>
          <p:cNvPicPr preferRelativeResize="0"/>
          <p:nvPr/>
        </p:nvPicPr>
        <p:blipFill rotWithShape="1">
          <a:blip r:embed="rId3">
            <a:alphaModFix/>
          </a:blip>
          <a:srcRect b="9968" l="25982" r="22527" t="36150"/>
          <a:stretch/>
        </p:blipFill>
        <p:spPr>
          <a:xfrm>
            <a:off x="0" y="0"/>
            <a:ext cx="7478016" cy="440182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6"/>
          <p:cNvSpPr txBox="1"/>
          <p:nvPr>
            <p:ph type="title"/>
          </p:nvPr>
        </p:nvSpPr>
        <p:spPr>
          <a:xfrm>
            <a:off x="617220" y="161214"/>
            <a:ext cx="5658000" cy="816000"/>
          </a:xfrm>
          <a:prstGeom prst="rect">
            <a:avLst/>
          </a:prstGeom>
          <a:noFill/>
          <a:ln>
            <a:noFill/>
          </a:ln>
        </p:spPr>
        <p:txBody>
          <a:bodyPr anchorCtr="0" anchor="b" bIns="34275" lIns="68575" spcFirstLastPara="1" rIns="68575" wrap="square" tIns="34275">
            <a:normAutofit/>
          </a:bodyPr>
          <a:lstStyle/>
          <a:p>
            <a:pPr indent="0" lvl="0" marL="0" rtl="0" algn="l">
              <a:lnSpc>
                <a:spcPct val="85000"/>
              </a:lnSpc>
              <a:spcBef>
                <a:spcPts val="0"/>
              </a:spcBef>
              <a:spcAft>
                <a:spcPts val="0"/>
              </a:spcAft>
              <a:buClr>
                <a:srgbClr val="3F3F3F"/>
              </a:buClr>
              <a:buSzPts val="3600"/>
              <a:buFont typeface="Calibri"/>
              <a:buNone/>
            </a:pPr>
            <a:r>
              <a:t/>
            </a:r>
            <a:endParaRPr/>
          </a:p>
        </p:txBody>
      </p:sp>
      <p:sp>
        <p:nvSpPr>
          <p:cNvPr id="126" name="Google Shape;126;p26"/>
          <p:cNvSpPr txBox="1"/>
          <p:nvPr>
            <p:ph idx="1" type="body"/>
          </p:nvPr>
        </p:nvSpPr>
        <p:spPr>
          <a:xfrm>
            <a:off x="617220" y="1038225"/>
            <a:ext cx="5658000" cy="2263200"/>
          </a:xfrm>
          <a:prstGeom prst="rect">
            <a:avLst/>
          </a:prstGeom>
          <a:noFill/>
          <a:ln>
            <a:noFill/>
          </a:ln>
        </p:spPr>
        <p:txBody>
          <a:bodyPr anchorCtr="0" anchor="t" bIns="34275" lIns="0" spcFirstLastPara="1" rIns="0" wrap="square" tIns="34275">
            <a:normAutofit/>
          </a:bodyPr>
          <a:lstStyle/>
          <a:p>
            <a:pPr indent="0" lvl="0" marL="63500" rtl="0" algn="l">
              <a:lnSpc>
                <a:spcPct val="90000"/>
              </a:lnSpc>
              <a:spcBef>
                <a:spcPts val="0"/>
              </a:spcBef>
              <a:spcAft>
                <a:spcPts val="0"/>
              </a:spcAft>
              <a:buSzPts val="1500"/>
              <a:buNone/>
            </a:pPr>
            <a:r>
              <a:t/>
            </a:r>
            <a:endParaRPr/>
          </a:p>
        </p:txBody>
      </p:sp>
      <p:pic>
        <p:nvPicPr>
          <p:cNvPr id="127" name="Google Shape;127;p26"/>
          <p:cNvPicPr preferRelativeResize="0"/>
          <p:nvPr/>
        </p:nvPicPr>
        <p:blipFill rotWithShape="1">
          <a:blip r:embed="rId3">
            <a:alphaModFix/>
          </a:blip>
          <a:srcRect b="19866" l="25439" r="23221" t="36424"/>
          <a:stretch/>
        </p:blipFill>
        <p:spPr>
          <a:xfrm>
            <a:off x="0" y="0"/>
            <a:ext cx="8019115" cy="384048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7"/>
          <p:cNvSpPr txBox="1"/>
          <p:nvPr>
            <p:ph type="title"/>
          </p:nvPr>
        </p:nvSpPr>
        <p:spPr>
          <a:xfrm>
            <a:off x="617220" y="161214"/>
            <a:ext cx="5658000" cy="816000"/>
          </a:xfrm>
          <a:prstGeom prst="rect">
            <a:avLst/>
          </a:prstGeom>
          <a:noFill/>
          <a:ln>
            <a:noFill/>
          </a:ln>
        </p:spPr>
        <p:txBody>
          <a:bodyPr anchorCtr="0" anchor="b" bIns="34275" lIns="68575" spcFirstLastPara="1" rIns="68575" wrap="square" tIns="34275">
            <a:normAutofit/>
          </a:bodyPr>
          <a:lstStyle/>
          <a:p>
            <a:pPr indent="0" lvl="0" marL="0" rtl="0" algn="l">
              <a:lnSpc>
                <a:spcPct val="85000"/>
              </a:lnSpc>
              <a:spcBef>
                <a:spcPts val="0"/>
              </a:spcBef>
              <a:spcAft>
                <a:spcPts val="0"/>
              </a:spcAft>
              <a:buClr>
                <a:srgbClr val="3F3F3F"/>
              </a:buClr>
              <a:buSzPts val="3600"/>
              <a:buFont typeface="Calibri"/>
              <a:buNone/>
            </a:pPr>
            <a:r>
              <a:t/>
            </a:r>
            <a:endParaRPr/>
          </a:p>
        </p:txBody>
      </p:sp>
      <p:sp>
        <p:nvSpPr>
          <p:cNvPr id="133" name="Google Shape;133;p27"/>
          <p:cNvSpPr txBox="1"/>
          <p:nvPr>
            <p:ph idx="1" type="body"/>
          </p:nvPr>
        </p:nvSpPr>
        <p:spPr>
          <a:xfrm>
            <a:off x="617220" y="1038225"/>
            <a:ext cx="5658000" cy="2263200"/>
          </a:xfrm>
          <a:prstGeom prst="rect">
            <a:avLst/>
          </a:prstGeom>
          <a:noFill/>
          <a:ln>
            <a:noFill/>
          </a:ln>
        </p:spPr>
        <p:txBody>
          <a:bodyPr anchorCtr="0" anchor="t" bIns="34275" lIns="0" spcFirstLastPara="1" rIns="0" wrap="square" tIns="34275">
            <a:normAutofit/>
          </a:bodyPr>
          <a:lstStyle/>
          <a:p>
            <a:pPr indent="0" lvl="0" marL="63500" rtl="0" algn="l">
              <a:lnSpc>
                <a:spcPct val="90000"/>
              </a:lnSpc>
              <a:spcBef>
                <a:spcPts val="0"/>
              </a:spcBef>
              <a:spcAft>
                <a:spcPts val="0"/>
              </a:spcAft>
              <a:buSzPts val="1500"/>
              <a:buNone/>
            </a:pPr>
            <a:r>
              <a:t/>
            </a:r>
            <a:endParaRPr/>
          </a:p>
        </p:txBody>
      </p:sp>
      <p:pic>
        <p:nvPicPr>
          <p:cNvPr id="134" name="Google Shape;134;p27"/>
          <p:cNvPicPr preferRelativeResize="0"/>
          <p:nvPr/>
        </p:nvPicPr>
        <p:blipFill rotWithShape="1">
          <a:blip r:embed="rId3">
            <a:alphaModFix/>
          </a:blip>
          <a:srcRect b="0" l="0" r="0" t="0"/>
          <a:stretch/>
        </p:blipFill>
        <p:spPr>
          <a:xfrm>
            <a:off x="960761" y="1049973"/>
            <a:ext cx="3121819" cy="3686175"/>
          </a:xfrm>
          <a:prstGeom prst="rect">
            <a:avLst/>
          </a:prstGeom>
          <a:noFill/>
          <a:ln>
            <a:noFill/>
          </a:ln>
        </p:spPr>
      </p:pic>
      <p:pic>
        <p:nvPicPr>
          <p:cNvPr id="135" name="Google Shape;135;p27"/>
          <p:cNvPicPr preferRelativeResize="0"/>
          <p:nvPr/>
        </p:nvPicPr>
        <p:blipFill rotWithShape="1">
          <a:blip r:embed="rId4">
            <a:alphaModFix/>
          </a:blip>
          <a:srcRect b="41904" l="22422" r="21831" t="50000"/>
          <a:stretch/>
        </p:blipFill>
        <p:spPr>
          <a:xfrm>
            <a:off x="0" y="214952"/>
            <a:ext cx="7560749" cy="61767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8"/>
          <p:cNvSpPr txBox="1"/>
          <p:nvPr>
            <p:ph type="title"/>
          </p:nvPr>
        </p:nvSpPr>
        <p:spPr>
          <a:xfrm>
            <a:off x="617220" y="161214"/>
            <a:ext cx="5658000" cy="816000"/>
          </a:xfrm>
          <a:prstGeom prst="rect">
            <a:avLst/>
          </a:prstGeom>
          <a:noFill/>
          <a:ln>
            <a:noFill/>
          </a:ln>
        </p:spPr>
        <p:txBody>
          <a:bodyPr anchorCtr="0" anchor="b" bIns="34275" lIns="68575" spcFirstLastPara="1" rIns="68575" wrap="square" tIns="34275">
            <a:normAutofit/>
          </a:bodyPr>
          <a:lstStyle/>
          <a:p>
            <a:pPr indent="0" lvl="0" marL="0" rtl="0" algn="l">
              <a:lnSpc>
                <a:spcPct val="85000"/>
              </a:lnSpc>
              <a:spcBef>
                <a:spcPts val="0"/>
              </a:spcBef>
              <a:spcAft>
                <a:spcPts val="0"/>
              </a:spcAft>
              <a:buClr>
                <a:srgbClr val="3F3F3F"/>
              </a:buClr>
              <a:buSzPts val="3600"/>
              <a:buFont typeface="Calibri"/>
              <a:buNone/>
            </a:pPr>
            <a:r>
              <a:t/>
            </a:r>
            <a:endParaRPr/>
          </a:p>
        </p:txBody>
      </p:sp>
      <p:sp>
        <p:nvSpPr>
          <p:cNvPr id="141" name="Google Shape;141;p28"/>
          <p:cNvSpPr txBox="1"/>
          <p:nvPr>
            <p:ph idx="1" type="body"/>
          </p:nvPr>
        </p:nvSpPr>
        <p:spPr>
          <a:xfrm>
            <a:off x="617220" y="1038225"/>
            <a:ext cx="5658000" cy="2263200"/>
          </a:xfrm>
          <a:prstGeom prst="rect">
            <a:avLst/>
          </a:prstGeom>
          <a:noFill/>
          <a:ln>
            <a:noFill/>
          </a:ln>
        </p:spPr>
        <p:txBody>
          <a:bodyPr anchorCtr="0" anchor="t" bIns="34275" lIns="0" spcFirstLastPara="1" rIns="0" wrap="square" tIns="34275">
            <a:normAutofit/>
          </a:bodyPr>
          <a:lstStyle/>
          <a:p>
            <a:pPr indent="0" lvl="0" marL="63500" rtl="0" algn="l">
              <a:lnSpc>
                <a:spcPct val="90000"/>
              </a:lnSpc>
              <a:spcBef>
                <a:spcPts val="0"/>
              </a:spcBef>
              <a:spcAft>
                <a:spcPts val="0"/>
              </a:spcAft>
              <a:buSzPts val="1500"/>
              <a:buNone/>
            </a:pPr>
            <a:r>
              <a:t/>
            </a:r>
            <a:endParaRPr/>
          </a:p>
        </p:txBody>
      </p:sp>
      <p:pic>
        <p:nvPicPr>
          <p:cNvPr id="142" name="Google Shape;142;p28"/>
          <p:cNvPicPr preferRelativeResize="0"/>
          <p:nvPr/>
        </p:nvPicPr>
        <p:blipFill rotWithShape="1">
          <a:blip r:embed="rId3">
            <a:alphaModFix/>
          </a:blip>
          <a:srcRect b="10933" l="27373" r="32189" t="19516"/>
          <a:stretch/>
        </p:blipFill>
        <p:spPr>
          <a:xfrm>
            <a:off x="0" y="0"/>
            <a:ext cx="5337931" cy="516441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9"/>
          <p:cNvSpPr txBox="1"/>
          <p:nvPr>
            <p:ph type="title"/>
          </p:nvPr>
        </p:nvSpPr>
        <p:spPr>
          <a:xfrm>
            <a:off x="617220" y="161214"/>
            <a:ext cx="5658000" cy="816000"/>
          </a:xfrm>
          <a:prstGeom prst="rect">
            <a:avLst/>
          </a:prstGeom>
          <a:noFill/>
          <a:ln>
            <a:noFill/>
          </a:ln>
        </p:spPr>
        <p:txBody>
          <a:bodyPr anchorCtr="0" anchor="b" bIns="34275" lIns="68575" spcFirstLastPara="1" rIns="68575" wrap="square" tIns="34275">
            <a:normAutofit/>
          </a:bodyPr>
          <a:lstStyle/>
          <a:p>
            <a:pPr indent="0" lvl="0" marL="0" rtl="0" algn="l">
              <a:lnSpc>
                <a:spcPct val="85000"/>
              </a:lnSpc>
              <a:spcBef>
                <a:spcPts val="0"/>
              </a:spcBef>
              <a:spcAft>
                <a:spcPts val="0"/>
              </a:spcAft>
              <a:buClr>
                <a:srgbClr val="3F3F3F"/>
              </a:buClr>
              <a:buSzPts val="3600"/>
              <a:buFont typeface="Calibri"/>
              <a:buNone/>
            </a:pPr>
            <a:r>
              <a:t/>
            </a:r>
            <a:endParaRPr/>
          </a:p>
        </p:txBody>
      </p:sp>
      <p:sp>
        <p:nvSpPr>
          <p:cNvPr id="148" name="Google Shape;148;p29"/>
          <p:cNvSpPr txBox="1"/>
          <p:nvPr>
            <p:ph idx="1" type="body"/>
          </p:nvPr>
        </p:nvSpPr>
        <p:spPr>
          <a:xfrm>
            <a:off x="617220" y="1038225"/>
            <a:ext cx="5658000" cy="2263200"/>
          </a:xfrm>
          <a:prstGeom prst="rect">
            <a:avLst/>
          </a:prstGeom>
          <a:noFill/>
          <a:ln>
            <a:noFill/>
          </a:ln>
        </p:spPr>
        <p:txBody>
          <a:bodyPr anchorCtr="0" anchor="t" bIns="34275" lIns="0" spcFirstLastPara="1" rIns="0" wrap="square" tIns="34275">
            <a:normAutofit/>
          </a:bodyPr>
          <a:lstStyle/>
          <a:p>
            <a:pPr indent="0" lvl="0" marL="63500" rtl="0" algn="l">
              <a:lnSpc>
                <a:spcPct val="90000"/>
              </a:lnSpc>
              <a:spcBef>
                <a:spcPts val="0"/>
              </a:spcBef>
              <a:spcAft>
                <a:spcPts val="0"/>
              </a:spcAft>
              <a:buSzPts val="1500"/>
              <a:buNone/>
            </a:pPr>
            <a:r>
              <a:t/>
            </a:r>
            <a:endParaRPr/>
          </a:p>
        </p:txBody>
      </p:sp>
      <p:pic>
        <p:nvPicPr>
          <p:cNvPr id="149" name="Google Shape;149;p29"/>
          <p:cNvPicPr preferRelativeResize="0"/>
          <p:nvPr/>
        </p:nvPicPr>
        <p:blipFill rotWithShape="1">
          <a:blip r:embed="rId3">
            <a:alphaModFix/>
          </a:blip>
          <a:srcRect b="43642" l="27987" r="26395" t="21444"/>
          <a:stretch/>
        </p:blipFill>
        <p:spPr>
          <a:xfrm>
            <a:off x="0" y="0"/>
            <a:ext cx="8868240" cy="381785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30"/>
          <p:cNvSpPr txBox="1"/>
          <p:nvPr>
            <p:ph type="title"/>
          </p:nvPr>
        </p:nvSpPr>
        <p:spPr>
          <a:xfrm>
            <a:off x="617220" y="161214"/>
            <a:ext cx="5658000" cy="816000"/>
          </a:xfrm>
          <a:prstGeom prst="rect">
            <a:avLst/>
          </a:prstGeom>
          <a:noFill/>
          <a:ln>
            <a:noFill/>
          </a:ln>
        </p:spPr>
        <p:txBody>
          <a:bodyPr anchorCtr="0" anchor="b" bIns="34275" lIns="68575" spcFirstLastPara="1" rIns="68575" wrap="square" tIns="34275">
            <a:normAutofit/>
          </a:bodyPr>
          <a:lstStyle/>
          <a:p>
            <a:pPr indent="0" lvl="0" marL="0" rtl="0" algn="l">
              <a:lnSpc>
                <a:spcPct val="85000"/>
              </a:lnSpc>
              <a:spcBef>
                <a:spcPts val="0"/>
              </a:spcBef>
              <a:spcAft>
                <a:spcPts val="0"/>
              </a:spcAft>
              <a:buClr>
                <a:srgbClr val="3F3F3F"/>
              </a:buClr>
              <a:buSzPts val="3600"/>
              <a:buFont typeface="Calibri"/>
              <a:buNone/>
            </a:pPr>
            <a:r>
              <a:t/>
            </a:r>
            <a:endParaRPr/>
          </a:p>
        </p:txBody>
      </p:sp>
      <p:sp>
        <p:nvSpPr>
          <p:cNvPr id="155" name="Google Shape;155;p30"/>
          <p:cNvSpPr txBox="1"/>
          <p:nvPr>
            <p:ph idx="1" type="body"/>
          </p:nvPr>
        </p:nvSpPr>
        <p:spPr>
          <a:xfrm>
            <a:off x="617220" y="1038225"/>
            <a:ext cx="5658000" cy="2263200"/>
          </a:xfrm>
          <a:prstGeom prst="rect">
            <a:avLst/>
          </a:prstGeom>
          <a:noFill/>
          <a:ln>
            <a:noFill/>
          </a:ln>
        </p:spPr>
        <p:txBody>
          <a:bodyPr anchorCtr="0" anchor="t" bIns="34275" lIns="0" spcFirstLastPara="1" rIns="0" wrap="square" tIns="34275">
            <a:normAutofit/>
          </a:bodyPr>
          <a:lstStyle/>
          <a:p>
            <a:pPr indent="0" lvl="0" marL="63500" rtl="0" algn="l">
              <a:lnSpc>
                <a:spcPct val="90000"/>
              </a:lnSpc>
              <a:spcBef>
                <a:spcPts val="0"/>
              </a:spcBef>
              <a:spcAft>
                <a:spcPts val="0"/>
              </a:spcAft>
              <a:buSzPts val="1500"/>
              <a:buNone/>
            </a:pPr>
            <a:r>
              <a:t/>
            </a:r>
            <a:endParaRPr/>
          </a:p>
        </p:txBody>
      </p:sp>
      <p:pic>
        <p:nvPicPr>
          <p:cNvPr id="156" name="Google Shape;156;p30"/>
          <p:cNvPicPr preferRelativeResize="0"/>
          <p:nvPr/>
        </p:nvPicPr>
        <p:blipFill rotWithShape="1">
          <a:blip r:embed="rId3">
            <a:alphaModFix/>
          </a:blip>
          <a:srcRect b="27976" l="27759" r="26236" t="18142"/>
          <a:stretch/>
        </p:blipFill>
        <p:spPr>
          <a:xfrm>
            <a:off x="0" y="0"/>
            <a:ext cx="6681336" cy="440182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31"/>
          <p:cNvSpPr txBox="1"/>
          <p:nvPr>
            <p:ph type="title"/>
          </p:nvPr>
        </p:nvSpPr>
        <p:spPr>
          <a:xfrm>
            <a:off x="617220" y="161214"/>
            <a:ext cx="5658000" cy="816000"/>
          </a:xfrm>
          <a:prstGeom prst="rect">
            <a:avLst/>
          </a:prstGeom>
          <a:noFill/>
          <a:ln>
            <a:noFill/>
          </a:ln>
        </p:spPr>
        <p:txBody>
          <a:bodyPr anchorCtr="0" anchor="b" bIns="34275" lIns="68575" spcFirstLastPara="1" rIns="68575" wrap="square" tIns="34275">
            <a:normAutofit/>
          </a:bodyPr>
          <a:lstStyle/>
          <a:p>
            <a:pPr indent="0" lvl="0" marL="0" rtl="0" algn="l">
              <a:lnSpc>
                <a:spcPct val="85000"/>
              </a:lnSpc>
              <a:spcBef>
                <a:spcPts val="0"/>
              </a:spcBef>
              <a:spcAft>
                <a:spcPts val="0"/>
              </a:spcAft>
              <a:buClr>
                <a:srgbClr val="3F3F3F"/>
              </a:buClr>
              <a:buSzPts val="3600"/>
              <a:buFont typeface="Calibri"/>
              <a:buNone/>
            </a:pPr>
            <a:r>
              <a:t/>
            </a:r>
            <a:endParaRPr/>
          </a:p>
        </p:txBody>
      </p:sp>
      <p:sp>
        <p:nvSpPr>
          <p:cNvPr id="162" name="Google Shape;162;p31"/>
          <p:cNvSpPr txBox="1"/>
          <p:nvPr>
            <p:ph idx="1" type="body"/>
          </p:nvPr>
        </p:nvSpPr>
        <p:spPr>
          <a:xfrm>
            <a:off x="617220" y="1038225"/>
            <a:ext cx="5658000" cy="2263200"/>
          </a:xfrm>
          <a:prstGeom prst="rect">
            <a:avLst/>
          </a:prstGeom>
          <a:noFill/>
          <a:ln>
            <a:noFill/>
          </a:ln>
        </p:spPr>
        <p:txBody>
          <a:bodyPr anchorCtr="0" anchor="t" bIns="34275" lIns="0" spcFirstLastPara="1" rIns="0" wrap="square" tIns="34275">
            <a:normAutofit/>
          </a:bodyPr>
          <a:lstStyle/>
          <a:p>
            <a:pPr indent="0" lvl="0" marL="63500" rtl="0" algn="l">
              <a:lnSpc>
                <a:spcPct val="90000"/>
              </a:lnSpc>
              <a:spcBef>
                <a:spcPts val="0"/>
              </a:spcBef>
              <a:spcAft>
                <a:spcPts val="0"/>
              </a:spcAft>
              <a:buSzPts val="1500"/>
              <a:buNone/>
            </a:pPr>
            <a:r>
              <a:t/>
            </a:r>
            <a:endParaRPr/>
          </a:p>
        </p:txBody>
      </p:sp>
      <p:pic>
        <p:nvPicPr>
          <p:cNvPr id="163" name="Google Shape;163;p31"/>
          <p:cNvPicPr preferRelativeResize="0"/>
          <p:nvPr/>
        </p:nvPicPr>
        <p:blipFill rotWithShape="1">
          <a:blip r:embed="rId3">
            <a:alphaModFix/>
          </a:blip>
          <a:srcRect b="16974" l="27603" r="28247" t="22683"/>
          <a:stretch/>
        </p:blipFill>
        <p:spPr>
          <a:xfrm>
            <a:off x="0" y="0"/>
            <a:ext cx="6690062" cy="51435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2"/>
          <p:cNvSpPr txBox="1"/>
          <p:nvPr>
            <p:ph type="title"/>
          </p:nvPr>
        </p:nvSpPr>
        <p:spPr>
          <a:xfrm>
            <a:off x="617220" y="161214"/>
            <a:ext cx="5658000" cy="816000"/>
          </a:xfrm>
          <a:prstGeom prst="rect">
            <a:avLst/>
          </a:prstGeom>
          <a:noFill/>
          <a:ln>
            <a:noFill/>
          </a:ln>
        </p:spPr>
        <p:txBody>
          <a:bodyPr anchorCtr="0" anchor="b" bIns="34275" lIns="68575" spcFirstLastPara="1" rIns="68575" wrap="square" tIns="34275">
            <a:normAutofit/>
          </a:bodyPr>
          <a:lstStyle/>
          <a:p>
            <a:pPr indent="0" lvl="0" marL="0" rtl="0" algn="l">
              <a:lnSpc>
                <a:spcPct val="85000"/>
              </a:lnSpc>
              <a:spcBef>
                <a:spcPts val="0"/>
              </a:spcBef>
              <a:spcAft>
                <a:spcPts val="0"/>
              </a:spcAft>
              <a:buClr>
                <a:srgbClr val="3F3F3F"/>
              </a:buClr>
              <a:buSzPts val="3600"/>
              <a:buFont typeface="Calibri"/>
              <a:buNone/>
            </a:pPr>
            <a:r>
              <a:t/>
            </a:r>
            <a:endParaRPr/>
          </a:p>
        </p:txBody>
      </p:sp>
      <p:sp>
        <p:nvSpPr>
          <p:cNvPr id="169" name="Google Shape;169;p32"/>
          <p:cNvSpPr txBox="1"/>
          <p:nvPr>
            <p:ph idx="1" type="body"/>
          </p:nvPr>
        </p:nvSpPr>
        <p:spPr>
          <a:xfrm>
            <a:off x="617220" y="1038225"/>
            <a:ext cx="5658000" cy="2263200"/>
          </a:xfrm>
          <a:prstGeom prst="rect">
            <a:avLst/>
          </a:prstGeom>
          <a:noFill/>
          <a:ln>
            <a:noFill/>
          </a:ln>
        </p:spPr>
        <p:txBody>
          <a:bodyPr anchorCtr="0" anchor="t" bIns="34275" lIns="0" spcFirstLastPara="1" rIns="0" wrap="square" tIns="34275">
            <a:normAutofit/>
          </a:bodyPr>
          <a:lstStyle/>
          <a:p>
            <a:pPr indent="0" lvl="0" marL="63500" rtl="0" algn="l">
              <a:lnSpc>
                <a:spcPct val="90000"/>
              </a:lnSpc>
              <a:spcBef>
                <a:spcPts val="0"/>
              </a:spcBef>
              <a:spcAft>
                <a:spcPts val="0"/>
              </a:spcAft>
              <a:buSzPts val="1500"/>
              <a:buNone/>
            </a:pPr>
            <a:r>
              <a:t/>
            </a:r>
            <a:endParaRPr/>
          </a:p>
        </p:txBody>
      </p:sp>
      <p:pic>
        <p:nvPicPr>
          <p:cNvPr id="170" name="Google Shape;170;p32"/>
          <p:cNvPicPr preferRelativeResize="0"/>
          <p:nvPr/>
        </p:nvPicPr>
        <p:blipFill rotWithShape="1">
          <a:blip r:embed="rId3">
            <a:alphaModFix/>
          </a:blip>
          <a:srcRect b="27423" l="27215" r="26549" t="22131"/>
          <a:stretch/>
        </p:blipFill>
        <p:spPr>
          <a:xfrm>
            <a:off x="0" y="86936"/>
            <a:ext cx="7576891" cy="465003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3"/>
          <p:cNvSpPr txBox="1"/>
          <p:nvPr>
            <p:ph type="title"/>
          </p:nvPr>
        </p:nvSpPr>
        <p:spPr>
          <a:xfrm>
            <a:off x="617220" y="161214"/>
            <a:ext cx="5658000" cy="816000"/>
          </a:xfrm>
          <a:prstGeom prst="rect">
            <a:avLst/>
          </a:prstGeom>
          <a:noFill/>
          <a:ln>
            <a:noFill/>
          </a:ln>
        </p:spPr>
        <p:txBody>
          <a:bodyPr anchorCtr="0" anchor="b" bIns="34275" lIns="68575" spcFirstLastPara="1" rIns="68575" wrap="square" tIns="34275">
            <a:normAutofit/>
          </a:bodyPr>
          <a:lstStyle/>
          <a:p>
            <a:pPr indent="0" lvl="0" marL="0" rtl="0" algn="l">
              <a:lnSpc>
                <a:spcPct val="85000"/>
              </a:lnSpc>
              <a:spcBef>
                <a:spcPts val="0"/>
              </a:spcBef>
              <a:spcAft>
                <a:spcPts val="0"/>
              </a:spcAft>
              <a:buClr>
                <a:srgbClr val="3F3F3F"/>
              </a:buClr>
              <a:buSzPts val="3600"/>
              <a:buFont typeface="Calibri"/>
              <a:buNone/>
            </a:pPr>
            <a:r>
              <a:t/>
            </a:r>
            <a:endParaRPr/>
          </a:p>
        </p:txBody>
      </p:sp>
      <p:sp>
        <p:nvSpPr>
          <p:cNvPr id="176" name="Google Shape;176;p33"/>
          <p:cNvSpPr txBox="1"/>
          <p:nvPr>
            <p:ph idx="1" type="body"/>
          </p:nvPr>
        </p:nvSpPr>
        <p:spPr>
          <a:xfrm>
            <a:off x="617220" y="1038225"/>
            <a:ext cx="5658000" cy="2263200"/>
          </a:xfrm>
          <a:prstGeom prst="rect">
            <a:avLst/>
          </a:prstGeom>
          <a:noFill/>
          <a:ln>
            <a:noFill/>
          </a:ln>
        </p:spPr>
        <p:txBody>
          <a:bodyPr anchorCtr="0" anchor="t" bIns="34275" lIns="0" spcFirstLastPara="1" rIns="0" wrap="square" tIns="34275">
            <a:normAutofit/>
          </a:bodyPr>
          <a:lstStyle/>
          <a:p>
            <a:pPr indent="0" lvl="0" marL="63500" rtl="0" algn="l">
              <a:lnSpc>
                <a:spcPct val="90000"/>
              </a:lnSpc>
              <a:spcBef>
                <a:spcPts val="0"/>
              </a:spcBef>
              <a:spcAft>
                <a:spcPts val="0"/>
              </a:spcAft>
              <a:buSzPts val="1500"/>
              <a:buNone/>
            </a:pPr>
            <a:r>
              <a:t/>
            </a:r>
            <a:endParaRPr/>
          </a:p>
        </p:txBody>
      </p:sp>
      <p:pic>
        <p:nvPicPr>
          <p:cNvPr id="177" name="Google Shape;177;p33"/>
          <p:cNvPicPr preferRelativeResize="0"/>
          <p:nvPr/>
        </p:nvPicPr>
        <p:blipFill rotWithShape="1">
          <a:blip r:embed="rId3">
            <a:alphaModFix/>
          </a:blip>
          <a:srcRect b="16014" l="27990" r="48195" t="57870"/>
          <a:stretch/>
        </p:blipFill>
        <p:spPr>
          <a:xfrm>
            <a:off x="0" y="-40300"/>
            <a:ext cx="6437650" cy="397127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4"/>
          <p:cNvSpPr txBox="1"/>
          <p:nvPr>
            <p:ph type="title"/>
          </p:nvPr>
        </p:nvSpPr>
        <p:spPr>
          <a:xfrm>
            <a:off x="822960" y="214952"/>
            <a:ext cx="7543800" cy="1088100"/>
          </a:xfrm>
          <a:prstGeom prst="rect">
            <a:avLst/>
          </a:prstGeom>
        </p:spPr>
        <p:txBody>
          <a:bodyPr anchorCtr="0" anchor="b" bIns="34275" lIns="68575" spcFirstLastPara="1" rIns="68575" wrap="square" tIns="34275">
            <a:normAutofit fontScale="90000"/>
          </a:bodyPr>
          <a:lstStyle/>
          <a:p>
            <a:pPr indent="0" lvl="0" marL="0" rtl="0" algn="l">
              <a:spcBef>
                <a:spcPts val="0"/>
              </a:spcBef>
              <a:spcAft>
                <a:spcPts val="0"/>
              </a:spcAft>
              <a:buClr>
                <a:schemeClr val="dk1"/>
              </a:buClr>
              <a:buSzPct val="39286"/>
              <a:buFont typeface="Arial"/>
              <a:buNone/>
            </a:pPr>
            <a:r>
              <a:rPr lang="pt-BR"/>
              <a:t>Treinando Redes Profundas… Pré-processando</a:t>
            </a:r>
            <a:endParaRPr/>
          </a:p>
          <a:p>
            <a:pPr indent="0" lvl="0" marL="0" rtl="0" algn="l">
              <a:spcBef>
                <a:spcPts val="0"/>
              </a:spcBef>
              <a:spcAft>
                <a:spcPts val="0"/>
              </a:spcAft>
              <a:buNone/>
            </a:pPr>
            <a:r>
              <a:t/>
            </a:r>
            <a:endParaRPr/>
          </a:p>
        </p:txBody>
      </p:sp>
      <p:sp>
        <p:nvSpPr>
          <p:cNvPr id="183" name="Google Shape;183;p34"/>
          <p:cNvSpPr txBox="1"/>
          <p:nvPr>
            <p:ph idx="1" type="body"/>
          </p:nvPr>
        </p:nvSpPr>
        <p:spPr>
          <a:xfrm>
            <a:off x="822949" y="1384300"/>
            <a:ext cx="8056800" cy="3646500"/>
          </a:xfrm>
          <a:prstGeom prst="rect">
            <a:avLst/>
          </a:prstGeom>
        </p:spPr>
        <p:txBody>
          <a:bodyPr anchorCtr="0" anchor="t" bIns="34275" lIns="0" spcFirstLastPara="1" rIns="0" wrap="square" tIns="34275">
            <a:normAutofit/>
          </a:bodyPr>
          <a:lstStyle/>
          <a:p>
            <a:pPr indent="-330200" lvl="0" marL="457200" rtl="0" algn="l">
              <a:spcBef>
                <a:spcPts val="900"/>
              </a:spcBef>
              <a:spcAft>
                <a:spcPts val="0"/>
              </a:spcAft>
              <a:buSzPts val="1600"/>
              <a:buChar char="●"/>
            </a:pPr>
            <a:r>
              <a:rPr lang="pt-BR" sz="2000"/>
              <a:t>Formas mais usadas: </a:t>
            </a:r>
            <a:endParaRPr sz="2000"/>
          </a:p>
          <a:p>
            <a:pPr indent="-330200" lvl="1" marL="914400" rtl="0" algn="l">
              <a:spcBef>
                <a:spcPts val="0"/>
              </a:spcBef>
              <a:spcAft>
                <a:spcPts val="0"/>
              </a:spcAft>
              <a:buSzPts val="1600"/>
              <a:buChar char="○"/>
            </a:pPr>
            <a:r>
              <a:rPr lang="pt-BR" sz="1600"/>
              <a:t>re-escalar entre 0 e 1</a:t>
            </a:r>
            <a:endParaRPr sz="1600"/>
          </a:p>
          <a:p>
            <a:pPr indent="-330200" lvl="1" marL="914400" rtl="0" algn="l">
              <a:spcBef>
                <a:spcPts val="0"/>
              </a:spcBef>
              <a:spcAft>
                <a:spcPts val="0"/>
              </a:spcAft>
              <a:buSzPts val="1600"/>
              <a:buChar char="○"/>
            </a:pPr>
            <a:r>
              <a:rPr lang="pt-BR" sz="1600"/>
              <a:t>re-escalar entre -1 e 1</a:t>
            </a:r>
            <a:endParaRPr sz="1600"/>
          </a:p>
          <a:p>
            <a:pPr indent="-330200" lvl="1" marL="914400" rtl="0" algn="l">
              <a:spcBef>
                <a:spcPts val="0"/>
              </a:spcBef>
              <a:spcAft>
                <a:spcPts val="0"/>
              </a:spcAft>
              <a:buSzPts val="1600"/>
              <a:buChar char="○"/>
            </a:pPr>
            <a:r>
              <a:rPr lang="pt-BR" sz="1600"/>
              <a:t>Intuitivamente…</a:t>
            </a:r>
            <a:endParaRPr sz="1600"/>
          </a:p>
          <a:p>
            <a:pPr indent="-330200" lvl="2" marL="1371600" rtl="0" algn="l">
              <a:spcBef>
                <a:spcPts val="0"/>
              </a:spcBef>
              <a:spcAft>
                <a:spcPts val="0"/>
              </a:spcAft>
              <a:buSzPts val="1600"/>
              <a:buChar char="■"/>
            </a:pPr>
            <a:r>
              <a:rPr lang="pt-BR" sz="1600"/>
              <a:t>Se a sua função de ativação da camada de entrada tem uma saída entre 0-1, melhor re-escalar entre 0-1</a:t>
            </a:r>
            <a:endParaRPr sz="1600"/>
          </a:p>
          <a:p>
            <a:pPr indent="-330200" lvl="2" marL="1371600" rtl="0" algn="l">
              <a:spcBef>
                <a:spcPts val="0"/>
              </a:spcBef>
              <a:spcAft>
                <a:spcPts val="0"/>
              </a:spcAft>
              <a:buSzPts val="1600"/>
              <a:buChar char="■"/>
            </a:pPr>
            <a:r>
              <a:rPr lang="pt-BR" sz="1600"/>
              <a:t>Um range muito largo de valores (fora de 0-1) implica em maior esforço para ajustar os pesos da primeira camada</a:t>
            </a:r>
            <a:endParaRPr sz="1600"/>
          </a:p>
          <a:p>
            <a:pPr indent="-330200" lvl="2" marL="1371600" rtl="0" algn="l">
              <a:spcBef>
                <a:spcPts val="0"/>
              </a:spcBef>
              <a:spcAft>
                <a:spcPts val="0"/>
              </a:spcAft>
              <a:buSzPts val="1600"/>
              <a:buChar char="■"/>
            </a:pPr>
            <a:r>
              <a:rPr lang="pt-BR" sz="1600"/>
              <a:t>Espalhamento muito fragmentado com features em diferentes ranges implica em maior esforço para ajustar os pesos da primeira camada</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5"/>
          <p:cNvSpPr txBox="1"/>
          <p:nvPr>
            <p:ph idx="1" type="body"/>
          </p:nvPr>
        </p:nvSpPr>
        <p:spPr>
          <a:xfrm>
            <a:off x="192000" y="1131600"/>
            <a:ext cx="8952000" cy="3950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300"/>
          </a:p>
          <a:p>
            <a:pPr indent="-374650" lvl="0" marL="457200" rtl="0" algn="l">
              <a:spcBef>
                <a:spcPts val="1200"/>
              </a:spcBef>
              <a:spcAft>
                <a:spcPts val="0"/>
              </a:spcAft>
              <a:buSzPts val="2300"/>
              <a:buChar char="●"/>
            </a:pPr>
            <a:r>
              <a:rPr lang="pt-BR" sz="2300"/>
              <a:t>Formas mais comuns de normalização:</a:t>
            </a:r>
            <a:endParaRPr sz="2300"/>
          </a:p>
          <a:p>
            <a:pPr indent="-374650" lvl="1" marL="914400" rtl="0" algn="l">
              <a:spcBef>
                <a:spcPts val="0"/>
              </a:spcBef>
              <a:spcAft>
                <a:spcPts val="0"/>
              </a:spcAft>
              <a:buSzPts val="2300"/>
              <a:buChar char="○"/>
            </a:pPr>
            <a:r>
              <a:rPr lang="pt-BR" sz="2300"/>
              <a:t>escalonamento decimal</a:t>
            </a:r>
            <a:endParaRPr sz="2300"/>
          </a:p>
          <a:p>
            <a:pPr indent="-374650" lvl="1" marL="914400" rtl="0" algn="l">
              <a:spcBef>
                <a:spcPts val="0"/>
              </a:spcBef>
              <a:spcAft>
                <a:spcPts val="0"/>
              </a:spcAft>
              <a:buSzPts val="2300"/>
              <a:buChar char="○"/>
            </a:pPr>
            <a:r>
              <a:rPr lang="pt-BR" sz="2300"/>
              <a:t>max-min</a:t>
            </a:r>
            <a:endParaRPr sz="2300"/>
          </a:p>
          <a:p>
            <a:pPr indent="-374650" lvl="1" marL="914400" rtl="0" algn="l">
              <a:spcBef>
                <a:spcPts val="0"/>
              </a:spcBef>
              <a:spcAft>
                <a:spcPts val="0"/>
              </a:spcAft>
              <a:buSzPts val="2300"/>
              <a:buChar char="○"/>
            </a:pPr>
            <a:r>
              <a:rPr lang="pt-BR" sz="2300"/>
              <a:t>z-score</a:t>
            </a:r>
            <a:endParaRPr sz="2300"/>
          </a:p>
          <a:p>
            <a:pPr indent="0" lvl="0" marL="0" rtl="0" algn="l">
              <a:spcBef>
                <a:spcPts val="1200"/>
              </a:spcBef>
              <a:spcAft>
                <a:spcPts val="1200"/>
              </a:spcAft>
              <a:buNone/>
            </a:pPr>
            <a:r>
              <a:t/>
            </a:r>
            <a:endParaRPr sz="2300"/>
          </a:p>
        </p:txBody>
      </p:sp>
      <p:sp>
        <p:nvSpPr>
          <p:cNvPr id="189" name="Google Shape;189;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Pré-processamento - Transformação dos Dados</a:t>
            </a:r>
            <a:endParaRPr/>
          </a:p>
          <a:p>
            <a:pPr indent="0" lvl="0" marL="0" rtl="0" algn="l">
              <a:spcBef>
                <a:spcPts val="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6"/>
          <p:cNvSpPr txBox="1"/>
          <p:nvPr>
            <p:ph idx="1" type="body"/>
          </p:nvPr>
        </p:nvSpPr>
        <p:spPr>
          <a:xfrm>
            <a:off x="192000" y="1131600"/>
            <a:ext cx="8952000" cy="3950400"/>
          </a:xfrm>
          <a:prstGeom prst="rect">
            <a:avLst/>
          </a:prstGeom>
        </p:spPr>
        <p:txBody>
          <a:bodyPr anchorCtr="0" anchor="t" bIns="91425" lIns="91425" spcFirstLastPara="1" rIns="91425" wrap="square" tIns="91425">
            <a:normAutofit/>
          </a:bodyPr>
          <a:lstStyle/>
          <a:p>
            <a:pPr indent="-374650" lvl="0" marL="457200" rtl="0" algn="l">
              <a:spcBef>
                <a:spcPts val="0"/>
              </a:spcBef>
              <a:spcAft>
                <a:spcPts val="0"/>
              </a:spcAft>
              <a:buSzPts val="2300"/>
              <a:buChar char="●"/>
            </a:pPr>
            <a:r>
              <a:rPr lang="pt-BR" sz="2300"/>
              <a:t>Transformação dos dados: Escalonamento decimal</a:t>
            </a:r>
            <a:endParaRPr sz="2300"/>
          </a:p>
          <a:p>
            <a:pPr indent="0" lvl="0" marL="914400" rtl="0" algn="l">
              <a:spcBef>
                <a:spcPts val="1200"/>
              </a:spcBef>
              <a:spcAft>
                <a:spcPts val="1200"/>
              </a:spcAft>
              <a:buNone/>
            </a:pPr>
            <a:r>
              <a:t/>
            </a:r>
            <a:endParaRPr sz="2300"/>
          </a:p>
        </p:txBody>
      </p:sp>
      <p:sp>
        <p:nvSpPr>
          <p:cNvPr id="195" name="Google Shape;195;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Pré-processamento - Transformação dos Dados</a:t>
            </a:r>
            <a:endParaRPr/>
          </a:p>
          <a:p>
            <a:pPr indent="0" lvl="0" marL="0" rtl="0" algn="l">
              <a:spcBef>
                <a:spcPts val="0"/>
              </a:spcBef>
              <a:spcAft>
                <a:spcPts val="0"/>
              </a:spcAft>
              <a:buNone/>
            </a:pPr>
            <a:r>
              <a:t/>
            </a:r>
            <a:endParaRPr/>
          </a:p>
        </p:txBody>
      </p:sp>
      <p:pic>
        <p:nvPicPr>
          <p:cNvPr id="196" name="Google Shape;196;p36"/>
          <p:cNvPicPr preferRelativeResize="0"/>
          <p:nvPr/>
        </p:nvPicPr>
        <p:blipFill>
          <a:blip r:embed="rId3">
            <a:alphaModFix/>
          </a:blip>
          <a:stretch>
            <a:fillRect/>
          </a:stretch>
        </p:blipFill>
        <p:spPr>
          <a:xfrm>
            <a:off x="499000" y="1872200"/>
            <a:ext cx="7263926" cy="304867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7"/>
          <p:cNvSpPr txBox="1"/>
          <p:nvPr>
            <p:ph idx="1" type="body"/>
          </p:nvPr>
        </p:nvSpPr>
        <p:spPr>
          <a:xfrm>
            <a:off x="192000" y="1131600"/>
            <a:ext cx="8952000" cy="3950400"/>
          </a:xfrm>
          <a:prstGeom prst="rect">
            <a:avLst/>
          </a:prstGeom>
        </p:spPr>
        <p:txBody>
          <a:bodyPr anchorCtr="0" anchor="t" bIns="91425" lIns="91425" spcFirstLastPara="1" rIns="91425" wrap="square" tIns="91425">
            <a:normAutofit/>
          </a:bodyPr>
          <a:lstStyle/>
          <a:p>
            <a:pPr indent="-374650" lvl="0" marL="457200" rtl="0" algn="l">
              <a:spcBef>
                <a:spcPts val="0"/>
              </a:spcBef>
              <a:spcAft>
                <a:spcPts val="0"/>
              </a:spcAft>
              <a:buSzPts val="2300"/>
              <a:buChar char="●"/>
            </a:pPr>
            <a:r>
              <a:rPr lang="pt-BR" sz="2300"/>
              <a:t>Transformação dos dados: Escalonamento decimal</a:t>
            </a:r>
            <a:endParaRPr sz="2300"/>
          </a:p>
          <a:p>
            <a:pPr indent="0" lvl="0" marL="914400" rtl="0" algn="l">
              <a:spcBef>
                <a:spcPts val="1200"/>
              </a:spcBef>
              <a:spcAft>
                <a:spcPts val="1200"/>
              </a:spcAft>
              <a:buNone/>
            </a:pPr>
            <a:r>
              <a:t/>
            </a:r>
            <a:endParaRPr sz="2300"/>
          </a:p>
        </p:txBody>
      </p:sp>
      <p:sp>
        <p:nvSpPr>
          <p:cNvPr id="202" name="Google Shape;202;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Pré-processamento - Transformação dos Dados</a:t>
            </a:r>
            <a:endParaRPr/>
          </a:p>
          <a:p>
            <a:pPr indent="0" lvl="0" marL="0" rtl="0" algn="l">
              <a:spcBef>
                <a:spcPts val="0"/>
              </a:spcBef>
              <a:spcAft>
                <a:spcPts val="0"/>
              </a:spcAft>
              <a:buNone/>
            </a:pPr>
            <a:r>
              <a:t/>
            </a:r>
            <a:endParaRPr/>
          </a:p>
        </p:txBody>
      </p:sp>
      <p:pic>
        <p:nvPicPr>
          <p:cNvPr id="203" name="Google Shape;203;p37"/>
          <p:cNvPicPr preferRelativeResize="0"/>
          <p:nvPr/>
        </p:nvPicPr>
        <p:blipFill>
          <a:blip r:embed="rId3">
            <a:alphaModFix/>
          </a:blip>
          <a:stretch>
            <a:fillRect/>
          </a:stretch>
        </p:blipFill>
        <p:spPr>
          <a:xfrm>
            <a:off x="0" y="1842698"/>
            <a:ext cx="9144000" cy="3300803"/>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8"/>
          <p:cNvSpPr txBox="1"/>
          <p:nvPr>
            <p:ph idx="1" type="body"/>
          </p:nvPr>
        </p:nvSpPr>
        <p:spPr>
          <a:xfrm>
            <a:off x="192000" y="1131600"/>
            <a:ext cx="8952000" cy="3950400"/>
          </a:xfrm>
          <a:prstGeom prst="rect">
            <a:avLst/>
          </a:prstGeom>
        </p:spPr>
        <p:txBody>
          <a:bodyPr anchorCtr="0" anchor="t" bIns="91425" lIns="91425" spcFirstLastPara="1" rIns="91425" wrap="square" tIns="91425">
            <a:normAutofit/>
          </a:bodyPr>
          <a:lstStyle/>
          <a:p>
            <a:pPr indent="-374650" lvl="0" marL="457200" rtl="0" algn="l">
              <a:spcBef>
                <a:spcPts val="0"/>
              </a:spcBef>
              <a:spcAft>
                <a:spcPts val="0"/>
              </a:spcAft>
              <a:buSzPts val="2300"/>
              <a:buChar char="●"/>
            </a:pPr>
            <a:r>
              <a:rPr lang="pt-BR" sz="2300"/>
              <a:t>Transformação dos dados: Normalização Max-min</a:t>
            </a:r>
            <a:endParaRPr sz="2300"/>
          </a:p>
          <a:p>
            <a:pPr indent="-374650" lvl="1" marL="914400" rtl="0" algn="l">
              <a:spcBef>
                <a:spcPts val="0"/>
              </a:spcBef>
              <a:spcAft>
                <a:spcPts val="0"/>
              </a:spcAft>
              <a:buSzPts val="2300"/>
              <a:buChar char="○"/>
            </a:pPr>
            <a:r>
              <a:rPr lang="pt-BR" sz="2300"/>
              <a:t>Mantém os valores dentro do intervalo [novo_min, novo_max]</a:t>
            </a:r>
            <a:endParaRPr sz="2300"/>
          </a:p>
        </p:txBody>
      </p:sp>
      <p:sp>
        <p:nvSpPr>
          <p:cNvPr id="209" name="Google Shape;209;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Pré-processamento - Transformação dos Dados</a:t>
            </a:r>
            <a:endParaRPr/>
          </a:p>
          <a:p>
            <a:pPr indent="0" lvl="0" marL="0" rtl="0" algn="l">
              <a:spcBef>
                <a:spcPts val="0"/>
              </a:spcBef>
              <a:spcAft>
                <a:spcPts val="0"/>
              </a:spcAft>
              <a:buNone/>
            </a:pPr>
            <a:r>
              <a:t/>
            </a:r>
            <a:endParaRPr/>
          </a:p>
        </p:txBody>
      </p:sp>
      <p:pic>
        <p:nvPicPr>
          <p:cNvPr id="210" name="Google Shape;210;p38"/>
          <p:cNvPicPr preferRelativeResize="0"/>
          <p:nvPr/>
        </p:nvPicPr>
        <p:blipFill>
          <a:blip r:embed="rId3">
            <a:alphaModFix/>
          </a:blip>
          <a:stretch>
            <a:fillRect/>
          </a:stretch>
        </p:blipFill>
        <p:spPr>
          <a:xfrm>
            <a:off x="0" y="3034286"/>
            <a:ext cx="9144000" cy="1357028"/>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9"/>
          <p:cNvSpPr txBox="1"/>
          <p:nvPr>
            <p:ph idx="1" type="body"/>
          </p:nvPr>
        </p:nvSpPr>
        <p:spPr>
          <a:xfrm>
            <a:off x="192000" y="1131600"/>
            <a:ext cx="8952000" cy="3950400"/>
          </a:xfrm>
          <a:prstGeom prst="rect">
            <a:avLst/>
          </a:prstGeom>
        </p:spPr>
        <p:txBody>
          <a:bodyPr anchorCtr="0" anchor="t" bIns="91425" lIns="91425" spcFirstLastPara="1" rIns="91425" wrap="square" tIns="91425">
            <a:normAutofit/>
          </a:bodyPr>
          <a:lstStyle/>
          <a:p>
            <a:pPr indent="-374650" lvl="0" marL="457200" rtl="0" algn="l">
              <a:spcBef>
                <a:spcPts val="0"/>
              </a:spcBef>
              <a:spcAft>
                <a:spcPts val="0"/>
              </a:spcAft>
              <a:buSzPts val="2300"/>
              <a:buChar char="●"/>
            </a:pPr>
            <a:r>
              <a:rPr lang="pt-BR" sz="2300"/>
              <a:t>Transformação dos dados: Normalização z-score</a:t>
            </a:r>
            <a:endParaRPr sz="2300"/>
          </a:p>
          <a:p>
            <a:pPr indent="-374650" lvl="1" marL="914400" rtl="0" algn="l">
              <a:spcBef>
                <a:spcPts val="0"/>
              </a:spcBef>
              <a:spcAft>
                <a:spcPts val="0"/>
              </a:spcAft>
              <a:buSzPts val="2300"/>
              <a:buChar char="○"/>
            </a:pPr>
            <a:r>
              <a:rPr lang="pt-BR" sz="2300"/>
              <a:t>Mantém os valores centrados na média zero</a:t>
            </a:r>
            <a:endParaRPr sz="2300"/>
          </a:p>
          <a:p>
            <a:pPr indent="-374650" lvl="1" marL="914400" rtl="0" algn="l">
              <a:spcBef>
                <a:spcPts val="0"/>
              </a:spcBef>
              <a:spcAft>
                <a:spcPts val="0"/>
              </a:spcAft>
              <a:buSzPts val="2300"/>
              <a:buChar char="○"/>
            </a:pPr>
            <a:r>
              <a:rPr lang="pt-BR" sz="2300"/>
              <a:t>útil para mitigar outliers</a:t>
            </a:r>
            <a:endParaRPr sz="2300"/>
          </a:p>
          <a:p>
            <a:pPr indent="-374650" lvl="1" marL="914400" rtl="0" algn="l">
              <a:spcBef>
                <a:spcPts val="0"/>
              </a:spcBef>
              <a:spcAft>
                <a:spcPts val="0"/>
              </a:spcAft>
              <a:buSzPts val="2300"/>
              <a:buChar char="○"/>
            </a:pPr>
            <a:r>
              <a:rPr lang="pt-BR" sz="2300"/>
              <a:t>útil quando máximo/mínimo não são conhecidos</a:t>
            </a:r>
            <a:endParaRPr sz="2300"/>
          </a:p>
          <a:p>
            <a:pPr indent="-374650" lvl="1" marL="914400" rtl="0" algn="l">
              <a:spcBef>
                <a:spcPts val="0"/>
              </a:spcBef>
              <a:spcAft>
                <a:spcPts val="0"/>
              </a:spcAft>
              <a:buSzPts val="2300"/>
              <a:buChar char="○"/>
            </a:pPr>
            <a:r>
              <a:rPr lang="pt-BR" sz="2300"/>
              <a:t>mantém a distribuição de valores em função da variância dos dados</a:t>
            </a:r>
            <a:endParaRPr sz="2300"/>
          </a:p>
        </p:txBody>
      </p:sp>
      <p:sp>
        <p:nvSpPr>
          <p:cNvPr id="216" name="Google Shape;216;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Pré-processamento - Transformação dos Dados</a:t>
            </a:r>
            <a:endParaRPr/>
          </a:p>
          <a:p>
            <a:pPr indent="0" lvl="0" marL="0" rtl="0" algn="l">
              <a:spcBef>
                <a:spcPts val="0"/>
              </a:spcBef>
              <a:spcAft>
                <a:spcPts val="0"/>
              </a:spcAft>
              <a:buNone/>
            </a:pPr>
            <a:r>
              <a:t/>
            </a:r>
            <a:endParaRPr/>
          </a:p>
        </p:txBody>
      </p:sp>
      <p:pic>
        <p:nvPicPr>
          <p:cNvPr id="217" name="Google Shape;217;p39"/>
          <p:cNvPicPr preferRelativeResize="0"/>
          <p:nvPr/>
        </p:nvPicPr>
        <p:blipFill>
          <a:blip r:embed="rId3">
            <a:alphaModFix/>
          </a:blip>
          <a:stretch>
            <a:fillRect/>
          </a:stretch>
        </p:blipFill>
        <p:spPr>
          <a:xfrm>
            <a:off x="3033700" y="4109713"/>
            <a:ext cx="3076575" cy="7334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40"/>
          <p:cNvSpPr txBox="1"/>
          <p:nvPr>
            <p:ph idx="1" type="body"/>
          </p:nvPr>
        </p:nvSpPr>
        <p:spPr>
          <a:xfrm>
            <a:off x="192000" y="1131600"/>
            <a:ext cx="8952000" cy="3950400"/>
          </a:xfrm>
          <a:prstGeom prst="rect">
            <a:avLst/>
          </a:prstGeom>
        </p:spPr>
        <p:txBody>
          <a:bodyPr anchorCtr="0" anchor="t" bIns="91425" lIns="91425" spcFirstLastPara="1" rIns="91425" wrap="square" tIns="91425">
            <a:normAutofit/>
          </a:bodyPr>
          <a:lstStyle/>
          <a:p>
            <a:pPr indent="-374650" lvl="0" marL="457200" rtl="0" algn="l">
              <a:spcBef>
                <a:spcPts val="0"/>
              </a:spcBef>
              <a:spcAft>
                <a:spcPts val="0"/>
              </a:spcAft>
              <a:buSzPts val="2300"/>
              <a:buChar char="●"/>
            </a:pPr>
            <a:r>
              <a:rPr lang="pt-BR" sz="2300"/>
              <a:t>Transformação dos dados: Normalização z-score</a:t>
            </a:r>
            <a:endParaRPr sz="2300"/>
          </a:p>
          <a:p>
            <a:pPr indent="-374650" lvl="1" marL="914400" rtl="0" algn="l">
              <a:spcBef>
                <a:spcPts val="0"/>
              </a:spcBef>
              <a:spcAft>
                <a:spcPts val="0"/>
              </a:spcAft>
              <a:buSzPts val="2300"/>
              <a:buChar char="○"/>
            </a:pPr>
            <a:r>
              <a:t/>
            </a:r>
            <a:endParaRPr sz="2300"/>
          </a:p>
        </p:txBody>
      </p:sp>
      <p:sp>
        <p:nvSpPr>
          <p:cNvPr id="223" name="Google Shape;223;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Pré-processamento - Transformação dos Dados</a:t>
            </a:r>
            <a:endParaRPr/>
          </a:p>
          <a:p>
            <a:pPr indent="0" lvl="0" marL="0" rtl="0" algn="l">
              <a:spcBef>
                <a:spcPts val="0"/>
              </a:spcBef>
              <a:spcAft>
                <a:spcPts val="0"/>
              </a:spcAft>
              <a:buNone/>
            </a:pPr>
            <a:r>
              <a:t/>
            </a:r>
            <a:endParaRPr/>
          </a:p>
        </p:txBody>
      </p:sp>
      <p:pic>
        <p:nvPicPr>
          <p:cNvPr id="224" name="Google Shape;224;p40"/>
          <p:cNvPicPr preferRelativeResize="0"/>
          <p:nvPr/>
        </p:nvPicPr>
        <p:blipFill>
          <a:blip r:embed="rId3">
            <a:alphaModFix/>
          </a:blip>
          <a:stretch>
            <a:fillRect/>
          </a:stretch>
        </p:blipFill>
        <p:spPr>
          <a:xfrm>
            <a:off x="1010264" y="1781850"/>
            <a:ext cx="7123473" cy="33616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pt-BR"/>
              <a:t>Pré-processamento - Transformação dos Dados</a:t>
            </a:r>
            <a:endParaRPr/>
          </a:p>
          <a:p>
            <a:pPr indent="0" lvl="0" marL="0" rtl="0" algn="l">
              <a:spcBef>
                <a:spcPts val="0"/>
              </a:spcBef>
              <a:spcAft>
                <a:spcPts val="0"/>
              </a:spcAft>
              <a:buNone/>
            </a:pPr>
            <a:r>
              <a:t/>
            </a:r>
            <a:endParaRPr/>
          </a:p>
        </p:txBody>
      </p:sp>
      <p:sp>
        <p:nvSpPr>
          <p:cNvPr id="230" name="Google Shape;230;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pt-BR"/>
              <a:t>Tipos comuns de features de entrada:</a:t>
            </a:r>
            <a:endParaRPr/>
          </a:p>
          <a:p>
            <a:pPr indent="-317500" lvl="1" marL="914400" rtl="0" algn="l">
              <a:spcBef>
                <a:spcPts val="0"/>
              </a:spcBef>
              <a:spcAft>
                <a:spcPts val="0"/>
              </a:spcAft>
              <a:buSzPts val="1400"/>
              <a:buChar char="○"/>
            </a:pPr>
            <a:r>
              <a:rPr lang="pt-BR"/>
              <a:t>Numéricas.</a:t>
            </a:r>
            <a:endParaRPr/>
          </a:p>
          <a:p>
            <a:pPr indent="-317500" lvl="1" marL="914400" rtl="0" algn="l">
              <a:spcBef>
                <a:spcPts val="0"/>
              </a:spcBef>
              <a:spcAft>
                <a:spcPts val="0"/>
              </a:spcAft>
              <a:buSzPts val="1400"/>
              <a:buChar char="○"/>
            </a:pPr>
            <a:r>
              <a:rPr lang="pt-BR"/>
              <a:t>Binárias.</a:t>
            </a:r>
            <a:endParaRPr/>
          </a:p>
          <a:p>
            <a:pPr indent="-317500" lvl="1" marL="914400" rtl="0" algn="l">
              <a:spcBef>
                <a:spcPts val="0"/>
              </a:spcBef>
              <a:spcAft>
                <a:spcPts val="0"/>
              </a:spcAft>
              <a:buSzPts val="1400"/>
              <a:buChar char="○"/>
            </a:pPr>
            <a:r>
              <a:rPr lang="pt-BR"/>
              <a:t>Evite ao máximo o uso de features categóricas!</a:t>
            </a:r>
            <a:endParaRPr/>
          </a:p>
          <a:p>
            <a:pPr indent="0" lvl="0" marL="0" rtl="0" algn="l">
              <a:spcBef>
                <a:spcPts val="1200"/>
              </a:spcBef>
              <a:spcAft>
                <a:spcPts val="120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42"/>
          <p:cNvSpPr txBox="1"/>
          <p:nvPr>
            <p:ph idx="1" type="body"/>
          </p:nvPr>
        </p:nvSpPr>
        <p:spPr>
          <a:xfrm>
            <a:off x="192000" y="697550"/>
            <a:ext cx="8952000" cy="39504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pt-BR" sz="1300"/>
              <a:t>Onde consigo implementações de pré-processamento?</a:t>
            </a:r>
            <a:endParaRPr sz="1300"/>
          </a:p>
          <a:p>
            <a:pPr indent="-311150" lvl="1" marL="914400" rtl="0" algn="l">
              <a:spcBef>
                <a:spcPts val="0"/>
              </a:spcBef>
              <a:spcAft>
                <a:spcPts val="0"/>
              </a:spcAft>
              <a:buSzPts val="1300"/>
              <a:buChar char="○"/>
            </a:pPr>
            <a:r>
              <a:rPr lang="pt-BR" sz="1300" u="sng">
                <a:solidFill>
                  <a:schemeClr val="hlink"/>
                </a:solidFill>
                <a:hlinkClick r:id="rId3"/>
              </a:rPr>
              <a:t>https://scikit-learn.org/stable/modules/classes.html#module-sklearn.preprocessing</a:t>
            </a:r>
            <a:endParaRPr sz="1300"/>
          </a:p>
          <a:p>
            <a:pPr indent="-311150" lvl="0" marL="457200" rtl="0" algn="l">
              <a:spcBef>
                <a:spcPts val="0"/>
              </a:spcBef>
              <a:spcAft>
                <a:spcPts val="0"/>
              </a:spcAft>
              <a:buSzPts val="1300"/>
              <a:buChar char="●"/>
            </a:pPr>
            <a:r>
              <a:rPr lang="pt-BR" sz="1300"/>
              <a:t>Mais usadas?</a:t>
            </a:r>
            <a:endParaRPr sz="1300"/>
          </a:p>
          <a:p>
            <a:pPr indent="0" lvl="0" marL="0" rtl="0" algn="l">
              <a:spcBef>
                <a:spcPts val="1200"/>
              </a:spcBef>
              <a:spcAft>
                <a:spcPts val="1200"/>
              </a:spcAft>
              <a:buNone/>
            </a:pPr>
            <a:r>
              <a:t/>
            </a:r>
            <a:endParaRPr sz="2300"/>
          </a:p>
        </p:txBody>
      </p:sp>
      <p:sp>
        <p:nvSpPr>
          <p:cNvPr id="236" name="Google Shape;236;p42"/>
          <p:cNvSpPr txBox="1"/>
          <p:nvPr>
            <p:ph type="title"/>
          </p:nvPr>
        </p:nvSpPr>
        <p:spPr>
          <a:xfrm>
            <a:off x="311700" y="1248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Pré-processamento/Normalização dos Dados</a:t>
            </a:r>
            <a:endParaRPr/>
          </a:p>
          <a:p>
            <a:pPr indent="0" lvl="0" marL="0" rtl="0" algn="l">
              <a:spcBef>
                <a:spcPts val="0"/>
              </a:spcBef>
              <a:spcAft>
                <a:spcPts val="0"/>
              </a:spcAft>
              <a:buNone/>
            </a:pPr>
            <a:r>
              <a:t/>
            </a:r>
            <a:endParaRPr/>
          </a:p>
        </p:txBody>
      </p:sp>
      <p:graphicFrame>
        <p:nvGraphicFramePr>
          <p:cNvPr id="237" name="Google Shape;237;p42"/>
          <p:cNvGraphicFramePr/>
          <p:nvPr/>
        </p:nvGraphicFramePr>
        <p:xfrm>
          <a:off x="239575" y="1808925"/>
          <a:ext cx="3000000" cy="3000000"/>
        </p:xfrm>
        <a:graphic>
          <a:graphicData uri="http://schemas.openxmlformats.org/drawingml/2006/table">
            <a:tbl>
              <a:tblPr>
                <a:solidFill>
                  <a:srgbClr val="FFFFFF"/>
                </a:solidFill>
                <a:tableStyleId>{30F24198-1B20-4A89-9A3D-959960E0EF43}</a:tableStyleId>
              </a:tblPr>
              <a:tblGrid>
                <a:gridCol w="3590925"/>
                <a:gridCol w="4962525"/>
              </a:tblGrid>
              <a:tr h="228600">
                <a:tc>
                  <a:txBody>
                    <a:bodyPr/>
                    <a:lstStyle/>
                    <a:p>
                      <a:pPr indent="0" lvl="0" marL="0" rtl="0" algn="l">
                        <a:lnSpc>
                          <a:spcPct val="110000"/>
                        </a:lnSpc>
                        <a:spcBef>
                          <a:spcPts val="0"/>
                        </a:spcBef>
                        <a:spcAft>
                          <a:spcPts val="0"/>
                        </a:spcAft>
                        <a:buNone/>
                      </a:pPr>
                      <a:r>
                        <a:rPr b="1" lang="pt-BR" sz="950">
                          <a:solidFill>
                            <a:srgbClr val="2878A2"/>
                          </a:solidFill>
                          <a:highlight>
                            <a:srgbClr val="FFFFFF"/>
                          </a:highlight>
                          <a:uFill>
                            <a:noFill/>
                          </a:uFill>
                          <a:latin typeface="Courier New"/>
                          <a:ea typeface="Courier New"/>
                          <a:cs typeface="Courier New"/>
                          <a:sym typeface="Courier New"/>
                          <a:hlinkClick r:id="rId4">
                            <a:extLst>
                              <a:ext uri="{A12FA001-AC4F-418D-AE19-62706E023703}">
                                <ahyp:hlinkClr val="tx"/>
                              </a:ext>
                            </a:extLst>
                          </a:hlinkClick>
                        </a:rPr>
                        <a:t>preprocessing.Binarizer</a:t>
                      </a:r>
                      <a:r>
                        <a:rPr lang="pt-BR" sz="1100">
                          <a:solidFill>
                            <a:srgbClr val="212529"/>
                          </a:solidFill>
                          <a:highlight>
                            <a:srgbClr val="FFFFFF"/>
                          </a:highlight>
                          <a:latin typeface="Roboto"/>
                          <a:ea typeface="Roboto"/>
                          <a:cs typeface="Roboto"/>
                          <a:sym typeface="Roboto"/>
                        </a:rPr>
                        <a:t>(*[, threshold, copy])</a:t>
                      </a:r>
                      <a:endParaRPr sz="1100">
                        <a:solidFill>
                          <a:srgbClr val="212529"/>
                        </a:solidFill>
                        <a:highlight>
                          <a:srgbClr val="FFFFFF"/>
                        </a:highlight>
                        <a:latin typeface="Roboto"/>
                        <a:ea typeface="Roboto"/>
                        <a:cs typeface="Roboto"/>
                        <a:sym typeface="Roboto"/>
                      </a:endParaRPr>
                    </a:p>
                  </a:txBody>
                  <a:tcPr marT="91425" marB="91425" marR="91425" marL="91425">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rtl="0" algn="l">
                        <a:lnSpc>
                          <a:spcPct val="110000"/>
                        </a:lnSpc>
                        <a:spcBef>
                          <a:spcPts val="0"/>
                        </a:spcBef>
                        <a:spcAft>
                          <a:spcPts val="0"/>
                        </a:spcAft>
                        <a:buNone/>
                      </a:pPr>
                      <a:r>
                        <a:rPr lang="pt-BR" sz="1100">
                          <a:solidFill>
                            <a:srgbClr val="212529"/>
                          </a:solidFill>
                          <a:highlight>
                            <a:srgbClr val="FFFFFF"/>
                          </a:highlight>
                          <a:latin typeface="Roboto"/>
                          <a:ea typeface="Roboto"/>
                          <a:cs typeface="Roboto"/>
                          <a:sym typeface="Roboto"/>
                        </a:rPr>
                        <a:t>Binarize data (set feature values to 0 or 1) according to a threshold.</a:t>
                      </a:r>
                      <a:endParaRPr sz="1100">
                        <a:solidFill>
                          <a:srgbClr val="212529"/>
                        </a:solidFill>
                        <a:highlight>
                          <a:srgbClr val="FFFFFF"/>
                        </a:highlight>
                        <a:latin typeface="Roboto"/>
                        <a:ea typeface="Roboto"/>
                        <a:cs typeface="Roboto"/>
                        <a:sym typeface="Roboto"/>
                      </a:endParaRPr>
                    </a:p>
                  </a:txBody>
                  <a:tcPr marT="91425" marB="91425" marR="91425" marL="91425">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r h="228600">
                <a:tc>
                  <a:txBody>
                    <a:bodyPr/>
                    <a:lstStyle/>
                    <a:p>
                      <a:pPr indent="0" lvl="0" marL="0" rtl="0" algn="l">
                        <a:lnSpc>
                          <a:spcPct val="110000"/>
                        </a:lnSpc>
                        <a:spcBef>
                          <a:spcPts val="0"/>
                        </a:spcBef>
                        <a:spcAft>
                          <a:spcPts val="0"/>
                        </a:spcAft>
                        <a:buNone/>
                      </a:pPr>
                      <a:r>
                        <a:rPr b="1" lang="pt-BR" sz="950">
                          <a:solidFill>
                            <a:srgbClr val="2878A2"/>
                          </a:solidFill>
                          <a:highlight>
                            <a:srgbClr val="FFFFFF"/>
                          </a:highlight>
                          <a:uFill>
                            <a:noFill/>
                          </a:uFill>
                          <a:latin typeface="Courier New"/>
                          <a:ea typeface="Courier New"/>
                          <a:cs typeface="Courier New"/>
                          <a:sym typeface="Courier New"/>
                          <a:hlinkClick r:id="rId5">
                            <a:extLst>
                              <a:ext uri="{A12FA001-AC4F-418D-AE19-62706E023703}">
                                <ahyp:hlinkClr val="tx"/>
                              </a:ext>
                            </a:extLst>
                          </a:hlinkClick>
                        </a:rPr>
                        <a:t>preprocessing.MaxAbsScaler</a:t>
                      </a:r>
                      <a:r>
                        <a:rPr lang="pt-BR" sz="1100">
                          <a:solidFill>
                            <a:srgbClr val="212529"/>
                          </a:solidFill>
                          <a:highlight>
                            <a:srgbClr val="FFFFFF"/>
                          </a:highlight>
                          <a:latin typeface="Roboto"/>
                          <a:ea typeface="Roboto"/>
                          <a:cs typeface="Roboto"/>
                          <a:sym typeface="Roboto"/>
                        </a:rPr>
                        <a:t>(*[, copy])</a:t>
                      </a:r>
                      <a:endParaRPr sz="1100">
                        <a:solidFill>
                          <a:srgbClr val="212529"/>
                        </a:solidFill>
                        <a:highlight>
                          <a:srgbClr val="FFFFFF"/>
                        </a:highlight>
                        <a:latin typeface="Roboto"/>
                        <a:ea typeface="Roboto"/>
                        <a:cs typeface="Roboto"/>
                        <a:sym typeface="Roboto"/>
                      </a:endParaRPr>
                    </a:p>
                  </a:txBody>
                  <a:tcPr marT="91425" marB="91425" marR="91425" marL="91425">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rtl="0" algn="l">
                        <a:lnSpc>
                          <a:spcPct val="110000"/>
                        </a:lnSpc>
                        <a:spcBef>
                          <a:spcPts val="0"/>
                        </a:spcBef>
                        <a:spcAft>
                          <a:spcPts val="0"/>
                        </a:spcAft>
                        <a:buNone/>
                      </a:pPr>
                      <a:r>
                        <a:rPr lang="pt-BR" sz="1100">
                          <a:solidFill>
                            <a:srgbClr val="212529"/>
                          </a:solidFill>
                          <a:highlight>
                            <a:srgbClr val="FFFFFF"/>
                          </a:highlight>
                          <a:latin typeface="Roboto"/>
                          <a:ea typeface="Roboto"/>
                          <a:cs typeface="Roboto"/>
                          <a:sym typeface="Roboto"/>
                        </a:rPr>
                        <a:t>Scale each feature by its maximum absolute value.</a:t>
                      </a:r>
                      <a:endParaRPr sz="1100">
                        <a:solidFill>
                          <a:srgbClr val="212529"/>
                        </a:solidFill>
                        <a:highlight>
                          <a:srgbClr val="FFFFFF"/>
                        </a:highlight>
                        <a:latin typeface="Roboto"/>
                        <a:ea typeface="Roboto"/>
                        <a:cs typeface="Roboto"/>
                        <a:sym typeface="Roboto"/>
                      </a:endParaRPr>
                    </a:p>
                  </a:txBody>
                  <a:tcPr marT="91425" marB="91425" marR="91425" marL="91425">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r h="228600">
                <a:tc>
                  <a:txBody>
                    <a:bodyPr/>
                    <a:lstStyle/>
                    <a:p>
                      <a:pPr indent="0" lvl="0" marL="0" rtl="0" algn="l">
                        <a:lnSpc>
                          <a:spcPct val="110000"/>
                        </a:lnSpc>
                        <a:spcBef>
                          <a:spcPts val="0"/>
                        </a:spcBef>
                        <a:spcAft>
                          <a:spcPts val="0"/>
                        </a:spcAft>
                        <a:buNone/>
                      </a:pPr>
                      <a:r>
                        <a:rPr b="1" lang="pt-BR" sz="950">
                          <a:solidFill>
                            <a:srgbClr val="2878A2"/>
                          </a:solidFill>
                          <a:highlight>
                            <a:srgbClr val="FFFFFF"/>
                          </a:highlight>
                          <a:uFill>
                            <a:noFill/>
                          </a:uFill>
                          <a:latin typeface="Courier New"/>
                          <a:ea typeface="Courier New"/>
                          <a:cs typeface="Courier New"/>
                          <a:sym typeface="Courier New"/>
                          <a:hlinkClick r:id="rId6">
                            <a:extLst>
                              <a:ext uri="{A12FA001-AC4F-418D-AE19-62706E023703}">
                                <ahyp:hlinkClr val="tx"/>
                              </a:ext>
                            </a:extLst>
                          </a:hlinkClick>
                        </a:rPr>
                        <a:t>preprocessing.MinMaxScaler</a:t>
                      </a:r>
                      <a:r>
                        <a:rPr lang="pt-BR" sz="1100">
                          <a:solidFill>
                            <a:srgbClr val="212529"/>
                          </a:solidFill>
                          <a:highlight>
                            <a:srgbClr val="FFFFFF"/>
                          </a:highlight>
                          <a:latin typeface="Roboto"/>
                          <a:ea typeface="Roboto"/>
                          <a:cs typeface="Roboto"/>
                          <a:sym typeface="Roboto"/>
                        </a:rPr>
                        <a:t>([feature_range, …])</a:t>
                      </a:r>
                      <a:endParaRPr sz="1100">
                        <a:solidFill>
                          <a:srgbClr val="212529"/>
                        </a:solidFill>
                        <a:highlight>
                          <a:srgbClr val="FFFFFF"/>
                        </a:highlight>
                        <a:latin typeface="Roboto"/>
                        <a:ea typeface="Roboto"/>
                        <a:cs typeface="Roboto"/>
                        <a:sym typeface="Roboto"/>
                      </a:endParaRPr>
                    </a:p>
                  </a:txBody>
                  <a:tcPr marT="91425" marB="91425" marR="91425" marL="91425">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rtl="0" algn="l">
                        <a:lnSpc>
                          <a:spcPct val="110000"/>
                        </a:lnSpc>
                        <a:spcBef>
                          <a:spcPts val="0"/>
                        </a:spcBef>
                        <a:spcAft>
                          <a:spcPts val="0"/>
                        </a:spcAft>
                        <a:buNone/>
                      </a:pPr>
                      <a:r>
                        <a:rPr lang="pt-BR" sz="1100">
                          <a:solidFill>
                            <a:srgbClr val="212529"/>
                          </a:solidFill>
                          <a:highlight>
                            <a:srgbClr val="FFFFFF"/>
                          </a:highlight>
                          <a:latin typeface="Roboto"/>
                          <a:ea typeface="Roboto"/>
                          <a:cs typeface="Roboto"/>
                          <a:sym typeface="Roboto"/>
                        </a:rPr>
                        <a:t>Transform features by scaling each feature to a given range.</a:t>
                      </a:r>
                      <a:endParaRPr sz="1100">
                        <a:solidFill>
                          <a:srgbClr val="212529"/>
                        </a:solidFill>
                        <a:highlight>
                          <a:srgbClr val="FFFFFF"/>
                        </a:highlight>
                        <a:latin typeface="Roboto"/>
                        <a:ea typeface="Roboto"/>
                        <a:cs typeface="Roboto"/>
                        <a:sym typeface="Roboto"/>
                      </a:endParaRPr>
                    </a:p>
                  </a:txBody>
                  <a:tcPr marT="91425" marB="91425" marR="91425" marL="91425">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r h="228600">
                <a:tc>
                  <a:txBody>
                    <a:bodyPr/>
                    <a:lstStyle/>
                    <a:p>
                      <a:pPr indent="0" lvl="0" marL="0" rtl="0" algn="l">
                        <a:lnSpc>
                          <a:spcPct val="110000"/>
                        </a:lnSpc>
                        <a:spcBef>
                          <a:spcPts val="0"/>
                        </a:spcBef>
                        <a:spcAft>
                          <a:spcPts val="0"/>
                        </a:spcAft>
                        <a:buNone/>
                      </a:pPr>
                      <a:r>
                        <a:rPr b="1" lang="pt-BR" sz="950">
                          <a:solidFill>
                            <a:srgbClr val="2878A2"/>
                          </a:solidFill>
                          <a:highlight>
                            <a:srgbClr val="FFFFFF"/>
                          </a:highlight>
                          <a:uFill>
                            <a:noFill/>
                          </a:uFill>
                          <a:latin typeface="Courier New"/>
                          <a:ea typeface="Courier New"/>
                          <a:cs typeface="Courier New"/>
                          <a:sym typeface="Courier New"/>
                          <a:hlinkClick r:id="rId7">
                            <a:extLst>
                              <a:ext uri="{A12FA001-AC4F-418D-AE19-62706E023703}">
                                <ahyp:hlinkClr val="tx"/>
                              </a:ext>
                            </a:extLst>
                          </a:hlinkClick>
                        </a:rPr>
                        <a:t>preprocessing.Normalizer</a:t>
                      </a:r>
                      <a:r>
                        <a:rPr lang="pt-BR" sz="1100">
                          <a:solidFill>
                            <a:srgbClr val="212529"/>
                          </a:solidFill>
                          <a:highlight>
                            <a:srgbClr val="FFFFFF"/>
                          </a:highlight>
                          <a:latin typeface="Roboto"/>
                          <a:ea typeface="Roboto"/>
                          <a:cs typeface="Roboto"/>
                          <a:sym typeface="Roboto"/>
                        </a:rPr>
                        <a:t>([norm, copy])</a:t>
                      </a:r>
                      <a:endParaRPr sz="1100">
                        <a:solidFill>
                          <a:srgbClr val="212529"/>
                        </a:solidFill>
                        <a:highlight>
                          <a:srgbClr val="FFFFFF"/>
                        </a:highlight>
                        <a:latin typeface="Roboto"/>
                        <a:ea typeface="Roboto"/>
                        <a:cs typeface="Roboto"/>
                        <a:sym typeface="Roboto"/>
                      </a:endParaRPr>
                    </a:p>
                  </a:txBody>
                  <a:tcPr marT="91425" marB="91425" marR="91425" marL="91425">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rtl="0" algn="l">
                        <a:lnSpc>
                          <a:spcPct val="110000"/>
                        </a:lnSpc>
                        <a:spcBef>
                          <a:spcPts val="0"/>
                        </a:spcBef>
                        <a:spcAft>
                          <a:spcPts val="0"/>
                        </a:spcAft>
                        <a:buNone/>
                      </a:pPr>
                      <a:r>
                        <a:rPr lang="pt-BR" sz="1100">
                          <a:solidFill>
                            <a:srgbClr val="212529"/>
                          </a:solidFill>
                          <a:highlight>
                            <a:srgbClr val="FFFFFF"/>
                          </a:highlight>
                          <a:latin typeface="Roboto"/>
                          <a:ea typeface="Roboto"/>
                          <a:cs typeface="Roboto"/>
                          <a:sym typeface="Roboto"/>
                        </a:rPr>
                        <a:t>Normalize samples individually to unit norm.</a:t>
                      </a:r>
                      <a:endParaRPr sz="1100">
                        <a:solidFill>
                          <a:srgbClr val="212529"/>
                        </a:solidFill>
                        <a:highlight>
                          <a:srgbClr val="FFFFFF"/>
                        </a:highlight>
                        <a:latin typeface="Roboto"/>
                        <a:ea typeface="Roboto"/>
                        <a:cs typeface="Roboto"/>
                        <a:sym typeface="Roboto"/>
                      </a:endParaRPr>
                    </a:p>
                  </a:txBody>
                  <a:tcPr marT="91425" marB="91425" marR="91425" marL="91425">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r h="228600">
                <a:tc>
                  <a:txBody>
                    <a:bodyPr/>
                    <a:lstStyle/>
                    <a:p>
                      <a:pPr indent="0" lvl="0" marL="0" rtl="0" algn="l">
                        <a:lnSpc>
                          <a:spcPct val="110000"/>
                        </a:lnSpc>
                        <a:spcBef>
                          <a:spcPts val="0"/>
                        </a:spcBef>
                        <a:spcAft>
                          <a:spcPts val="0"/>
                        </a:spcAft>
                        <a:buNone/>
                      </a:pPr>
                      <a:r>
                        <a:rPr b="1" lang="pt-BR" sz="950">
                          <a:solidFill>
                            <a:srgbClr val="2878A2"/>
                          </a:solidFill>
                          <a:highlight>
                            <a:srgbClr val="FFFFFF"/>
                          </a:highlight>
                          <a:uFill>
                            <a:noFill/>
                          </a:uFill>
                          <a:latin typeface="Courier New"/>
                          <a:ea typeface="Courier New"/>
                          <a:cs typeface="Courier New"/>
                          <a:sym typeface="Courier New"/>
                          <a:hlinkClick r:id="rId8">
                            <a:extLst>
                              <a:ext uri="{A12FA001-AC4F-418D-AE19-62706E023703}">
                                <ahyp:hlinkClr val="tx"/>
                              </a:ext>
                            </a:extLst>
                          </a:hlinkClick>
                        </a:rPr>
                        <a:t>preprocessing.OneHotEncoder</a:t>
                      </a:r>
                      <a:r>
                        <a:rPr lang="pt-BR" sz="1100">
                          <a:solidFill>
                            <a:srgbClr val="212529"/>
                          </a:solidFill>
                          <a:highlight>
                            <a:srgbClr val="FFFFFF"/>
                          </a:highlight>
                          <a:latin typeface="Roboto"/>
                          <a:ea typeface="Roboto"/>
                          <a:cs typeface="Roboto"/>
                          <a:sym typeface="Roboto"/>
                        </a:rPr>
                        <a:t>(*[, categories, …])</a:t>
                      </a:r>
                      <a:endParaRPr sz="1100">
                        <a:solidFill>
                          <a:srgbClr val="212529"/>
                        </a:solidFill>
                        <a:highlight>
                          <a:srgbClr val="FFFFFF"/>
                        </a:highlight>
                        <a:latin typeface="Roboto"/>
                        <a:ea typeface="Roboto"/>
                        <a:cs typeface="Roboto"/>
                        <a:sym typeface="Roboto"/>
                      </a:endParaRPr>
                    </a:p>
                  </a:txBody>
                  <a:tcPr marT="91425" marB="91425" marR="91425" marL="91425">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rtl="0" algn="l">
                        <a:lnSpc>
                          <a:spcPct val="110000"/>
                        </a:lnSpc>
                        <a:spcBef>
                          <a:spcPts val="0"/>
                        </a:spcBef>
                        <a:spcAft>
                          <a:spcPts val="0"/>
                        </a:spcAft>
                        <a:buNone/>
                      </a:pPr>
                      <a:r>
                        <a:rPr lang="pt-BR" sz="1100">
                          <a:solidFill>
                            <a:srgbClr val="212529"/>
                          </a:solidFill>
                          <a:highlight>
                            <a:srgbClr val="FFFFFF"/>
                          </a:highlight>
                          <a:latin typeface="Roboto"/>
                          <a:ea typeface="Roboto"/>
                          <a:cs typeface="Roboto"/>
                          <a:sym typeface="Roboto"/>
                        </a:rPr>
                        <a:t>Encode categorical features as a one-hot numeric array.</a:t>
                      </a:r>
                      <a:endParaRPr sz="1100">
                        <a:solidFill>
                          <a:srgbClr val="212529"/>
                        </a:solidFill>
                        <a:highlight>
                          <a:srgbClr val="FFFFFF"/>
                        </a:highlight>
                        <a:latin typeface="Roboto"/>
                        <a:ea typeface="Roboto"/>
                        <a:cs typeface="Roboto"/>
                        <a:sym typeface="Roboto"/>
                      </a:endParaRPr>
                    </a:p>
                  </a:txBody>
                  <a:tcPr marT="91425" marB="91425" marR="91425" marL="91425">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r h="228600">
                <a:tc>
                  <a:txBody>
                    <a:bodyPr/>
                    <a:lstStyle/>
                    <a:p>
                      <a:pPr indent="0" lvl="0" marL="0" rtl="0" algn="l">
                        <a:lnSpc>
                          <a:spcPct val="110000"/>
                        </a:lnSpc>
                        <a:spcBef>
                          <a:spcPts val="0"/>
                        </a:spcBef>
                        <a:spcAft>
                          <a:spcPts val="0"/>
                        </a:spcAft>
                        <a:buNone/>
                      </a:pPr>
                      <a:r>
                        <a:rPr b="1" lang="pt-BR" sz="950">
                          <a:solidFill>
                            <a:srgbClr val="2878A2"/>
                          </a:solidFill>
                          <a:highlight>
                            <a:srgbClr val="FFFFFF"/>
                          </a:highlight>
                          <a:uFill>
                            <a:noFill/>
                          </a:uFill>
                          <a:latin typeface="Courier New"/>
                          <a:ea typeface="Courier New"/>
                          <a:cs typeface="Courier New"/>
                          <a:sym typeface="Courier New"/>
                          <a:hlinkClick r:id="rId9">
                            <a:extLst>
                              <a:ext uri="{A12FA001-AC4F-418D-AE19-62706E023703}">
                                <ahyp:hlinkClr val="tx"/>
                              </a:ext>
                            </a:extLst>
                          </a:hlinkClick>
                        </a:rPr>
                        <a:t>preprocessing.StandardScaler</a:t>
                      </a:r>
                      <a:r>
                        <a:rPr lang="pt-BR" sz="1100">
                          <a:solidFill>
                            <a:srgbClr val="212529"/>
                          </a:solidFill>
                          <a:highlight>
                            <a:srgbClr val="FFFFFF"/>
                          </a:highlight>
                          <a:latin typeface="Roboto"/>
                          <a:ea typeface="Roboto"/>
                          <a:cs typeface="Roboto"/>
                          <a:sym typeface="Roboto"/>
                        </a:rPr>
                        <a:t>(*[, copy, …])</a:t>
                      </a:r>
                      <a:endParaRPr sz="1100">
                        <a:solidFill>
                          <a:srgbClr val="212529"/>
                        </a:solidFill>
                        <a:highlight>
                          <a:srgbClr val="FFFFFF"/>
                        </a:highlight>
                        <a:latin typeface="Roboto"/>
                        <a:ea typeface="Roboto"/>
                        <a:cs typeface="Roboto"/>
                        <a:sym typeface="Roboto"/>
                      </a:endParaRPr>
                    </a:p>
                  </a:txBody>
                  <a:tcPr marT="91425" marB="91425" marR="91425" marL="91425">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rtl="0" algn="l">
                        <a:lnSpc>
                          <a:spcPct val="110000"/>
                        </a:lnSpc>
                        <a:spcBef>
                          <a:spcPts val="0"/>
                        </a:spcBef>
                        <a:spcAft>
                          <a:spcPts val="0"/>
                        </a:spcAft>
                        <a:buNone/>
                      </a:pPr>
                      <a:r>
                        <a:rPr lang="pt-BR" sz="1100">
                          <a:solidFill>
                            <a:srgbClr val="212529"/>
                          </a:solidFill>
                          <a:highlight>
                            <a:srgbClr val="FFFFFF"/>
                          </a:highlight>
                          <a:latin typeface="Roboto"/>
                          <a:ea typeface="Roboto"/>
                          <a:cs typeface="Roboto"/>
                          <a:sym typeface="Roboto"/>
                        </a:rPr>
                        <a:t>Standardize features by removing the mean and scaling to unit variance</a:t>
                      </a:r>
                      <a:endParaRPr sz="1100">
                        <a:solidFill>
                          <a:srgbClr val="212529"/>
                        </a:solidFill>
                        <a:highlight>
                          <a:srgbClr val="FFFFFF"/>
                        </a:highlight>
                        <a:latin typeface="Roboto"/>
                        <a:ea typeface="Roboto"/>
                        <a:cs typeface="Roboto"/>
                        <a:sym typeface="Roboto"/>
                      </a:endParaRPr>
                    </a:p>
                  </a:txBody>
                  <a:tcPr marT="91425" marB="91425" marR="91425" marL="91425">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43"/>
          <p:cNvSpPr txBox="1"/>
          <p:nvPr>
            <p:ph type="title"/>
          </p:nvPr>
        </p:nvSpPr>
        <p:spPr>
          <a:xfrm>
            <a:off x="822960" y="214952"/>
            <a:ext cx="7543800" cy="1088100"/>
          </a:xfrm>
          <a:prstGeom prst="rect">
            <a:avLst/>
          </a:prstGeom>
        </p:spPr>
        <p:txBody>
          <a:bodyPr anchorCtr="0" anchor="b" bIns="34275" lIns="68575" spcFirstLastPara="1" rIns="68575" wrap="square" tIns="34275">
            <a:normAutofit/>
          </a:bodyPr>
          <a:lstStyle/>
          <a:p>
            <a:pPr indent="0" lvl="0" marL="0" rtl="0" algn="l">
              <a:spcBef>
                <a:spcPts val="0"/>
              </a:spcBef>
              <a:spcAft>
                <a:spcPts val="0"/>
              </a:spcAft>
              <a:buNone/>
            </a:pPr>
            <a:r>
              <a:rPr lang="pt-BR"/>
              <a:t>Treinando Redes Profundas</a:t>
            </a:r>
            <a:endParaRPr/>
          </a:p>
        </p:txBody>
      </p:sp>
      <p:sp>
        <p:nvSpPr>
          <p:cNvPr id="243" name="Google Shape;243;p43"/>
          <p:cNvSpPr txBox="1"/>
          <p:nvPr>
            <p:ph idx="1" type="body"/>
          </p:nvPr>
        </p:nvSpPr>
        <p:spPr>
          <a:xfrm>
            <a:off x="822960" y="1384300"/>
            <a:ext cx="7543800" cy="3017400"/>
          </a:xfrm>
          <a:prstGeom prst="rect">
            <a:avLst/>
          </a:prstGeom>
        </p:spPr>
        <p:txBody>
          <a:bodyPr anchorCtr="0" anchor="t" bIns="34275" lIns="0" spcFirstLastPara="1" rIns="0" wrap="square" tIns="34275">
            <a:normAutofit/>
          </a:bodyPr>
          <a:lstStyle/>
          <a:p>
            <a:pPr indent="-317500" lvl="0" marL="457200" rtl="0" algn="l">
              <a:spcBef>
                <a:spcPts val="900"/>
              </a:spcBef>
              <a:spcAft>
                <a:spcPts val="0"/>
              </a:spcAft>
              <a:buSzPts val="1400"/>
              <a:buChar char="●"/>
            </a:pPr>
            <a:r>
              <a:rPr lang="pt-BR"/>
              <a:t>Suponha que temos um problema muito complexo… </a:t>
            </a:r>
            <a:endParaRPr/>
          </a:p>
          <a:p>
            <a:pPr indent="-317500" lvl="1" marL="914400" rtl="0" algn="l">
              <a:spcBef>
                <a:spcPts val="0"/>
              </a:spcBef>
              <a:spcAft>
                <a:spcPts val="0"/>
              </a:spcAft>
              <a:buSzPts val="1400"/>
              <a:buChar char="○"/>
            </a:pPr>
            <a:r>
              <a:rPr lang="pt-BR"/>
              <a:t>Ex.: muitas classes, tradução, detecção de objetos…</a:t>
            </a:r>
            <a:endParaRPr/>
          </a:p>
          <a:p>
            <a:pPr indent="-317500" lvl="0" marL="457200" rtl="0" algn="l">
              <a:spcBef>
                <a:spcPts val="0"/>
              </a:spcBef>
              <a:spcAft>
                <a:spcPts val="0"/>
              </a:spcAft>
              <a:buSzPts val="1400"/>
              <a:buChar char="●"/>
            </a:pPr>
            <a:r>
              <a:rPr lang="pt-BR"/>
              <a:t>Nesse caso, basta tratar com uma arquitetura mais complexa, certo?</a:t>
            </a:r>
            <a:endParaRPr/>
          </a:p>
          <a:p>
            <a:pPr indent="-317500" lvl="1" marL="914400" rtl="0" algn="l">
              <a:spcBef>
                <a:spcPts val="0"/>
              </a:spcBef>
              <a:spcAft>
                <a:spcPts val="0"/>
              </a:spcAft>
              <a:buSzPts val="1400"/>
              <a:buChar char="○"/>
            </a:pPr>
            <a:r>
              <a:rPr lang="pt-BR"/>
              <a:t>Ex.: rede mais profunda com 10 camadas</a:t>
            </a:r>
            <a:endParaRPr/>
          </a:p>
          <a:p>
            <a:pPr indent="0" lvl="0" marL="457200" rtl="0" algn="l">
              <a:spcBef>
                <a:spcPts val="900"/>
              </a:spcBef>
              <a:spcAft>
                <a:spcPts val="200"/>
              </a:spcAft>
              <a:buNone/>
            </a:pPr>
            <a:r>
              <a:t/>
            </a:r>
            <a:endParaRPr/>
          </a:p>
        </p:txBody>
      </p:sp>
      <p:pic>
        <p:nvPicPr>
          <p:cNvPr id="244" name="Google Shape;244;p43"/>
          <p:cNvPicPr preferRelativeResize="0"/>
          <p:nvPr/>
        </p:nvPicPr>
        <p:blipFill>
          <a:blip r:embed="rId3">
            <a:alphaModFix/>
          </a:blip>
          <a:stretch>
            <a:fillRect/>
          </a:stretch>
        </p:blipFill>
        <p:spPr>
          <a:xfrm>
            <a:off x="8050625" y="44817"/>
            <a:ext cx="1093375" cy="13223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44"/>
          <p:cNvSpPr txBox="1"/>
          <p:nvPr>
            <p:ph type="title"/>
          </p:nvPr>
        </p:nvSpPr>
        <p:spPr>
          <a:xfrm>
            <a:off x="822960" y="214952"/>
            <a:ext cx="7543800" cy="1088100"/>
          </a:xfrm>
          <a:prstGeom prst="rect">
            <a:avLst/>
          </a:prstGeom>
        </p:spPr>
        <p:txBody>
          <a:bodyPr anchorCtr="0" anchor="b" bIns="34275" lIns="68575" spcFirstLastPara="1" rIns="68575" wrap="square" tIns="34275">
            <a:normAutofit/>
          </a:bodyPr>
          <a:lstStyle/>
          <a:p>
            <a:pPr indent="0" lvl="0" marL="0" rtl="0" algn="l">
              <a:spcBef>
                <a:spcPts val="0"/>
              </a:spcBef>
              <a:spcAft>
                <a:spcPts val="0"/>
              </a:spcAft>
              <a:buNone/>
            </a:pPr>
            <a:r>
              <a:rPr lang="pt-BR"/>
              <a:t>Treinando Redes Profundas</a:t>
            </a:r>
            <a:endParaRPr/>
          </a:p>
        </p:txBody>
      </p:sp>
      <p:sp>
        <p:nvSpPr>
          <p:cNvPr id="250" name="Google Shape;250;p44"/>
          <p:cNvSpPr txBox="1"/>
          <p:nvPr>
            <p:ph idx="1" type="body"/>
          </p:nvPr>
        </p:nvSpPr>
        <p:spPr>
          <a:xfrm>
            <a:off x="822960" y="1384300"/>
            <a:ext cx="7543800" cy="3017400"/>
          </a:xfrm>
          <a:prstGeom prst="rect">
            <a:avLst/>
          </a:prstGeom>
        </p:spPr>
        <p:txBody>
          <a:bodyPr anchorCtr="0" anchor="t" bIns="34275" lIns="0" spcFirstLastPara="1" rIns="0" wrap="square" tIns="34275">
            <a:normAutofit/>
          </a:bodyPr>
          <a:lstStyle/>
          <a:p>
            <a:pPr indent="-317500" lvl="0" marL="457200" rtl="0" algn="l">
              <a:spcBef>
                <a:spcPts val="900"/>
              </a:spcBef>
              <a:spcAft>
                <a:spcPts val="0"/>
              </a:spcAft>
              <a:buSzPts val="1400"/>
              <a:buChar char="●"/>
            </a:pPr>
            <a:r>
              <a:rPr lang="pt-BR"/>
              <a:t>Suponha que temos um problema muito complexo… </a:t>
            </a:r>
            <a:endParaRPr/>
          </a:p>
          <a:p>
            <a:pPr indent="-317500" lvl="1" marL="914400" rtl="0" algn="l">
              <a:spcBef>
                <a:spcPts val="0"/>
              </a:spcBef>
              <a:spcAft>
                <a:spcPts val="0"/>
              </a:spcAft>
              <a:buSzPts val="1400"/>
              <a:buChar char="○"/>
            </a:pPr>
            <a:r>
              <a:rPr lang="pt-BR"/>
              <a:t>Ex.: tradução, detecção de objetos…</a:t>
            </a:r>
            <a:endParaRPr/>
          </a:p>
          <a:p>
            <a:pPr indent="-317500" lvl="0" marL="457200" rtl="0" algn="l">
              <a:spcBef>
                <a:spcPts val="0"/>
              </a:spcBef>
              <a:spcAft>
                <a:spcPts val="0"/>
              </a:spcAft>
              <a:buSzPts val="1400"/>
              <a:buChar char="●"/>
            </a:pPr>
            <a:r>
              <a:rPr lang="pt-BR"/>
              <a:t>Nesse caso, basta tratar com uma arquitetura mais complexa, certo?</a:t>
            </a:r>
            <a:endParaRPr/>
          </a:p>
          <a:p>
            <a:pPr indent="-317500" lvl="1" marL="914400" rtl="0" algn="l">
              <a:spcBef>
                <a:spcPts val="0"/>
              </a:spcBef>
              <a:spcAft>
                <a:spcPts val="0"/>
              </a:spcAft>
              <a:buSzPts val="1400"/>
              <a:buChar char="○"/>
            </a:pPr>
            <a:r>
              <a:rPr lang="pt-BR"/>
              <a:t>Ex.: rede mais profunda com 10 camadas</a:t>
            </a:r>
            <a:endParaRPr/>
          </a:p>
          <a:p>
            <a:pPr indent="-317500" lvl="0" marL="457200" rtl="0" algn="l">
              <a:spcBef>
                <a:spcPts val="0"/>
              </a:spcBef>
              <a:spcAft>
                <a:spcPts val="0"/>
              </a:spcAft>
              <a:buSzPts val="1400"/>
              <a:buChar char="●"/>
            </a:pPr>
            <a:r>
              <a:rPr lang="pt-BR"/>
              <a:t>Problemas:</a:t>
            </a:r>
            <a:endParaRPr/>
          </a:p>
          <a:p>
            <a:pPr indent="-317500" lvl="1" marL="914400" rtl="0" algn="l">
              <a:spcBef>
                <a:spcPts val="0"/>
              </a:spcBef>
              <a:spcAft>
                <a:spcPts val="0"/>
              </a:spcAft>
              <a:buSzPts val="1400"/>
              <a:buChar char="○"/>
            </a:pPr>
            <a:r>
              <a:rPr lang="pt-BR"/>
              <a:t>Vanish/exploding Gradients</a:t>
            </a:r>
            <a:endParaRPr/>
          </a:p>
          <a:p>
            <a:pPr indent="-317500" lvl="1" marL="914400" rtl="0" algn="l">
              <a:spcBef>
                <a:spcPts val="0"/>
              </a:spcBef>
              <a:spcAft>
                <a:spcPts val="0"/>
              </a:spcAft>
              <a:buSzPts val="1400"/>
              <a:buChar char="○"/>
            </a:pPr>
            <a:r>
              <a:rPr lang="pt-BR"/>
              <a:t>Rede maior -&gt; treino mais lento</a:t>
            </a:r>
            <a:endParaRPr/>
          </a:p>
          <a:p>
            <a:pPr indent="-317500" lvl="1" marL="914400" rtl="0" algn="l">
              <a:spcBef>
                <a:spcPts val="0"/>
              </a:spcBef>
              <a:spcAft>
                <a:spcPts val="0"/>
              </a:spcAft>
              <a:buSzPts val="1400"/>
              <a:buChar char="○"/>
            </a:pPr>
            <a:r>
              <a:rPr lang="pt-BR"/>
              <a:t>Uma arquitetura complexa (milhões de parâmetros) -&gt; Risco de overfitting</a:t>
            </a:r>
            <a:endParaRPr/>
          </a:p>
          <a:p>
            <a:pPr indent="-317500" lvl="0" marL="457200" rtl="0" algn="l">
              <a:spcBef>
                <a:spcPts val="0"/>
              </a:spcBef>
              <a:spcAft>
                <a:spcPts val="0"/>
              </a:spcAft>
              <a:buSzPts val="1400"/>
              <a:buChar char="●"/>
            </a:pPr>
            <a:r>
              <a:rPr lang="pt-BR"/>
              <a:t>Soluções?</a:t>
            </a:r>
            <a:endParaRPr/>
          </a:p>
        </p:txBody>
      </p:sp>
      <p:pic>
        <p:nvPicPr>
          <p:cNvPr id="251" name="Google Shape;251;p44"/>
          <p:cNvPicPr preferRelativeResize="0"/>
          <p:nvPr/>
        </p:nvPicPr>
        <p:blipFill>
          <a:blip r:embed="rId3">
            <a:alphaModFix/>
          </a:blip>
          <a:stretch>
            <a:fillRect/>
          </a:stretch>
        </p:blipFill>
        <p:spPr>
          <a:xfrm>
            <a:off x="8050625" y="44817"/>
            <a:ext cx="1093375" cy="13223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45"/>
          <p:cNvSpPr txBox="1"/>
          <p:nvPr>
            <p:ph type="title"/>
          </p:nvPr>
        </p:nvSpPr>
        <p:spPr>
          <a:xfrm>
            <a:off x="822960" y="214952"/>
            <a:ext cx="7543800" cy="1088100"/>
          </a:xfrm>
          <a:prstGeom prst="rect">
            <a:avLst/>
          </a:prstGeom>
        </p:spPr>
        <p:txBody>
          <a:bodyPr anchorCtr="0" anchor="b" bIns="34275" lIns="68575" spcFirstLastPara="1" rIns="68575" wrap="square" tIns="34275">
            <a:normAutofit/>
          </a:bodyPr>
          <a:lstStyle/>
          <a:p>
            <a:pPr indent="0" lvl="0" marL="0" rtl="0" algn="l">
              <a:lnSpc>
                <a:spcPct val="115000"/>
              </a:lnSpc>
              <a:spcBef>
                <a:spcPts val="2400"/>
              </a:spcBef>
              <a:spcAft>
                <a:spcPts val="0"/>
              </a:spcAft>
              <a:buClr>
                <a:schemeClr val="dk1"/>
              </a:buClr>
              <a:buSzPts val="1100"/>
              <a:buFont typeface="Arial"/>
              <a:buNone/>
            </a:pPr>
            <a:r>
              <a:rPr b="1" lang="pt-BR" sz="2300">
                <a:solidFill>
                  <a:srgbClr val="3D3B49"/>
                </a:solidFill>
                <a:highlight>
                  <a:srgbClr val="FFFFFF"/>
                </a:highlight>
              </a:rPr>
              <a:t>Vanishing/Exploding Gradients</a:t>
            </a:r>
            <a:endParaRPr b="1" sz="2300">
              <a:solidFill>
                <a:srgbClr val="3D3B49"/>
              </a:solidFill>
              <a:highlight>
                <a:srgbClr val="FFFFFF"/>
              </a:highlight>
            </a:endParaRPr>
          </a:p>
          <a:p>
            <a:pPr indent="0" lvl="0" marL="0" rtl="0" algn="l">
              <a:spcBef>
                <a:spcPts val="600"/>
              </a:spcBef>
              <a:spcAft>
                <a:spcPts val="0"/>
              </a:spcAft>
              <a:buNone/>
            </a:pPr>
            <a:r>
              <a:t/>
            </a:r>
            <a:endParaRPr/>
          </a:p>
        </p:txBody>
      </p:sp>
      <p:sp>
        <p:nvSpPr>
          <p:cNvPr id="257" name="Google Shape;257;p45"/>
          <p:cNvSpPr txBox="1"/>
          <p:nvPr>
            <p:ph idx="1" type="body"/>
          </p:nvPr>
        </p:nvSpPr>
        <p:spPr>
          <a:xfrm>
            <a:off x="-103725" y="1303050"/>
            <a:ext cx="6933000" cy="3037200"/>
          </a:xfrm>
          <a:prstGeom prst="rect">
            <a:avLst/>
          </a:prstGeom>
        </p:spPr>
        <p:txBody>
          <a:bodyPr anchorCtr="0" anchor="t" bIns="34275" lIns="0" spcFirstLastPara="1" rIns="0" wrap="square" tIns="34275">
            <a:normAutofit fontScale="85000" lnSpcReduction="20000"/>
          </a:bodyPr>
          <a:lstStyle/>
          <a:p>
            <a:pPr indent="-304165" lvl="0" marL="457200" rtl="0" algn="l">
              <a:spcBef>
                <a:spcPts val="900"/>
              </a:spcBef>
              <a:spcAft>
                <a:spcPts val="0"/>
              </a:spcAft>
              <a:buSzPct val="77778"/>
              <a:buChar char="●"/>
            </a:pPr>
            <a:r>
              <a:rPr lang="pt-BR"/>
              <a:t>Como vimos, o gradiente do backpropagation é calculado a partir da camada de saída…</a:t>
            </a:r>
            <a:endParaRPr/>
          </a:p>
          <a:p>
            <a:pPr indent="0" lvl="0" marL="457200" rtl="0" algn="l">
              <a:spcBef>
                <a:spcPts val="900"/>
              </a:spcBef>
              <a:spcAft>
                <a:spcPts val="0"/>
              </a:spcAft>
              <a:buNone/>
            </a:pPr>
            <a:r>
              <a:t/>
            </a:r>
            <a:endParaRPr/>
          </a:p>
          <a:p>
            <a:pPr indent="-327145" lvl="1" marL="914400" rtl="0" algn="l">
              <a:spcBef>
                <a:spcPts val="200"/>
              </a:spcBef>
              <a:spcAft>
                <a:spcPts val="0"/>
              </a:spcAft>
              <a:buSzPct val="100000"/>
              <a:buChar char="○"/>
            </a:pPr>
            <a:r>
              <a:rPr lang="pt-BR" sz="1826"/>
              <a:t>Infelizmente gradientes ficam e menores à cada camada mais próxima da entrada. Resultado:</a:t>
            </a:r>
            <a:endParaRPr sz="1826"/>
          </a:p>
          <a:p>
            <a:pPr indent="-327145" lvl="2" marL="1371600" rtl="0" algn="l">
              <a:spcBef>
                <a:spcPts val="0"/>
              </a:spcBef>
              <a:spcAft>
                <a:spcPts val="0"/>
              </a:spcAft>
              <a:buSzPct val="100000"/>
              <a:buChar char="■"/>
            </a:pPr>
            <a:r>
              <a:rPr lang="pt-BR" sz="1826"/>
              <a:t>Vanish gradients</a:t>
            </a:r>
            <a:endParaRPr sz="1826"/>
          </a:p>
          <a:p>
            <a:pPr indent="-327145" lvl="2" marL="1371600" rtl="0" algn="l">
              <a:spcBef>
                <a:spcPts val="0"/>
              </a:spcBef>
              <a:spcAft>
                <a:spcPts val="0"/>
              </a:spcAft>
              <a:buSzPct val="100000"/>
              <a:buChar char="■"/>
            </a:pPr>
            <a:r>
              <a:rPr lang="pt-BR" sz="1826"/>
              <a:t>Camadas próximas da entrada não mudam os pesos…</a:t>
            </a:r>
            <a:endParaRPr sz="1826"/>
          </a:p>
          <a:p>
            <a:pPr indent="-327145" lvl="2" marL="1371600" rtl="0" algn="l">
              <a:spcBef>
                <a:spcPts val="0"/>
              </a:spcBef>
              <a:spcAft>
                <a:spcPts val="0"/>
              </a:spcAft>
              <a:buSzPct val="100000"/>
              <a:buChar char="■"/>
            </a:pPr>
            <a:r>
              <a:rPr lang="pt-BR" sz="1826"/>
              <a:t>Isso atrapalha bastante o treino convergir para boas soluções</a:t>
            </a:r>
            <a:endParaRPr sz="1826"/>
          </a:p>
          <a:p>
            <a:pPr indent="-327145" lvl="1" marL="914400" rtl="0" algn="l">
              <a:spcBef>
                <a:spcPts val="0"/>
              </a:spcBef>
              <a:spcAft>
                <a:spcPts val="0"/>
              </a:spcAft>
              <a:buSzPct val="100000"/>
              <a:buChar char="○"/>
            </a:pPr>
            <a:r>
              <a:rPr lang="pt-BR" sz="1826"/>
              <a:t>Eles também podem ficar cada vez  maiores (veremos em redes recorrentes). Resultado:</a:t>
            </a:r>
            <a:endParaRPr sz="1826"/>
          </a:p>
          <a:p>
            <a:pPr indent="-327145" lvl="2" marL="1371600" rtl="0" algn="l">
              <a:spcBef>
                <a:spcPts val="0"/>
              </a:spcBef>
              <a:spcAft>
                <a:spcPts val="0"/>
              </a:spcAft>
              <a:buSzPct val="100000"/>
              <a:buChar char="■"/>
            </a:pPr>
            <a:r>
              <a:rPr lang="pt-BR" sz="1826"/>
              <a:t>E</a:t>
            </a:r>
            <a:r>
              <a:rPr lang="pt-BR" sz="1826"/>
              <a:t>xploding gradients</a:t>
            </a:r>
            <a:endParaRPr sz="1826"/>
          </a:p>
          <a:p>
            <a:pPr indent="-327145" lvl="2" marL="1371600" rtl="0" algn="l">
              <a:spcBef>
                <a:spcPts val="0"/>
              </a:spcBef>
              <a:spcAft>
                <a:spcPts val="0"/>
              </a:spcAft>
              <a:buSzPct val="100000"/>
              <a:buChar char="■"/>
            </a:pPr>
            <a:r>
              <a:rPr lang="pt-BR" sz="1826"/>
              <a:t>Instabilidade no aprendizado</a:t>
            </a:r>
            <a:endParaRPr sz="1826"/>
          </a:p>
          <a:p>
            <a:pPr indent="-327145" lvl="1" marL="914400" rtl="0" algn="l">
              <a:spcBef>
                <a:spcPts val="0"/>
              </a:spcBef>
              <a:spcAft>
                <a:spcPts val="0"/>
              </a:spcAft>
              <a:buSzPct val="100000"/>
              <a:buChar char="○"/>
            </a:pPr>
            <a:r>
              <a:rPr lang="pt-BR" sz="1826"/>
              <a:t>Razão pela qual redes profundas foram abandonadas por muito tempo!</a:t>
            </a:r>
            <a:endParaRPr sz="1826"/>
          </a:p>
          <a:p>
            <a:pPr indent="-327145" lvl="1" marL="914400" rtl="0" algn="l">
              <a:spcBef>
                <a:spcPts val="0"/>
              </a:spcBef>
              <a:spcAft>
                <a:spcPts val="0"/>
              </a:spcAft>
              <a:buSzPct val="100000"/>
              <a:buChar char="○"/>
            </a:pPr>
            <a:r>
              <a:rPr lang="pt-BR" sz="1826"/>
              <a:t>Ou seja, redes neurais profundas sofrem de gradientes instáveis:</a:t>
            </a:r>
            <a:endParaRPr sz="1826"/>
          </a:p>
          <a:p>
            <a:pPr indent="-327145" lvl="2" marL="1371600" rtl="0" algn="l">
              <a:spcBef>
                <a:spcPts val="0"/>
              </a:spcBef>
              <a:spcAft>
                <a:spcPts val="0"/>
              </a:spcAft>
              <a:buSzPct val="100000"/>
              <a:buChar char="■"/>
            </a:pPr>
            <a:r>
              <a:rPr lang="pt-BR" sz="1826"/>
              <a:t>Camadas diferentes podem aprender com velocidades bastante distintas</a:t>
            </a:r>
            <a:endParaRPr sz="1826"/>
          </a:p>
        </p:txBody>
      </p:sp>
      <p:pic>
        <p:nvPicPr>
          <p:cNvPr id="258" name="Google Shape;258;p45"/>
          <p:cNvPicPr preferRelativeResize="0"/>
          <p:nvPr/>
        </p:nvPicPr>
        <p:blipFill>
          <a:blip r:embed="rId3">
            <a:alphaModFix/>
          </a:blip>
          <a:stretch>
            <a:fillRect/>
          </a:stretch>
        </p:blipFill>
        <p:spPr>
          <a:xfrm>
            <a:off x="8050625" y="44817"/>
            <a:ext cx="1093375" cy="1322300"/>
          </a:xfrm>
          <a:prstGeom prst="rect">
            <a:avLst/>
          </a:prstGeom>
          <a:noFill/>
          <a:ln>
            <a:noFill/>
          </a:ln>
        </p:spPr>
      </p:pic>
      <p:pic>
        <p:nvPicPr>
          <p:cNvPr id="259" name="Google Shape;259;p45"/>
          <p:cNvPicPr preferRelativeResize="0"/>
          <p:nvPr/>
        </p:nvPicPr>
        <p:blipFill>
          <a:blip r:embed="rId4">
            <a:alphaModFix/>
          </a:blip>
          <a:stretch>
            <a:fillRect/>
          </a:stretch>
        </p:blipFill>
        <p:spPr>
          <a:xfrm>
            <a:off x="6664950" y="3472375"/>
            <a:ext cx="2444200" cy="16711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46"/>
          <p:cNvSpPr txBox="1"/>
          <p:nvPr>
            <p:ph type="title"/>
          </p:nvPr>
        </p:nvSpPr>
        <p:spPr>
          <a:xfrm>
            <a:off x="822960" y="214952"/>
            <a:ext cx="7543800" cy="1088100"/>
          </a:xfrm>
          <a:prstGeom prst="rect">
            <a:avLst/>
          </a:prstGeom>
        </p:spPr>
        <p:txBody>
          <a:bodyPr anchorCtr="0" anchor="b" bIns="34275" lIns="68575" spcFirstLastPara="1" rIns="68575" wrap="square" tIns="34275">
            <a:normAutofit/>
          </a:bodyPr>
          <a:lstStyle/>
          <a:p>
            <a:pPr indent="0" lvl="0" marL="0" rtl="0" algn="l">
              <a:lnSpc>
                <a:spcPct val="115000"/>
              </a:lnSpc>
              <a:spcBef>
                <a:spcPts val="2400"/>
              </a:spcBef>
              <a:spcAft>
                <a:spcPts val="0"/>
              </a:spcAft>
              <a:buNone/>
            </a:pPr>
            <a:r>
              <a:rPr b="1" lang="pt-BR" sz="2300">
                <a:solidFill>
                  <a:srgbClr val="3D3B49"/>
                </a:solidFill>
                <a:highlight>
                  <a:srgbClr val="FFFFFF"/>
                </a:highlight>
              </a:rPr>
              <a:t>Vanishing/Exploding Gradients</a:t>
            </a:r>
            <a:endParaRPr b="1" sz="2300">
              <a:solidFill>
                <a:srgbClr val="3D3B49"/>
              </a:solidFill>
              <a:highlight>
                <a:srgbClr val="FFFFFF"/>
              </a:highlight>
            </a:endParaRPr>
          </a:p>
          <a:p>
            <a:pPr indent="0" lvl="0" marL="0" rtl="0" algn="l">
              <a:spcBef>
                <a:spcPts val="600"/>
              </a:spcBef>
              <a:spcAft>
                <a:spcPts val="0"/>
              </a:spcAft>
              <a:buNone/>
            </a:pPr>
            <a:r>
              <a:t/>
            </a:r>
            <a:endParaRPr/>
          </a:p>
        </p:txBody>
      </p:sp>
      <p:sp>
        <p:nvSpPr>
          <p:cNvPr id="265" name="Google Shape;265;p46"/>
          <p:cNvSpPr txBox="1"/>
          <p:nvPr>
            <p:ph idx="1" type="body"/>
          </p:nvPr>
        </p:nvSpPr>
        <p:spPr>
          <a:xfrm>
            <a:off x="4201375" y="1484600"/>
            <a:ext cx="4391400" cy="2992200"/>
          </a:xfrm>
          <a:prstGeom prst="rect">
            <a:avLst/>
          </a:prstGeom>
        </p:spPr>
        <p:txBody>
          <a:bodyPr anchorCtr="0" anchor="t" bIns="34275" lIns="0" spcFirstLastPara="1" rIns="0" wrap="square" tIns="34275">
            <a:normAutofit/>
          </a:bodyPr>
          <a:lstStyle/>
          <a:p>
            <a:pPr indent="-317500" lvl="0" marL="457200" rtl="0" algn="l">
              <a:spcBef>
                <a:spcPts val="900"/>
              </a:spcBef>
              <a:spcAft>
                <a:spcPts val="0"/>
              </a:spcAft>
              <a:buSzPts val="1400"/>
              <a:buChar char="●"/>
            </a:pPr>
            <a:r>
              <a:rPr lang="pt-BR"/>
              <a:t>2010: Xavier Glorot and Yoshua Bengio analisaram potenciais fontes do problema:</a:t>
            </a:r>
            <a:endParaRPr/>
          </a:p>
          <a:p>
            <a:pPr indent="-317500" lvl="2" marL="1371600" rtl="0" algn="l">
              <a:spcBef>
                <a:spcPts val="0"/>
              </a:spcBef>
              <a:spcAft>
                <a:spcPts val="0"/>
              </a:spcAft>
              <a:buSzPts val="1400"/>
              <a:buChar char="■"/>
            </a:pPr>
            <a:r>
              <a:rPr lang="pt-BR"/>
              <a:t>Inicialização dos pesos</a:t>
            </a:r>
            <a:endParaRPr/>
          </a:p>
          <a:p>
            <a:pPr indent="-317500" lvl="2" marL="1371600" rtl="0" algn="l">
              <a:spcBef>
                <a:spcPts val="0"/>
              </a:spcBef>
              <a:spcAft>
                <a:spcPts val="0"/>
              </a:spcAft>
              <a:buSzPts val="1400"/>
              <a:buChar char="■"/>
            </a:pPr>
            <a:r>
              <a:rPr lang="pt-BR"/>
              <a:t>Função sigmoid</a:t>
            </a:r>
            <a:endParaRPr/>
          </a:p>
        </p:txBody>
      </p:sp>
      <p:pic>
        <p:nvPicPr>
          <p:cNvPr id="266" name="Google Shape;266;p46"/>
          <p:cNvPicPr preferRelativeResize="0"/>
          <p:nvPr/>
        </p:nvPicPr>
        <p:blipFill>
          <a:blip r:embed="rId3">
            <a:alphaModFix/>
          </a:blip>
          <a:stretch>
            <a:fillRect/>
          </a:stretch>
        </p:blipFill>
        <p:spPr>
          <a:xfrm>
            <a:off x="8050625" y="44817"/>
            <a:ext cx="1093375" cy="1322300"/>
          </a:xfrm>
          <a:prstGeom prst="rect">
            <a:avLst/>
          </a:prstGeom>
          <a:noFill/>
          <a:ln>
            <a:noFill/>
          </a:ln>
        </p:spPr>
      </p:pic>
      <p:pic>
        <p:nvPicPr>
          <p:cNvPr id="267" name="Google Shape;267;p46"/>
          <p:cNvPicPr preferRelativeResize="0"/>
          <p:nvPr/>
        </p:nvPicPr>
        <p:blipFill>
          <a:blip r:embed="rId4">
            <a:alphaModFix/>
          </a:blip>
          <a:stretch>
            <a:fillRect/>
          </a:stretch>
        </p:blipFill>
        <p:spPr>
          <a:xfrm>
            <a:off x="82475" y="1703494"/>
            <a:ext cx="3935299" cy="2731151"/>
          </a:xfrm>
          <a:prstGeom prst="rect">
            <a:avLst/>
          </a:prstGeom>
          <a:noFill/>
          <a:ln>
            <a:noFill/>
          </a:ln>
        </p:spPr>
      </p:pic>
      <p:pic>
        <p:nvPicPr>
          <p:cNvPr id="268" name="Google Shape;268;p46"/>
          <p:cNvPicPr preferRelativeResize="0"/>
          <p:nvPr/>
        </p:nvPicPr>
        <p:blipFill>
          <a:blip r:embed="rId5">
            <a:alphaModFix/>
          </a:blip>
          <a:stretch>
            <a:fillRect/>
          </a:stretch>
        </p:blipFill>
        <p:spPr>
          <a:xfrm>
            <a:off x="4903625" y="2845575"/>
            <a:ext cx="3377948" cy="21769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47"/>
          <p:cNvSpPr txBox="1"/>
          <p:nvPr>
            <p:ph type="title"/>
          </p:nvPr>
        </p:nvSpPr>
        <p:spPr>
          <a:xfrm>
            <a:off x="617220" y="161214"/>
            <a:ext cx="5658000" cy="816000"/>
          </a:xfrm>
          <a:prstGeom prst="rect">
            <a:avLst/>
          </a:prstGeom>
          <a:noFill/>
          <a:ln>
            <a:noFill/>
          </a:ln>
        </p:spPr>
        <p:txBody>
          <a:bodyPr anchorCtr="0" anchor="b" bIns="34275" lIns="68575" spcFirstLastPara="1" rIns="68575" wrap="square" tIns="34275">
            <a:normAutofit/>
          </a:bodyPr>
          <a:lstStyle/>
          <a:p>
            <a:pPr indent="0" lvl="0" marL="0" rtl="0" algn="l">
              <a:lnSpc>
                <a:spcPct val="85000"/>
              </a:lnSpc>
              <a:spcBef>
                <a:spcPts val="0"/>
              </a:spcBef>
              <a:spcAft>
                <a:spcPts val="0"/>
              </a:spcAft>
              <a:buClr>
                <a:srgbClr val="3F3F3F"/>
              </a:buClr>
              <a:buSzPts val="3600"/>
              <a:buFont typeface="Calibri"/>
              <a:buNone/>
            </a:pPr>
            <a:r>
              <a:rPr lang="pt-BR"/>
              <a:t>Saturação - Sigmoid</a:t>
            </a:r>
            <a:endParaRPr/>
          </a:p>
        </p:txBody>
      </p:sp>
      <p:sp>
        <p:nvSpPr>
          <p:cNvPr id="274" name="Google Shape;274;p47"/>
          <p:cNvSpPr txBox="1"/>
          <p:nvPr>
            <p:ph idx="1" type="body"/>
          </p:nvPr>
        </p:nvSpPr>
        <p:spPr>
          <a:xfrm>
            <a:off x="822960" y="1384300"/>
            <a:ext cx="4437000" cy="3017400"/>
          </a:xfrm>
          <a:prstGeom prst="rect">
            <a:avLst/>
          </a:prstGeom>
          <a:noFill/>
          <a:ln>
            <a:noFill/>
          </a:ln>
        </p:spPr>
        <p:txBody>
          <a:bodyPr anchorCtr="0" anchor="t" bIns="34275" lIns="0" spcFirstLastPara="1" rIns="0" wrap="square" tIns="34275">
            <a:normAutofit lnSpcReduction="20000"/>
          </a:bodyPr>
          <a:lstStyle/>
          <a:p>
            <a:pPr indent="-95250" lvl="0" marL="63500" rtl="0" algn="l">
              <a:lnSpc>
                <a:spcPct val="90000"/>
              </a:lnSpc>
              <a:spcBef>
                <a:spcPts val="0"/>
              </a:spcBef>
              <a:spcAft>
                <a:spcPts val="0"/>
              </a:spcAft>
              <a:buSzPts val="1500"/>
              <a:buChar char="●"/>
            </a:pPr>
            <a:r>
              <a:rPr lang="pt-BR"/>
              <a:t>Em casos onde ocorre uma saturação, o problema de desaparecimento fica ainda pior;</a:t>
            </a:r>
            <a:endParaRPr/>
          </a:p>
          <a:p>
            <a:pPr indent="-95250" lvl="0" marL="63500" rtl="0" algn="l">
              <a:lnSpc>
                <a:spcPct val="90000"/>
              </a:lnSpc>
              <a:spcBef>
                <a:spcPts val="1100"/>
              </a:spcBef>
              <a:spcAft>
                <a:spcPts val="0"/>
              </a:spcAft>
              <a:buSzPts val="1500"/>
              <a:buChar char="●"/>
            </a:pPr>
            <a:r>
              <a:rPr lang="pt-BR"/>
              <a:t>No exemplo da função de ativação logística, quando a entrada se torna grande (positiva ou negativa), a função satura em 0 ou 1, com a derivada muito próxima de  0;</a:t>
            </a:r>
            <a:endParaRPr/>
          </a:p>
          <a:p>
            <a:pPr indent="-95250" lvl="0" marL="63500" rtl="0" algn="l">
              <a:lnSpc>
                <a:spcPct val="90000"/>
              </a:lnSpc>
              <a:spcBef>
                <a:spcPts val="1100"/>
              </a:spcBef>
              <a:spcAft>
                <a:spcPts val="0"/>
              </a:spcAft>
              <a:buSzPts val="1500"/>
              <a:buChar char="●"/>
            </a:pPr>
            <a:r>
              <a:rPr lang="pt-BR"/>
              <a:t>Isso piora, pois o backpropagation não terá gradiente para propagar pela rede:</a:t>
            </a:r>
            <a:endParaRPr/>
          </a:p>
          <a:p>
            <a:pPr indent="-139700" lvl="1" marL="292100" rtl="0" algn="l">
              <a:lnSpc>
                <a:spcPct val="90000"/>
              </a:lnSpc>
              <a:spcBef>
                <a:spcPts val="300"/>
              </a:spcBef>
              <a:spcAft>
                <a:spcPts val="0"/>
              </a:spcAft>
              <a:buSzPts val="1400"/>
              <a:buChar char="○"/>
            </a:pPr>
            <a:r>
              <a:rPr lang="pt-BR"/>
              <a:t>O pouco gradiente que fica, permanece diluído nas camadas superiores, não ficando nada para as camadas baixas</a:t>
            </a:r>
            <a:endParaRPr/>
          </a:p>
        </p:txBody>
      </p:sp>
      <p:pic>
        <p:nvPicPr>
          <p:cNvPr id="275" name="Google Shape;275;p47"/>
          <p:cNvPicPr preferRelativeResize="0"/>
          <p:nvPr/>
        </p:nvPicPr>
        <p:blipFill rotWithShape="1">
          <a:blip r:embed="rId3">
            <a:alphaModFix/>
          </a:blip>
          <a:srcRect b="0" l="0" r="0" t="0"/>
          <a:stretch/>
        </p:blipFill>
        <p:spPr>
          <a:xfrm>
            <a:off x="5259897" y="1303020"/>
            <a:ext cx="3328595" cy="21698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48"/>
          <p:cNvSpPr txBox="1"/>
          <p:nvPr>
            <p:ph type="title"/>
          </p:nvPr>
        </p:nvSpPr>
        <p:spPr>
          <a:xfrm>
            <a:off x="822960" y="214952"/>
            <a:ext cx="7543800" cy="1088100"/>
          </a:xfrm>
          <a:prstGeom prst="rect">
            <a:avLst/>
          </a:prstGeom>
        </p:spPr>
        <p:txBody>
          <a:bodyPr anchorCtr="0" anchor="b" bIns="34275" lIns="68575" spcFirstLastPara="1" rIns="68575" wrap="square" tIns="34275">
            <a:normAutofit/>
          </a:bodyPr>
          <a:lstStyle/>
          <a:p>
            <a:pPr indent="0" lvl="0" marL="0" rtl="0" algn="l">
              <a:lnSpc>
                <a:spcPct val="115000"/>
              </a:lnSpc>
              <a:spcBef>
                <a:spcPts val="2400"/>
              </a:spcBef>
              <a:spcAft>
                <a:spcPts val="0"/>
              </a:spcAft>
              <a:buNone/>
            </a:pPr>
            <a:r>
              <a:rPr b="1" lang="pt-BR" sz="2300">
                <a:solidFill>
                  <a:srgbClr val="3D3B49"/>
                </a:solidFill>
                <a:highlight>
                  <a:srgbClr val="FFFFFF"/>
                </a:highlight>
              </a:rPr>
              <a:t>Parametrização - Inicialização de Pesos</a:t>
            </a:r>
            <a:endParaRPr b="1" sz="2300">
              <a:solidFill>
                <a:srgbClr val="3D3B49"/>
              </a:solidFill>
              <a:highlight>
                <a:srgbClr val="FFFFFF"/>
              </a:highlight>
            </a:endParaRPr>
          </a:p>
          <a:p>
            <a:pPr indent="0" lvl="0" marL="0" rtl="0" algn="l">
              <a:spcBef>
                <a:spcPts val="600"/>
              </a:spcBef>
              <a:spcAft>
                <a:spcPts val="0"/>
              </a:spcAft>
              <a:buNone/>
            </a:pPr>
            <a:r>
              <a:t/>
            </a:r>
            <a:endParaRPr/>
          </a:p>
        </p:txBody>
      </p:sp>
      <p:sp>
        <p:nvSpPr>
          <p:cNvPr id="281" name="Google Shape;281;p48"/>
          <p:cNvSpPr txBox="1"/>
          <p:nvPr>
            <p:ph idx="1" type="body"/>
          </p:nvPr>
        </p:nvSpPr>
        <p:spPr>
          <a:xfrm>
            <a:off x="53600" y="1303050"/>
            <a:ext cx="7543800" cy="2992200"/>
          </a:xfrm>
          <a:prstGeom prst="rect">
            <a:avLst/>
          </a:prstGeom>
        </p:spPr>
        <p:txBody>
          <a:bodyPr anchorCtr="0" anchor="t" bIns="34275" lIns="0" spcFirstLastPara="1" rIns="0" wrap="square" tIns="34275">
            <a:normAutofit fontScale="77500" lnSpcReduction="20000"/>
          </a:bodyPr>
          <a:lstStyle/>
          <a:p>
            <a:pPr indent="-297498" lvl="0" marL="457200" rtl="0" algn="l">
              <a:spcBef>
                <a:spcPts val="900"/>
              </a:spcBef>
              <a:spcAft>
                <a:spcPts val="0"/>
              </a:spcAft>
              <a:buSzPct val="53846"/>
              <a:buChar char="●"/>
            </a:pPr>
            <a:r>
              <a:rPr lang="pt-BR" sz="2600">
                <a:solidFill>
                  <a:srgbClr val="000000"/>
                </a:solidFill>
              </a:rPr>
              <a:t>Parametrização da </a:t>
            </a:r>
            <a:r>
              <a:rPr lang="pt-BR" sz="2600">
                <a:solidFill>
                  <a:srgbClr val="000000"/>
                </a:solidFill>
              </a:rPr>
              <a:t>Inicialização:</a:t>
            </a:r>
            <a:endParaRPr sz="2600">
              <a:solidFill>
                <a:srgbClr val="000000"/>
              </a:solidFill>
            </a:endParaRPr>
          </a:p>
          <a:p>
            <a:pPr indent="0" lvl="0" marL="0" rtl="0" algn="l">
              <a:lnSpc>
                <a:spcPct val="100000"/>
              </a:lnSpc>
              <a:spcBef>
                <a:spcPts val="200"/>
              </a:spcBef>
              <a:spcAft>
                <a:spcPts val="0"/>
              </a:spcAft>
              <a:buNone/>
            </a:pPr>
            <a:r>
              <a:t/>
            </a:r>
            <a:endParaRPr sz="2500">
              <a:solidFill>
                <a:srgbClr val="000000"/>
              </a:solidFill>
            </a:endParaRPr>
          </a:p>
          <a:p>
            <a:pPr indent="-312261" lvl="2" marL="1371600" rtl="0" algn="l">
              <a:lnSpc>
                <a:spcPct val="100000"/>
              </a:lnSpc>
              <a:spcBef>
                <a:spcPts val="0"/>
              </a:spcBef>
              <a:spcAft>
                <a:spcPts val="0"/>
              </a:spcAft>
              <a:buClr>
                <a:srgbClr val="000000"/>
              </a:buClr>
              <a:buSzPct val="73913"/>
              <a:buFont typeface="Noto Sans Symbols"/>
              <a:buChar char="■"/>
            </a:pPr>
            <a:r>
              <a:rPr lang="pt-BR" sz="2300">
                <a:solidFill>
                  <a:srgbClr val="000000"/>
                </a:solidFill>
              </a:rPr>
              <a:t>Iniciar tudo com 0    ?</a:t>
            </a:r>
            <a:endParaRPr sz="2300">
              <a:solidFill>
                <a:srgbClr val="000000"/>
              </a:solidFill>
            </a:endParaRPr>
          </a:p>
          <a:p>
            <a:pPr indent="0" lvl="0" marL="0" rtl="0" algn="l">
              <a:lnSpc>
                <a:spcPct val="100000"/>
              </a:lnSpc>
              <a:spcBef>
                <a:spcPts val="0"/>
              </a:spcBef>
              <a:spcAft>
                <a:spcPts val="0"/>
              </a:spcAft>
              <a:buNone/>
            </a:pPr>
            <a:r>
              <a:t/>
            </a:r>
            <a:endParaRPr sz="2500">
              <a:solidFill>
                <a:srgbClr val="000000"/>
              </a:solidFill>
            </a:endParaRPr>
          </a:p>
          <a:p>
            <a:pPr indent="-312261" lvl="2" marL="1371600" rtl="0" algn="l">
              <a:lnSpc>
                <a:spcPct val="100000"/>
              </a:lnSpc>
              <a:spcBef>
                <a:spcPts val="0"/>
              </a:spcBef>
              <a:spcAft>
                <a:spcPts val="0"/>
              </a:spcAft>
              <a:buClr>
                <a:srgbClr val="000000"/>
              </a:buClr>
              <a:buSzPct val="73913"/>
              <a:buFont typeface="Noto Sans Symbols"/>
              <a:buChar char="■"/>
            </a:pPr>
            <a:r>
              <a:rPr lang="pt-BR" sz="2300">
                <a:solidFill>
                  <a:srgbClr val="000000"/>
                </a:solidFill>
              </a:rPr>
              <a:t>Iniciar tudo com o mesmo valor &gt; 0 ?</a:t>
            </a:r>
            <a:endParaRPr sz="2300">
              <a:solidFill>
                <a:srgbClr val="000000"/>
              </a:solidFill>
            </a:endParaRPr>
          </a:p>
          <a:p>
            <a:pPr indent="0" lvl="0" marL="0" rtl="0" algn="l">
              <a:lnSpc>
                <a:spcPct val="100000"/>
              </a:lnSpc>
              <a:spcBef>
                <a:spcPts val="0"/>
              </a:spcBef>
              <a:spcAft>
                <a:spcPts val="0"/>
              </a:spcAft>
              <a:buNone/>
            </a:pPr>
            <a:r>
              <a:t/>
            </a:r>
            <a:endParaRPr sz="2400">
              <a:solidFill>
                <a:srgbClr val="000000"/>
              </a:solidFill>
            </a:endParaRPr>
          </a:p>
          <a:p>
            <a:pPr indent="-312261" lvl="2" marL="1371600" rtl="0" algn="l">
              <a:lnSpc>
                <a:spcPct val="100000"/>
              </a:lnSpc>
              <a:spcBef>
                <a:spcPts val="0"/>
              </a:spcBef>
              <a:spcAft>
                <a:spcPts val="0"/>
              </a:spcAft>
              <a:buClr>
                <a:srgbClr val="000000"/>
              </a:buClr>
              <a:buSzPct val="73913"/>
              <a:buFont typeface="Noto Sans Symbols"/>
              <a:buChar char="■"/>
            </a:pPr>
            <a:r>
              <a:rPr lang="pt-BR" sz="2300">
                <a:solidFill>
                  <a:srgbClr val="000000"/>
                </a:solidFill>
              </a:rPr>
              <a:t>Iniciar tudo com o mesmo valor &lt; 0 ?</a:t>
            </a:r>
            <a:endParaRPr sz="2300">
              <a:solidFill>
                <a:srgbClr val="000000"/>
              </a:solidFill>
            </a:endParaRPr>
          </a:p>
          <a:p>
            <a:pPr indent="0" lvl="0" marL="0" rtl="0" algn="l">
              <a:lnSpc>
                <a:spcPct val="100000"/>
              </a:lnSpc>
              <a:spcBef>
                <a:spcPts val="0"/>
              </a:spcBef>
              <a:spcAft>
                <a:spcPts val="0"/>
              </a:spcAft>
              <a:buNone/>
            </a:pPr>
            <a:r>
              <a:t/>
            </a:r>
            <a:endParaRPr sz="2400">
              <a:solidFill>
                <a:srgbClr val="000000"/>
              </a:solidFill>
            </a:endParaRPr>
          </a:p>
          <a:p>
            <a:pPr indent="-312261" lvl="2" marL="1371600" rtl="0" algn="l">
              <a:lnSpc>
                <a:spcPct val="100000"/>
              </a:lnSpc>
              <a:spcBef>
                <a:spcPts val="0"/>
              </a:spcBef>
              <a:spcAft>
                <a:spcPts val="0"/>
              </a:spcAft>
              <a:buClr>
                <a:srgbClr val="000000"/>
              </a:buClr>
              <a:buSzPct val="73913"/>
              <a:buFont typeface="Noto Sans Symbols"/>
              <a:buChar char="■"/>
            </a:pPr>
            <a:r>
              <a:rPr lang="pt-BR" sz="2300">
                <a:solidFill>
                  <a:srgbClr val="000000"/>
                </a:solidFill>
              </a:rPr>
              <a:t>Iniciar com valores aleatórios com variância alta ?</a:t>
            </a:r>
            <a:endParaRPr sz="2300">
              <a:solidFill>
                <a:srgbClr val="000000"/>
              </a:solidFill>
            </a:endParaRPr>
          </a:p>
          <a:p>
            <a:pPr indent="0" lvl="0" marL="0" rtl="0" algn="l">
              <a:lnSpc>
                <a:spcPct val="100000"/>
              </a:lnSpc>
              <a:spcBef>
                <a:spcPts val="0"/>
              </a:spcBef>
              <a:spcAft>
                <a:spcPts val="0"/>
              </a:spcAft>
              <a:buNone/>
            </a:pPr>
            <a:r>
              <a:t/>
            </a:r>
            <a:endParaRPr sz="2500">
              <a:solidFill>
                <a:srgbClr val="000000"/>
              </a:solidFill>
            </a:endParaRPr>
          </a:p>
          <a:p>
            <a:pPr indent="-312261" lvl="2" marL="1371600" rtl="0" algn="l">
              <a:lnSpc>
                <a:spcPct val="100000"/>
              </a:lnSpc>
              <a:spcBef>
                <a:spcPts val="0"/>
              </a:spcBef>
              <a:spcAft>
                <a:spcPts val="0"/>
              </a:spcAft>
              <a:buClr>
                <a:srgbClr val="000000"/>
              </a:buClr>
              <a:buSzPct val="73913"/>
              <a:buFont typeface="Noto Sans Symbols"/>
              <a:buChar char="■"/>
            </a:pPr>
            <a:r>
              <a:rPr lang="pt-BR" sz="2300">
                <a:solidFill>
                  <a:srgbClr val="000000"/>
                </a:solidFill>
              </a:rPr>
              <a:t>Iniciar com valores aleatórios com variância baixa ?</a:t>
            </a:r>
            <a:endParaRPr sz="2300">
              <a:solidFill>
                <a:srgbClr val="000000"/>
              </a:solidFill>
            </a:endParaRPr>
          </a:p>
          <a:p>
            <a:pPr indent="0" lvl="0" marL="914400" rtl="0" algn="l">
              <a:spcBef>
                <a:spcPts val="900"/>
              </a:spcBef>
              <a:spcAft>
                <a:spcPts val="200"/>
              </a:spcAft>
              <a:buNone/>
            </a:pPr>
            <a:r>
              <a:t/>
            </a:r>
            <a:endParaRPr/>
          </a:p>
        </p:txBody>
      </p:sp>
      <p:pic>
        <p:nvPicPr>
          <p:cNvPr id="282" name="Google Shape;282;p48"/>
          <p:cNvPicPr preferRelativeResize="0"/>
          <p:nvPr/>
        </p:nvPicPr>
        <p:blipFill>
          <a:blip r:embed="rId3">
            <a:alphaModFix/>
          </a:blip>
          <a:stretch>
            <a:fillRect/>
          </a:stretch>
        </p:blipFill>
        <p:spPr>
          <a:xfrm>
            <a:off x="8050625" y="44817"/>
            <a:ext cx="1093375" cy="13223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49"/>
          <p:cNvSpPr txBox="1"/>
          <p:nvPr>
            <p:ph type="title"/>
          </p:nvPr>
        </p:nvSpPr>
        <p:spPr>
          <a:xfrm>
            <a:off x="822960" y="214952"/>
            <a:ext cx="7543800" cy="1088100"/>
          </a:xfrm>
          <a:prstGeom prst="rect">
            <a:avLst/>
          </a:prstGeom>
        </p:spPr>
        <p:txBody>
          <a:bodyPr anchorCtr="0" anchor="b" bIns="34275" lIns="68575" spcFirstLastPara="1" rIns="68575" wrap="square" tIns="34275">
            <a:normAutofit/>
          </a:bodyPr>
          <a:lstStyle/>
          <a:p>
            <a:pPr indent="0" lvl="0" marL="0" rtl="0" algn="l">
              <a:lnSpc>
                <a:spcPct val="115000"/>
              </a:lnSpc>
              <a:spcBef>
                <a:spcPts val="2400"/>
              </a:spcBef>
              <a:spcAft>
                <a:spcPts val="0"/>
              </a:spcAft>
              <a:buClr>
                <a:schemeClr val="dk1"/>
              </a:buClr>
              <a:buSzPts val="1100"/>
              <a:buFont typeface="Arial"/>
              <a:buNone/>
            </a:pPr>
            <a:r>
              <a:rPr b="1" lang="pt-BR" sz="2300">
                <a:solidFill>
                  <a:srgbClr val="3D3B49"/>
                </a:solidFill>
                <a:highlight>
                  <a:schemeClr val="lt1"/>
                </a:highlight>
              </a:rPr>
              <a:t>Parametrização - Inicialização de Pesos</a:t>
            </a:r>
            <a:endParaRPr b="1" sz="2300">
              <a:solidFill>
                <a:srgbClr val="3D3B49"/>
              </a:solidFill>
              <a:highlight>
                <a:srgbClr val="FFFFFF"/>
              </a:highlight>
            </a:endParaRPr>
          </a:p>
          <a:p>
            <a:pPr indent="0" lvl="0" marL="0" rtl="0" algn="l">
              <a:spcBef>
                <a:spcPts val="600"/>
              </a:spcBef>
              <a:spcAft>
                <a:spcPts val="0"/>
              </a:spcAft>
              <a:buNone/>
            </a:pPr>
            <a:r>
              <a:t/>
            </a:r>
            <a:endParaRPr/>
          </a:p>
        </p:txBody>
      </p:sp>
      <p:sp>
        <p:nvSpPr>
          <p:cNvPr id="288" name="Google Shape;288;p49"/>
          <p:cNvSpPr txBox="1"/>
          <p:nvPr>
            <p:ph idx="1" type="body"/>
          </p:nvPr>
        </p:nvSpPr>
        <p:spPr>
          <a:xfrm>
            <a:off x="53600" y="1303050"/>
            <a:ext cx="8962800" cy="3840300"/>
          </a:xfrm>
          <a:prstGeom prst="rect">
            <a:avLst/>
          </a:prstGeom>
        </p:spPr>
        <p:txBody>
          <a:bodyPr anchorCtr="0" anchor="t" bIns="34275" lIns="0" spcFirstLastPara="1" rIns="0" wrap="square" tIns="34275">
            <a:normAutofit fontScale="77500" lnSpcReduction="20000"/>
          </a:bodyPr>
          <a:lstStyle/>
          <a:p>
            <a:pPr indent="-297498" lvl="0" marL="457200" rtl="0" algn="l">
              <a:spcBef>
                <a:spcPts val="900"/>
              </a:spcBef>
              <a:spcAft>
                <a:spcPts val="0"/>
              </a:spcAft>
              <a:buSzPct val="77778"/>
              <a:buChar char="●"/>
            </a:pPr>
            <a:r>
              <a:rPr lang="pt-BR"/>
              <a:t>Soluções/parametrizações propostas:</a:t>
            </a:r>
            <a:endParaRPr/>
          </a:p>
          <a:p>
            <a:pPr indent="0" lvl="0" marL="457200" rtl="0" algn="l">
              <a:spcBef>
                <a:spcPts val="900"/>
              </a:spcBef>
              <a:spcAft>
                <a:spcPts val="0"/>
              </a:spcAft>
              <a:buNone/>
            </a:pPr>
            <a:r>
              <a:t/>
            </a:r>
            <a:endParaRPr/>
          </a:p>
          <a:p>
            <a:pPr indent="-297498" lvl="1" marL="914400" rtl="0" algn="l">
              <a:spcBef>
                <a:spcPts val="200"/>
              </a:spcBef>
              <a:spcAft>
                <a:spcPts val="0"/>
              </a:spcAft>
              <a:buSzPct val="100000"/>
              <a:buChar char="○"/>
            </a:pPr>
            <a:r>
              <a:rPr lang="pt-BR"/>
              <a:t>Inicialização Glorot/Xavier (2010)</a:t>
            </a:r>
            <a:endParaRPr/>
          </a:p>
          <a:p>
            <a:pPr indent="0" lvl="0" marL="0" rtl="0" algn="l">
              <a:spcBef>
                <a:spcPts val="900"/>
              </a:spcBef>
              <a:spcAft>
                <a:spcPts val="0"/>
              </a:spcAft>
              <a:buNone/>
            </a:pPr>
            <a:r>
              <a:t/>
            </a:r>
            <a:endParaRPr/>
          </a:p>
          <a:p>
            <a:pPr indent="-297498" lvl="2" marL="1371600" rtl="0" algn="l">
              <a:spcBef>
                <a:spcPts val="200"/>
              </a:spcBef>
              <a:spcAft>
                <a:spcPts val="0"/>
              </a:spcAft>
              <a:buSzPct val="100000"/>
              <a:buChar char="■"/>
            </a:pPr>
            <a:r>
              <a:rPr lang="pt-BR"/>
              <a:t>Para cada camada: </a:t>
            </a:r>
            <a:endParaRPr/>
          </a:p>
          <a:p>
            <a:pPr indent="-297498" lvl="3" marL="1828800" rtl="0" algn="l">
              <a:spcBef>
                <a:spcPts val="0"/>
              </a:spcBef>
              <a:spcAft>
                <a:spcPts val="0"/>
              </a:spcAft>
              <a:buSzPct val="100000"/>
              <a:buChar char="●"/>
            </a:pPr>
            <a:r>
              <a:rPr b="1" lang="pt-BR"/>
              <a:t>A variância da entrada (features de entrada da camada) deve ser igual à variância dos gradientes de atualização dos pesos da saída.</a:t>
            </a:r>
            <a:endParaRPr b="1"/>
          </a:p>
          <a:p>
            <a:pPr indent="-297498" lvl="4" marL="2286000" rtl="0" algn="l">
              <a:spcBef>
                <a:spcPts val="0"/>
              </a:spcBef>
              <a:spcAft>
                <a:spcPts val="0"/>
              </a:spcAft>
              <a:buSzPct val="100000"/>
              <a:buChar char="○"/>
            </a:pPr>
            <a:r>
              <a:rPr lang="pt-BR"/>
              <a:t>Padroniza o fluxo de propagação e de backpropagation</a:t>
            </a:r>
            <a:endParaRPr/>
          </a:p>
          <a:p>
            <a:pPr indent="0" lvl="0" marL="2286000" rtl="0" algn="l">
              <a:spcBef>
                <a:spcPts val="900"/>
              </a:spcBef>
              <a:spcAft>
                <a:spcPts val="0"/>
              </a:spcAft>
              <a:buNone/>
            </a:pPr>
            <a:r>
              <a:t/>
            </a:r>
            <a:endParaRPr/>
          </a:p>
          <a:p>
            <a:pPr indent="-297498" lvl="2" marL="1371600" rtl="0" algn="l">
              <a:spcBef>
                <a:spcPts val="200"/>
              </a:spcBef>
              <a:spcAft>
                <a:spcPts val="0"/>
              </a:spcAft>
              <a:buSzPct val="100000"/>
              <a:buChar char="■"/>
            </a:pPr>
            <a:r>
              <a:rPr lang="pt-BR"/>
              <a:t>Distribuição uniforme entre -r e r, com:</a:t>
            </a:r>
            <a:endParaRPr/>
          </a:p>
          <a:p>
            <a:pPr indent="0" lvl="0" marL="1371600" rtl="0" algn="l">
              <a:spcBef>
                <a:spcPts val="900"/>
              </a:spcBef>
              <a:spcAft>
                <a:spcPts val="0"/>
              </a:spcAft>
              <a:buNone/>
            </a:pPr>
            <a:r>
              <a:t/>
            </a:r>
            <a:endParaRPr/>
          </a:p>
          <a:p>
            <a:pPr indent="0" lvl="0" marL="1371600" rtl="0" algn="l">
              <a:spcBef>
                <a:spcPts val="900"/>
              </a:spcBef>
              <a:spcAft>
                <a:spcPts val="0"/>
              </a:spcAft>
              <a:buNone/>
            </a:pPr>
            <a:r>
              <a:t/>
            </a:r>
            <a:endParaRPr/>
          </a:p>
          <a:p>
            <a:pPr indent="0" lvl="0" marL="1371600" rtl="0" algn="l">
              <a:spcBef>
                <a:spcPts val="900"/>
              </a:spcBef>
              <a:spcAft>
                <a:spcPts val="0"/>
              </a:spcAft>
              <a:buNone/>
            </a:pPr>
            <a:r>
              <a:t/>
            </a:r>
            <a:endParaRPr/>
          </a:p>
          <a:p>
            <a:pPr indent="0" lvl="0" marL="1371600" rtl="0" algn="l">
              <a:spcBef>
                <a:spcPts val="900"/>
              </a:spcBef>
              <a:spcAft>
                <a:spcPts val="0"/>
              </a:spcAft>
              <a:buNone/>
            </a:pPr>
            <a:r>
              <a:rPr lang="pt-BR" sz="1400"/>
              <a:t>onde n_inputs é o número de conexões de entrada da camada, n_outputs é o número de conexões de saída da camada.</a:t>
            </a:r>
            <a:endParaRPr sz="1400"/>
          </a:p>
          <a:p>
            <a:pPr indent="0" lvl="0" marL="0" rtl="0" algn="l">
              <a:spcBef>
                <a:spcPts val="900"/>
              </a:spcBef>
              <a:spcAft>
                <a:spcPts val="0"/>
              </a:spcAft>
              <a:buNone/>
            </a:pPr>
            <a:r>
              <a:t/>
            </a:r>
            <a:endParaRPr sz="1400"/>
          </a:p>
          <a:p>
            <a:pPr indent="0" lvl="0" marL="0" rtl="0" algn="l">
              <a:spcBef>
                <a:spcPts val="900"/>
              </a:spcBef>
              <a:spcAft>
                <a:spcPts val="0"/>
              </a:spcAft>
              <a:buNone/>
            </a:pPr>
            <a:r>
              <a:rPr lang="pt-BR"/>
              <a:t>Exemplo no keras:</a:t>
            </a:r>
            <a:br>
              <a:rPr lang="pt-BR"/>
            </a:br>
            <a:r>
              <a:rPr lang="pt-BR" sz="1050">
                <a:solidFill>
                  <a:srgbClr val="008000"/>
                </a:solidFill>
                <a:highlight>
                  <a:srgbClr val="FFFFFE"/>
                </a:highlight>
                <a:latin typeface="Courier New"/>
                <a:ea typeface="Courier New"/>
                <a:cs typeface="Courier New"/>
                <a:sym typeface="Courier New"/>
              </a:rPr>
              <a:t>model.add(keras.layers.Dense(100,kernel_initializer="glorot_uniform"))</a:t>
            </a:r>
            <a:endParaRPr sz="1050">
              <a:solidFill>
                <a:srgbClr val="008000"/>
              </a:solidFill>
              <a:highlight>
                <a:srgbClr val="FFFFFE"/>
              </a:highlight>
              <a:latin typeface="Courier New"/>
              <a:ea typeface="Courier New"/>
              <a:cs typeface="Courier New"/>
              <a:sym typeface="Courier New"/>
            </a:endParaRPr>
          </a:p>
          <a:p>
            <a:pPr indent="0" lvl="0" marL="0" rtl="0" algn="l">
              <a:spcBef>
                <a:spcPts val="900"/>
              </a:spcBef>
              <a:spcAft>
                <a:spcPts val="0"/>
              </a:spcAft>
              <a:buNone/>
            </a:pPr>
            <a:r>
              <a:t/>
            </a:r>
            <a:endParaRPr sz="1284"/>
          </a:p>
          <a:p>
            <a:pPr indent="0" lvl="0" marL="0" rtl="0" algn="l">
              <a:spcBef>
                <a:spcPts val="900"/>
              </a:spcBef>
              <a:spcAft>
                <a:spcPts val="200"/>
              </a:spcAft>
              <a:buNone/>
            </a:pPr>
            <a:r>
              <a:rPr lang="pt-BR" sz="1284"/>
              <a:t>Fonte: https://proceedings.mlr.press/v9/glorot10a/glorot10a.pdf</a:t>
            </a:r>
            <a:endParaRPr sz="1284"/>
          </a:p>
        </p:txBody>
      </p:sp>
      <p:pic>
        <p:nvPicPr>
          <p:cNvPr id="289" name="Google Shape;289;p49"/>
          <p:cNvPicPr preferRelativeResize="0"/>
          <p:nvPr/>
        </p:nvPicPr>
        <p:blipFill>
          <a:blip r:embed="rId3">
            <a:alphaModFix/>
          </a:blip>
          <a:stretch>
            <a:fillRect/>
          </a:stretch>
        </p:blipFill>
        <p:spPr>
          <a:xfrm>
            <a:off x="8050625" y="44817"/>
            <a:ext cx="1093375" cy="1322300"/>
          </a:xfrm>
          <a:prstGeom prst="rect">
            <a:avLst/>
          </a:prstGeom>
          <a:noFill/>
          <a:ln>
            <a:noFill/>
          </a:ln>
        </p:spPr>
      </p:pic>
      <p:pic>
        <p:nvPicPr>
          <p:cNvPr id="290" name="Google Shape;290;p49"/>
          <p:cNvPicPr preferRelativeResize="0"/>
          <p:nvPr/>
        </p:nvPicPr>
        <p:blipFill>
          <a:blip r:embed="rId4">
            <a:alphaModFix/>
          </a:blip>
          <a:stretch>
            <a:fillRect/>
          </a:stretch>
        </p:blipFill>
        <p:spPr>
          <a:xfrm>
            <a:off x="1633750" y="3212925"/>
            <a:ext cx="2105025" cy="5334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50"/>
          <p:cNvSpPr txBox="1"/>
          <p:nvPr>
            <p:ph type="title"/>
          </p:nvPr>
        </p:nvSpPr>
        <p:spPr>
          <a:xfrm>
            <a:off x="822960" y="214952"/>
            <a:ext cx="7543800" cy="1088100"/>
          </a:xfrm>
          <a:prstGeom prst="rect">
            <a:avLst/>
          </a:prstGeom>
        </p:spPr>
        <p:txBody>
          <a:bodyPr anchorCtr="0" anchor="b" bIns="34275" lIns="68575" spcFirstLastPara="1" rIns="68575" wrap="square" tIns="34275">
            <a:normAutofit/>
          </a:bodyPr>
          <a:lstStyle/>
          <a:p>
            <a:pPr indent="0" lvl="0" marL="0" rtl="0" algn="l">
              <a:lnSpc>
                <a:spcPct val="115000"/>
              </a:lnSpc>
              <a:spcBef>
                <a:spcPts val="2400"/>
              </a:spcBef>
              <a:spcAft>
                <a:spcPts val="0"/>
              </a:spcAft>
              <a:buClr>
                <a:schemeClr val="dk1"/>
              </a:buClr>
              <a:buSzPts val="1100"/>
              <a:buFont typeface="Arial"/>
              <a:buNone/>
            </a:pPr>
            <a:r>
              <a:rPr b="1" lang="pt-BR" sz="2300">
                <a:solidFill>
                  <a:srgbClr val="3D3B49"/>
                </a:solidFill>
                <a:highlight>
                  <a:schemeClr val="lt1"/>
                </a:highlight>
              </a:rPr>
              <a:t>Parametrização - Inicialização de Pesos</a:t>
            </a:r>
            <a:endParaRPr b="1" sz="2300">
              <a:solidFill>
                <a:srgbClr val="3D3B49"/>
              </a:solidFill>
              <a:highlight>
                <a:srgbClr val="FFFFFF"/>
              </a:highlight>
            </a:endParaRPr>
          </a:p>
          <a:p>
            <a:pPr indent="0" lvl="0" marL="0" rtl="0" algn="l">
              <a:spcBef>
                <a:spcPts val="600"/>
              </a:spcBef>
              <a:spcAft>
                <a:spcPts val="0"/>
              </a:spcAft>
              <a:buNone/>
            </a:pPr>
            <a:r>
              <a:t/>
            </a:r>
            <a:endParaRPr/>
          </a:p>
        </p:txBody>
      </p:sp>
      <p:sp>
        <p:nvSpPr>
          <p:cNvPr id="296" name="Google Shape;296;p50"/>
          <p:cNvSpPr txBox="1"/>
          <p:nvPr>
            <p:ph idx="1" type="body"/>
          </p:nvPr>
        </p:nvSpPr>
        <p:spPr>
          <a:xfrm>
            <a:off x="53600" y="1303050"/>
            <a:ext cx="8962800" cy="3840300"/>
          </a:xfrm>
          <a:prstGeom prst="rect">
            <a:avLst/>
          </a:prstGeom>
        </p:spPr>
        <p:txBody>
          <a:bodyPr anchorCtr="0" anchor="t" bIns="34275" lIns="0" spcFirstLastPara="1" rIns="0" wrap="square" tIns="34275">
            <a:normAutofit/>
          </a:bodyPr>
          <a:lstStyle/>
          <a:p>
            <a:pPr indent="-317500" lvl="0" marL="457200" rtl="0" algn="l">
              <a:spcBef>
                <a:spcPts val="900"/>
              </a:spcBef>
              <a:spcAft>
                <a:spcPts val="0"/>
              </a:spcAft>
              <a:buSzPts val="1400"/>
              <a:buChar char="●"/>
            </a:pPr>
            <a:r>
              <a:rPr lang="pt-BR"/>
              <a:t>Soluções/parametrizações propostas:</a:t>
            </a:r>
            <a:endParaRPr/>
          </a:p>
          <a:p>
            <a:pPr indent="0" lvl="0" marL="457200" rtl="0" algn="l">
              <a:spcBef>
                <a:spcPts val="900"/>
              </a:spcBef>
              <a:spcAft>
                <a:spcPts val="0"/>
              </a:spcAft>
              <a:buNone/>
            </a:pPr>
            <a:r>
              <a:t/>
            </a:r>
            <a:endParaRPr/>
          </a:p>
          <a:p>
            <a:pPr indent="-317500" lvl="1" marL="914400" rtl="0" algn="l">
              <a:spcBef>
                <a:spcPts val="200"/>
              </a:spcBef>
              <a:spcAft>
                <a:spcPts val="0"/>
              </a:spcAft>
              <a:buSzPts val="1400"/>
              <a:buChar char="○"/>
            </a:pPr>
            <a:r>
              <a:rPr lang="pt-BR"/>
              <a:t>Inicialização Kaiming/He (2015)</a:t>
            </a:r>
            <a:endParaRPr/>
          </a:p>
          <a:p>
            <a:pPr indent="-317500" lvl="2" marL="1371600" rtl="0" algn="l">
              <a:spcBef>
                <a:spcPts val="0"/>
              </a:spcBef>
              <a:spcAft>
                <a:spcPts val="0"/>
              </a:spcAft>
              <a:buSzPts val="1400"/>
              <a:buChar char="■"/>
            </a:pPr>
            <a:r>
              <a:rPr lang="pt-BR"/>
              <a:t>Baseada em</a:t>
            </a:r>
            <a:r>
              <a:rPr lang="pt-BR"/>
              <a:t> Glorot/Xavier</a:t>
            </a:r>
            <a:endParaRPr/>
          </a:p>
          <a:p>
            <a:pPr indent="-317500" lvl="2" marL="1371600" rtl="0" algn="l">
              <a:spcBef>
                <a:spcPts val="0"/>
              </a:spcBef>
              <a:spcAft>
                <a:spcPts val="0"/>
              </a:spcAft>
              <a:buSzPts val="1400"/>
              <a:buChar char="■"/>
            </a:pPr>
            <a:r>
              <a:rPr lang="pt-BR"/>
              <a:t>Adapta o cálculo da variância </a:t>
            </a:r>
            <a:r>
              <a:rPr lang="pt-BR">
                <a:solidFill>
                  <a:srgbClr val="FF0000"/>
                </a:solidFill>
              </a:rPr>
              <a:t>para função de ativação ReLU</a:t>
            </a:r>
            <a:r>
              <a:rPr lang="pt-BR"/>
              <a:t> (e suas semelhantes)</a:t>
            </a:r>
            <a:endParaRPr/>
          </a:p>
          <a:p>
            <a:pPr indent="-317500" lvl="3" marL="1828800" rtl="0" algn="l">
              <a:spcBef>
                <a:spcPts val="0"/>
              </a:spcBef>
              <a:spcAft>
                <a:spcPts val="0"/>
              </a:spcAft>
              <a:buSzPts val="1400"/>
              <a:buChar char="●"/>
            </a:pPr>
            <a:r>
              <a:rPr lang="pt-BR"/>
              <a:t>utiliza número de conexões de entrada entrada</a:t>
            </a:r>
            <a:endParaRPr/>
          </a:p>
          <a:p>
            <a:pPr indent="0" lvl="0" marL="0" rtl="0" algn="l">
              <a:spcBef>
                <a:spcPts val="900"/>
              </a:spcBef>
              <a:spcAft>
                <a:spcPts val="0"/>
              </a:spcAft>
              <a:buNone/>
            </a:pPr>
            <a:r>
              <a:t/>
            </a:r>
            <a:endParaRPr sz="1400"/>
          </a:p>
          <a:p>
            <a:pPr indent="0" lvl="0" marL="0" rtl="0" algn="l">
              <a:spcBef>
                <a:spcPts val="900"/>
              </a:spcBef>
              <a:spcAft>
                <a:spcPts val="0"/>
              </a:spcAft>
              <a:buNone/>
            </a:pPr>
            <a:r>
              <a:t/>
            </a:r>
            <a:endParaRPr sz="1400"/>
          </a:p>
          <a:p>
            <a:pPr indent="0" lvl="0" marL="0" rtl="0" algn="l">
              <a:spcBef>
                <a:spcPts val="900"/>
              </a:spcBef>
              <a:spcAft>
                <a:spcPts val="0"/>
              </a:spcAft>
              <a:buNone/>
            </a:pPr>
            <a:r>
              <a:t/>
            </a:r>
            <a:endParaRPr sz="1400"/>
          </a:p>
          <a:p>
            <a:pPr indent="0" lvl="0" marL="0" rtl="0" algn="l">
              <a:spcBef>
                <a:spcPts val="900"/>
              </a:spcBef>
              <a:spcAft>
                <a:spcPts val="0"/>
              </a:spcAft>
              <a:buNone/>
            </a:pPr>
            <a:r>
              <a:rPr lang="pt-BR"/>
              <a:t>Exemplo no keras:</a:t>
            </a:r>
            <a:br>
              <a:rPr lang="pt-BR"/>
            </a:br>
            <a:r>
              <a:rPr lang="pt-BR" sz="1050">
                <a:solidFill>
                  <a:srgbClr val="008000"/>
                </a:solidFill>
                <a:highlight>
                  <a:srgbClr val="FFFFFE"/>
                </a:highlight>
                <a:latin typeface="Courier New"/>
                <a:ea typeface="Courier New"/>
                <a:cs typeface="Courier New"/>
                <a:sym typeface="Courier New"/>
              </a:rPr>
              <a:t>model.add(keras.layers.Dense(100,</a:t>
            </a:r>
            <a:r>
              <a:rPr lang="pt-BR" sz="1050">
                <a:solidFill>
                  <a:srgbClr val="008000"/>
                </a:solidFill>
                <a:highlight>
                  <a:srgbClr val="FFFFFE"/>
                </a:highlight>
                <a:latin typeface="Courier New"/>
                <a:ea typeface="Courier New"/>
                <a:cs typeface="Courier New"/>
                <a:sym typeface="Courier New"/>
              </a:rPr>
              <a:t>activation="relu",</a:t>
            </a:r>
            <a:r>
              <a:rPr lang="pt-BR" sz="1050">
                <a:solidFill>
                  <a:srgbClr val="008000"/>
                </a:solidFill>
                <a:highlight>
                  <a:srgbClr val="FFFFFE"/>
                </a:highlight>
                <a:latin typeface="Courier New"/>
                <a:ea typeface="Courier New"/>
                <a:cs typeface="Courier New"/>
                <a:sym typeface="Courier New"/>
              </a:rPr>
              <a:t>kernel_initializer="he_uniform"))</a:t>
            </a:r>
            <a:endParaRPr sz="1050">
              <a:solidFill>
                <a:srgbClr val="008000"/>
              </a:solidFill>
              <a:highlight>
                <a:srgbClr val="FFFFFE"/>
              </a:highlight>
              <a:latin typeface="Courier New"/>
              <a:ea typeface="Courier New"/>
              <a:cs typeface="Courier New"/>
              <a:sym typeface="Courier New"/>
            </a:endParaRPr>
          </a:p>
          <a:p>
            <a:pPr indent="0" lvl="0" marL="0" rtl="0" algn="l">
              <a:spcBef>
                <a:spcPts val="900"/>
              </a:spcBef>
              <a:spcAft>
                <a:spcPts val="200"/>
              </a:spcAft>
              <a:buNone/>
            </a:pPr>
            <a:r>
              <a:t/>
            </a:r>
            <a:endParaRPr/>
          </a:p>
        </p:txBody>
      </p:sp>
      <p:pic>
        <p:nvPicPr>
          <p:cNvPr id="297" name="Google Shape;297;p50"/>
          <p:cNvPicPr preferRelativeResize="0"/>
          <p:nvPr/>
        </p:nvPicPr>
        <p:blipFill>
          <a:blip r:embed="rId3">
            <a:alphaModFix/>
          </a:blip>
          <a:stretch>
            <a:fillRect/>
          </a:stretch>
        </p:blipFill>
        <p:spPr>
          <a:xfrm>
            <a:off x="8050625" y="44817"/>
            <a:ext cx="1093375" cy="13223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51"/>
          <p:cNvSpPr txBox="1"/>
          <p:nvPr>
            <p:ph type="title"/>
          </p:nvPr>
        </p:nvSpPr>
        <p:spPr>
          <a:xfrm>
            <a:off x="822960" y="214952"/>
            <a:ext cx="7543800" cy="1088100"/>
          </a:xfrm>
          <a:prstGeom prst="rect">
            <a:avLst/>
          </a:prstGeom>
        </p:spPr>
        <p:txBody>
          <a:bodyPr anchorCtr="0" anchor="b" bIns="34275" lIns="68575" spcFirstLastPara="1" rIns="68575" wrap="square" tIns="34275">
            <a:normAutofit/>
          </a:bodyPr>
          <a:lstStyle/>
          <a:p>
            <a:pPr indent="0" lvl="0" marL="0" rtl="0" algn="l">
              <a:lnSpc>
                <a:spcPct val="115000"/>
              </a:lnSpc>
              <a:spcBef>
                <a:spcPts val="2400"/>
              </a:spcBef>
              <a:spcAft>
                <a:spcPts val="0"/>
              </a:spcAft>
              <a:buClr>
                <a:schemeClr val="dk1"/>
              </a:buClr>
              <a:buSzPts val="1100"/>
              <a:buFont typeface="Arial"/>
              <a:buNone/>
            </a:pPr>
            <a:r>
              <a:rPr b="1" lang="pt-BR" sz="2300">
                <a:solidFill>
                  <a:srgbClr val="3D3B49"/>
                </a:solidFill>
                <a:highlight>
                  <a:schemeClr val="lt1"/>
                </a:highlight>
              </a:rPr>
              <a:t>Parametrização - Inicialização de Pesos</a:t>
            </a:r>
            <a:endParaRPr b="1" sz="2300">
              <a:solidFill>
                <a:srgbClr val="3D3B49"/>
              </a:solidFill>
              <a:highlight>
                <a:srgbClr val="FFFFFF"/>
              </a:highlight>
            </a:endParaRPr>
          </a:p>
          <a:p>
            <a:pPr indent="0" lvl="0" marL="0" rtl="0" algn="l">
              <a:spcBef>
                <a:spcPts val="600"/>
              </a:spcBef>
              <a:spcAft>
                <a:spcPts val="0"/>
              </a:spcAft>
              <a:buNone/>
            </a:pPr>
            <a:r>
              <a:t/>
            </a:r>
            <a:endParaRPr/>
          </a:p>
        </p:txBody>
      </p:sp>
      <p:sp>
        <p:nvSpPr>
          <p:cNvPr id="303" name="Google Shape;303;p51"/>
          <p:cNvSpPr txBox="1"/>
          <p:nvPr>
            <p:ph idx="1" type="body"/>
          </p:nvPr>
        </p:nvSpPr>
        <p:spPr>
          <a:xfrm>
            <a:off x="53600" y="1303050"/>
            <a:ext cx="8962800" cy="3840300"/>
          </a:xfrm>
          <a:prstGeom prst="rect">
            <a:avLst/>
          </a:prstGeom>
        </p:spPr>
        <p:txBody>
          <a:bodyPr anchorCtr="0" anchor="t" bIns="34275" lIns="0" spcFirstLastPara="1" rIns="0" wrap="square" tIns="34275">
            <a:normAutofit lnSpcReduction="10000"/>
          </a:bodyPr>
          <a:lstStyle/>
          <a:p>
            <a:pPr indent="-317500" lvl="0" marL="457200" rtl="0" algn="l">
              <a:spcBef>
                <a:spcPts val="900"/>
              </a:spcBef>
              <a:spcAft>
                <a:spcPts val="0"/>
              </a:spcAft>
              <a:buSzPts val="1400"/>
              <a:buChar char="●"/>
            </a:pPr>
            <a:r>
              <a:rPr lang="pt-BR"/>
              <a:t>Soluções/parametrizações propostas:</a:t>
            </a:r>
            <a:endParaRPr/>
          </a:p>
          <a:p>
            <a:pPr indent="0" lvl="0" marL="457200" rtl="0" algn="l">
              <a:spcBef>
                <a:spcPts val="900"/>
              </a:spcBef>
              <a:spcAft>
                <a:spcPts val="0"/>
              </a:spcAft>
              <a:buNone/>
            </a:pPr>
            <a:r>
              <a:t/>
            </a:r>
            <a:endParaRPr/>
          </a:p>
          <a:p>
            <a:pPr indent="-317500" lvl="1" marL="914400" rtl="0" algn="l">
              <a:spcBef>
                <a:spcPts val="200"/>
              </a:spcBef>
              <a:spcAft>
                <a:spcPts val="0"/>
              </a:spcAft>
              <a:buSzPts val="1400"/>
              <a:buChar char="○"/>
            </a:pPr>
            <a:r>
              <a:rPr lang="pt-BR"/>
              <a:t>Funções de ativação não saturadas:</a:t>
            </a:r>
            <a:endParaRPr/>
          </a:p>
          <a:p>
            <a:pPr indent="-317500" lvl="2" marL="1371600" rtl="0" algn="l">
              <a:spcBef>
                <a:spcPts val="0"/>
              </a:spcBef>
              <a:spcAft>
                <a:spcPts val="0"/>
              </a:spcAft>
              <a:buSzPts val="1400"/>
              <a:buChar char="■"/>
            </a:pPr>
            <a:r>
              <a:rPr lang="pt-BR"/>
              <a:t>Segundo Glorot (2010), a escolha da função de ativação pode ser um dos culpados!</a:t>
            </a:r>
            <a:endParaRPr/>
          </a:p>
          <a:p>
            <a:pPr indent="-317500" lvl="2" marL="1371600" rtl="0" algn="l">
              <a:spcBef>
                <a:spcPts val="0"/>
              </a:spcBef>
              <a:spcAft>
                <a:spcPts val="0"/>
              </a:spcAft>
              <a:buSzPts val="1400"/>
              <a:buChar char="■"/>
            </a:pPr>
            <a:r>
              <a:rPr lang="pt-BR"/>
              <a:t>Até 2010, a idéia era assumir a sigmoid (neurônios biológicos)...</a:t>
            </a:r>
            <a:endParaRPr/>
          </a:p>
          <a:p>
            <a:pPr indent="-317500" lvl="3" marL="1828800" rtl="0" algn="l">
              <a:spcBef>
                <a:spcPts val="0"/>
              </a:spcBef>
              <a:spcAft>
                <a:spcPts val="0"/>
              </a:spcAft>
              <a:buSzPts val="1400"/>
              <a:buChar char="●"/>
            </a:pPr>
            <a:r>
              <a:rPr lang="pt-BR"/>
              <a:t>mas satura fácil no backpropagation.</a:t>
            </a:r>
            <a:endParaRPr/>
          </a:p>
          <a:p>
            <a:pPr indent="-317500" lvl="2" marL="1371600" rtl="0" algn="l">
              <a:spcBef>
                <a:spcPts val="0"/>
              </a:spcBef>
              <a:spcAft>
                <a:spcPts val="0"/>
              </a:spcAft>
              <a:buSzPts val="1400"/>
              <a:buChar char="■"/>
            </a:pPr>
            <a:r>
              <a:rPr lang="pt-BR"/>
              <a:t>Para redes profundas, uma idéia seria utilizar ReLU (não satura p/ positivos, e rápida de computar)</a:t>
            </a:r>
            <a:endParaRPr/>
          </a:p>
          <a:p>
            <a:pPr indent="-317500" lvl="3" marL="1828800" rtl="0" algn="l">
              <a:spcBef>
                <a:spcPts val="0"/>
              </a:spcBef>
              <a:spcAft>
                <a:spcPts val="0"/>
              </a:spcAft>
              <a:buSzPts val="1400"/>
              <a:buChar char="●"/>
            </a:pPr>
            <a:r>
              <a:rPr lang="pt-BR"/>
              <a:t>Alternativamente: leaky ReLU </a:t>
            </a:r>
            <a:endParaRPr/>
          </a:p>
          <a:p>
            <a:pPr indent="0" lvl="0" marL="0" rtl="0" algn="l">
              <a:spcBef>
                <a:spcPts val="900"/>
              </a:spcBef>
              <a:spcAft>
                <a:spcPts val="0"/>
              </a:spcAft>
              <a:buNone/>
            </a:pPr>
            <a:r>
              <a:t/>
            </a:r>
            <a:endParaRPr sz="1400"/>
          </a:p>
          <a:p>
            <a:pPr indent="0" lvl="0" marL="0" rtl="0" algn="l">
              <a:spcBef>
                <a:spcPts val="900"/>
              </a:spcBef>
              <a:spcAft>
                <a:spcPts val="0"/>
              </a:spcAft>
              <a:buNone/>
            </a:pPr>
            <a:r>
              <a:t/>
            </a:r>
            <a:endParaRPr sz="1400"/>
          </a:p>
          <a:p>
            <a:pPr indent="0" lvl="0" marL="0" rtl="0" algn="l">
              <a:spcBef>
                <a:spcPts val="900"/>
              </a:spcBef>
              <a:spcAft>
                <a:spcPts val="0"/>
              </a:spcAft>
              <a:buNone/>
            </a:pPr>
            <a:r>
              <a:t/>
            </a:r>
            <a:endParaRPr sz="1400"/>
          </a:p>
          <a:p>
            <a:pPr indent="0" lvl="0" marL="0" rtl="0" algn="l">
              <a:spcBef>
                <a:spcPts val="900"/>
              </a:spcBef>
              <a:spcAft>
                <a:spcPts val="0"/>
              </a:spcAft>
              <a:buNone/>
            </a:pPr>
            <a:r>
              <a:t/>
            </a:r>
            <a:endParaRPr sz="1400"/>
          </a:p>
          <a:p>
            <a:pPr indent="0" lvl="0" marL="0" rtl="0" algn="l">
              <a:spcBef>
                <a:spcPts val="900"/>
              </a:spcBef>
              <a:spcAft>
                <a:spcPts val="0"/>
              </a:spcAft>
              <a:buNone/>
            </a:pPr>
            <a:r>
              <a:t/>
            </a:r>
            <a:endParaRPr sz="1050">
              <a:solidFill>
                <a:srgbClr val="008000"/>
              </a:solidFill>
              <a:highlight>
                <a:srgbClr val="FFFFFE"/>
              </a:highlight>
              <a:latin typeface="Courier New"/>
              <a:ea typeface="Courier New"/>
              <a:cs typeface="Courier New"/>
              <a:sym typeface="Courier New"/>
            </a:endParaRPr>
          </a:p>
          <a:p>
            <a:pPr indent="0" lvl="0" marL="0" rtl="0" algn="l">
              <a:spcBef>
                <a:spcPts val="900"/>
              </a:spcBef>
              <a:spcAft>
                <a:spcPts val="200"/>
              </a:spcAft>
              <a:buNone/>
            </a:pPr>
            <a:r>
              <a:t/>
            </a:r>
            <a:endParaRPr/>
          </a:p>
        </p:txBody>
      </p:sp>
      <p:pic>
        <p:nvPicPr>
          <p:cNvPr id="304" name="Google Shape;304;p51"/>
          <p:cNvPicPr preferRelativeResize="0"/>
          <p:nvPr/>
        </p:nvPicPr>
        <p:blipFill>
          <a:blip r:embed="rId3">
            <a:alphaModFix/>
          </a:blip>
          <a:stretch>
            <a:fillRect/>
          </a:stretch>
        </p:blipFill>
        <p:spPr>
          <a:xfrm>
            <a:off x="8050625" y="44817"/>
            <a:ext cx="1093375" cy="1322300"/>
          </a:xfrm>
          <a:prstGeom prst="rect">
            <a:avLst/>
          </a:prstGeom>
          <a:noFill/>
          <a:ln>
            <a:noFill/>
          </a:ln>
        </p:spPr>
      </p:pic>
      <p:pic>
        <p:nvPicPr>
          <p:cNvPr id="305" name="Google Shape;305;p51"/>
          <p:cNvPicPr preferRelativeResize="0"/>
          <p:nvPr/>
        </p:nvPicPr>
        <p:blipFill>
          <a:blip r:embed="rId4">
            <a:alphaModFix/>
          </a:blip>
          <a:stretch>
            <a:fillRect/>
          </a:stretch>
        </p:blipFill>
        <p:spPr>
          <a:xfrm>
            <a:off x="1195375" y="3631275"/>
            <a:ext cx="1812650" cy="1512226"/>
          </a:xfrm>
          <a:prstGeom prst="rect">
            <a:avLst/>
          </a:prstGeom>
          <a:noFill/>
          <a:ln>
            <a:noFill/>
          </a:ln>
        </p:spPr>
      </p:pic>
      <p:pic>
        <p:nvPicPr>
          <p:cNvPr id="306" name="Google Shape;306;p51"/>
          <p:cNvPicPr preferRelativeResize="0"/>
          <p:nvPr/>
        </p:nvPicPr>
        <p:blipFill>
          <a:blip r:embed="rId5">
            <a:alphaModFix/>
          </a:blip>
          <a:stretch>
            <a:fillRect/>
          </a:stretch>
        </p:blipFill>
        <p:spPr>
          <a:xfrm>
            <a:off x="4741575" y="3631275"/>
            <a:ext cx="1434883" cy="151222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52"/>
          <p:cNvSpPr txBox="1"/>
          <p:nvPr>
            <p:ph type="title"/>
          </p:nvPr>
        </p:nvSpPr>
        <p:spPr>
          <a:xfrm>
            <a:off x="617220" y="161214"/>
            <a:ext cx="5658000" cy="816000"/>
          </a:xfrm>
          <a:prstGeom prst="rect">
            <a:avLst/>
          </a:prstGeom>
          <a:noFill/>
          <a:ln>
            <a:noFill/>
          </a:ln>
        </p:spPr>
        <p:txBody>
          <a:bodyPr anchorCtr="0" anchor="b" bIns="34275" lIns="68575" spcFirstLastPara="1" rIns="68575" wrap="square" tIns="34275">
            <a:normAutofit/>
          </a:bodyPr>
          <a:lstStyle/>
          <a:p>
            <a:pPr indent="0" lvl="0" marL="0" rtl="0" algn="l">
              <a:lnSpc>
                <a:spcPct val="85000"/>
              </a:lnSpc>
              <a:spcBef>
                <a:spcPts val="0"/>
              </a:spcBef>
              <a:spcAft>
                <a:spcPts val="0"/>
              </a:spcAft>
              <a:buClr>
                <a:srgbClr val="3F3F3F"/>
              </a:buClr>
              <a:buSzPts val="3600"/>
              <a:buFont typeface="Calibri"/>
              <a:buNone/>
            </a:pPr>
            <a:r>
              <a:rPr lang="pt-BR"/>
              <a:t>Evitando Saturação com Funções de Ativação ReLU/Leaky ReLU</a:t>
            </a:r>
            <a:endParaRPr/>
          </a:p>
        </p:txBody>
      </p:sp>
      <p:sp>
        <p:nvSpPr>
          <p:cNvPr id="312" name="Google Shape;312;p52"/>
          <p:cNvSpPr txBox="1"/>
          <p:nvPr>
            <p:ph idx="1" type="body"/>
          </p:nvPr>
        </p:nvSpPr>
        <p:spPr>
          <a:xfrm>
            <a:off x="533540" y="1384300"/>
            <a:ext cx="6110700" cy="3017400"/>
          </a:xfrm>
          <a:prstGeom prst="rect">
            <a:avLst/>
          </a:prstGeom>
          <a:noFill/>
          <a:ln>
            <a:noFill/>
          </a:ln>
        </p:spPr>
        <p:txBody>
          <a:bodyPr anchorCtr="0" anchor="t" bIns="34275" lIns="0" spcFirstLastPara="1" rIns="0" wrap="square" tIns="34275">
            <a:normAutofit fontScale="92500" lnSpcReduction="20000"/>
          </a:bodyPr>
          <a:lstStyle/>
          <a:p>
            <a:pPr indent="-88106" lvl="0" marL="63500" rtl="0" algn="l">
              <a:lnSpc>
                <a:spcPct val="90000"/>
              </a:lnSpc>
              <a:spcBef>
                <a:spcPts val="0"/>
              </a:spcBef>
              <a:spcAft>
                <a:spcPts val="0"/>
              </a:spcAft>
              <a:buSzPct val="83333"/>
              <a:buChar char="●"/>
            </a:pPr>
            <a:r>
              <a:rPr lang="pt-BR"/>
              <a:t>Glorot também descobriu que a escolha da função de ativação pode melhorar muito a passada dos gradientes;</a:t>
            </a:r>
            <a:endParaRPr/>
          </a:p>
          <a:p>
            <a:pPr indent="-88106" lvl="0" marL="63500" rtl="0" algn="l">
              <a:lnSpc>
                <a:spcPct val="90000"/>
              </a:lnSpc>
              <a:spcBef>
                <a:spcPts val="1100"/>
              </a:spcBef>
              <a:spcAft>
                <a:spcPts val="0"/>
              </a:spcAft>
              <a:buSzPct val="83333"/>
              <a:buChar char="●"/>
            </a:pPr>
            <a:r>
              <a:rPr lang="pt-BR"/>
              <a:t>A função de ativação, ReLU, por exemplo, não satura para valores positivos.</a:t>
            </a:r>
            <a:endParaRPr/>
          </a:p>
          <a:p>
            <a:pPr indent="-88106" lvl="0" marL="63500" rtl="0" algn="l">
              <a:lnSpc>
                <a:spcPct val="90000"/>
              </a:lnSpc>
              <a:spcBef>
                <a:spcPts val="1100"/>
              </a:spcBef>
              <a:spcAft>
                <a:spcPts val="0"/>
              </a:spcAft>
              <a:buSzPct val="83333"/>
              <a:buChar char="●"/>
            </a:pPr>
            <a:r>
              <a:rPr lang="pt-BR"/>
              <a:t>Contudo, a ReLU tem o problema dying ReLU:</a:t>
            </a:r>
            <a:endParaRPr/>
          </a:p>
          <a:p>
            <a:pPr indent="-133033" lvl="1" marL="292100" rtl="0" algn="l">
              <a:lnSpc>
                <a:spcPct val="90000"/>
              </a:lnSpc>
              <a:spcBef>
                <a:spcPts val="300"/>
              </a:spcBef>
              <a:spcAft>
                <a:spcPts val="0"/>
              </a:spcAft>
              <a:buSzPct val="100000"/>
              <a:buChar char="○"/>
            </a:pPr>
            <a:r>
              <a:rPr lang="pt-BR"/>
              <a:t>Durante o treino alguns neurônios simplesmente morrem, ou seja, a saída do neurônio é somente zero;</a:t>
            </a:r>
            <a:endParaRPr/>
          </a:p>
          <a:p>
            <a:pPr indent="-133033" lvl="1" marL="292100" rtl="0" algn="l">
              <a:lnSpc>
                <a:spcPct val="90000"/>
              </a:lnSpc>
              <a:spcBef>
                <a:spcPts val="500"/>
              </a:spcBef>
              <a:spcAft>
                <a:spcPts val="0"/>
              </a:spcAft>
              <a:buSzPct val="100000"/>
              <a:buChar char="○"/>
            </a:pPr>
            <a:r>
              <a:rPr lang="pt-BR"/>
              <a:t>Ou seja, os pesos de um neurônio ficam ajustados de tal forma que a soma dos pesos da entrada são negativas para todas as instâncias. Assim a saída da função fica em zero;</a:t>
            </a:r>
            <a:endParaRPr/>
          </a:p>
          <a:p>
            <a:pPr indent="-133033" lvl="1" marL="292100" rtl="0" algn="l">
              <a:lnSpc>
                <a:spcPct val="90000"/>
              </a:lnSpc>
              <a:spcBef>
                <a:spcPts val="500"/>
              </a:spcBef>
              <a:spcAft>
                <a:spcPts val="0"/>
              </a:spcAft>
              <a:buSzPct val="100000"/>
              <a:buChar char="○"/>
            </a:pPr>
            <a:r>
              <a:rPr lang="pt-BR"/>
              <a:t>Logo, GD não afeta em mais nada, pois o gradiente da ReLU é zero quando a função é negativa</a:t>
            </a:r>
            <a:endParaRPr/>
          </a:p>
          <a:p>
            <a:pPr indent="-88106" lvl="0" marL="63500" rtl="0" algn="l">
              <a:lnSpc>
                <a:spcPct val="90000"/>
              </a:lnSpc>
              <a:spcBef>
                <a:spcPts val="1200"/>
              </a:spcBef>
              <a:spcAft>
                <a:spcPts val="0"/>
              </a:spcAft>
              <a:buSzPct val="83333"/>
              <a:buChar char="●"/>
            </a:pPr>
            <a:r>
              <a:rPr lang="pt-BR"/>
              <a:t>Uma alternativa para isso é a “Leaky ReLU”, LeakyReLU(z)= max(αz, z)</a:t>
            </a:r>
            <a:endParaRPr/>
          </a:p>
        </p:txBody>
      </p:sp>
      <p:pic>
        <p:nvPicPr>
          <p:cNvPr descr="Activation Functions: ReLU &amp; Softmax – mc.ai" id="313" name="Google Shape;313;p52"/>
          <p:cNvPicPr preferRelativeResize="0"/>
          <p:nvPr/>
        </p:nvPicPr>
        <p:blipFill rotWithShape="1">
          <a:blip r:embed="rId3">
            <a:alphaModFix/>
          </a:blip>
          <a:srcRect b="0" l="0" r="0" t="0"/>
          <a:stretch/>
        </p:blipFill>
        <p:spPr>
          <a:xfrm>
            <a:off x="7229279" y="758986"/>
            <a:ext cx="1757363" cy="1464469"/>
          </a:xfrm>
          <a:prstGeom prst="rect">
            <a:avLst/>
          </a:prstGeom>
          <a:noFill/>
          <a:ln>
            <a:noFill/>
          </a:ln>
        </p:spPr>
      </p:pic>
      <p:pic>
        <p:nvPicPr>
          <p:cNvPr descr="Activation Functions : Sigmoid, ReLU, Leaky ReLU and Softmax basics for  Neural Networks and Deep Learning | by Himanshu Sharma | Medium" id="314" name="Google Shape;314;p52"/>
          <p:cNvPicPr preferRelativeResize="0"/>
          <p:nvPr/>
        </p:nvPicPr>
        <p:blipFill rotWithShape="1">
          <a:blip r:embed="rId4">
            <a:alphaModFix/>
          </a:blip>
          <a:srcRect b="0" l="0" r="0" t="0"/>
          <a:stretch/>
        </p:blipFill>
        <p:spPr>
          <a:xfrm>
            <a:off x="7177339" y="2408520"/>
            <a:ext cx="1809304" cy="969081"/>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53"/>
          <p:cNvSpPr txBox="1"/>
          <p:nvPr>
            <p:ph type="title"/>
          </p:nvPr>
        </p:nvSpPr>
        <p:spPr>
          <a:xfrm>
            <a:off x="617220" y="161214"/>
            <a:ext cx="5658000" cy="816000"/>
          </a:xfrm>
          <a:prstGeom prst="rect">
            <a:avLst/>
          </a:prstGeom>
          <a:noFill/>
          <a:ln>
            <a:noFill/>
          </a:ln>
        </p:spPr>
        <p:txBody>
          <a:bodyPr anchorCtr="0" anchor="b" bIns="34275" lIns="68575" spcFirstLastPara="1" rIns="68575" wrap="square" tIns="34275">
            <a:normAutofit/>
          </a:bodyPr>
          <a:lstStyle/>
          <a:p>
            <a:pPr indent="0" lvl="0" marL="0" rtl="0" algn="l">
              <a:spcBef>
                <a:spcPts val="0"/>
              </a:spcBef>
              <a:spcAft>
                <a:spcPts val="0"/>
              </a:spcAft>
              <a:buClr>
                <a:srgbClr val="3F3F3F"/>
              </a:buClr>
              <a:buSzPts val="3600"/>
              <a:buFont typeface="Calibri"/>
              <a:buNone/>
            </a:pPr>
            <a:r>
              <a:rPr lang="pt-BR"/>
              <a:t>Evitando Saturação com Funções de Ativação: Scaled ELU (SELU)</a:t>
            </a:r>
            <a:endParaRPr/>
          </a:p>
        </p:txBody>
      </p:sp>
      <p:sp>
        <p:nvSpPr>
          <p:cNvPr id="320" name="Google Shape;320;p53"/>
          <p:cNvSpPr txBox="1"/>
          <p:nvPr>
            <p:ph idx="1" type="body"/>
          </p:nvPr>
        </p:nvSpPr>
        <p:spPr>
          <a:xfrm>
            <a:off x="822960" y="1384300"/>
            <a:ext cx="5022000" cy="3017400"/>
          </a:xfrm>
          <a:prstGeom prst="rect">
            <a:avLst/>
          </a:prstGeom>
          <a:noFill/>
          <a:ln>
            <a:noFill/>
          </a:ln>
        </p:spPr>
        <p:txBody>
          <a:bodyPr anchorCtr="0" anchor="t" bIns="34275" lIns="0" spcFirstLastPara="1" rIns="0" wrap="square" tIns="34275">
            <a:normAutofit lnSpcReduction="20000"/>
          </a:bodyPr>
          <a:lstStyle/>
          <a:p>
            <a:pPr indent="-95250" lvl="0" marL="63500" rtl="0" algn="l">
              <a:lnSpc>
                <a:spcPct val="90000"/>
              </a:lnSpc>
              <a:spcBef>
                <a:spcPts val="1100"/>
              </a:spcBef>
              <a:spcAft>
                <a:spcPts val="0"/>
              </a:spcAft>
              <a:buSzPts val="1500"/>
              <a:buChar char="●"/>
            </a:pPr>
            <a:r>
              <a:rPr lang="pt-BR"/>
              <a:t>Proposta recente (2017), por Guter Klambauer</a:t>
            </a:r>
            <a:endParaRPr/>
          </a:p>
          <a:p>
            <a:pPr indent="-95250" lvl="0" marL="63500" rtl="0" algn="l">
              <a:lnSpc>
                <a:spcPct val="90000"/>
              </a:lnSpc>
              <a:spcBef>
                <a:spcPts val="1100"/>
              </a:spcBef>
              <a:spcAft>
                <a:spcPts val="0"/>
              </a:spcAft>
              <a:buSzPts val="1500"/>
              <a:buChar char="●"/>
            </a:pPr>
            <a:r>
              <a:rPr lang="pt-BR"/>
              <a:t>O autor mostra que se a rede for composta exclusivamente de pilhas de camadas densas, e todas as camadas ocultas usarem SELU como função de ativação, então a rede irá se auto-organizar:</a:t>
            </a:r>
            <a:endParaRPr/>
          </a:p>
          <a:p>
            <a:pPr indent="-139700" lvl="1" marL="292100" rtl="0" algn="l">
              <a:lnSpc>
                <a:spcPct val="90000"/>
              </a:lnSpc>
              <a:spcBef>
                <a:spcPts val="300"/>
              </a:spcBef>
              <a:spcAft>
                <a:spcPts val="0"/>
              </a:spcAft>
              <a:buSzPts val="1400"/>
              <a:buChar char="○"/>
            </a:pPr>
            <a:r>
              <a:rPr lang="pt-BR"/>
              <a:t>A saída de cada camada tende a preservar média de zero e  desvio padrão de 1 durante o treino;</a:t>
            </a:r>
            <a:endParaRPr/>
          </a:p>
          <a:p>
            <a:pPr indent="-139700" lvl="1" marL="292100" rtl="0" algn="l">
              <a:lnSpc>
                <a:spcPct val="90000"/>
              </a:lnSpc>
              <a:spcBef>
                <a:spcPts val="500"/>
              </a:spcBef>
              <a:spcAft>
                <a:spcPts val="0"/>
              </a:spcAft>
              <a:buSzPts val="1400"/>
              <a:buChar char="○"/>
            </a:pPr>
            <a:r>
              <a:rPr lang="pt-BR"/>
              <a:t>Mitiga o problema de desaparecimento do gradiente.</a:t>
            </a:r>
            <a:endParaRPr/>
          </a:p>
          <a:p>
            <a:pPr indent="-95250" lvl="0" marL="63500" rtl="0" algn="l">
              <a:lnSpc>
                <a:spcPct val="90000"/>
              </a:lnSpc>
              <a:spcBef>
                <a:spcPts val="1200"/>
              </a:spcBef>
              <a:spcAft>
                <a:spcPts val="0"/>
              </a:spcAft>
              <a:buSzPts val="1500"/>
              <a:buChar char="●"/>
            </a:pPr>
            <a:r>
              <a:rPr lang="pt-BR"/>
              <a:t>Para que o resultado seja bom, a SELU exige:</a:t>
            </a:r>
            <a:endParaRPr/>
          </a:p>
          <a:p>
            <a:pPr indent="-139700" lvl="1" marL="292100" rtl="0" algn="l">
              <a:lnSpc>
                <a:spcPct val="90000"/>
              </a:lnSpc>
              <a:spcBef>
                <a:spcPts val="300"/>
              </a:spcBef>
              <a:spcAft>
                <a:spcPts val="0"/>
              </a:spcAft>
              <a:buSzPts val="1400"/>
              <a:buChar char="○"/>
            </a:pPr>
            <a:r>
              <a:rPr lang="pt-BR"/>
              <a:t>Kernel_initializer =“lecun_normal”</a:t>
            </a:r>
            <a:endParaRPr/>
          </a:p>
          <a:p>
            <a:pPr indent="-139700" lvl="1" marL="292100" rtl="0" algn="l">
              <a:lnSpc>
                <a:spcPct val="90000"/>
              </a:lnSpc>
              <a:spcBef>
                <a:spcPts val="500"/>
              </a:spcBef>
              <a:spcAft>
                <a:spcPts val="0"/>
              </a:spcAft>
              <a:buSzPts val="1400"/>
              <a:buChar char="○"/>
            </a:pPr>
            <a:r>
              <a:rPr lang="pt-BR"/>
              <a:t>A rede precisa ser sequencial, logo não vale para redes recorrentes </a:t>
            </a:r>
            <a:endParaRPr/>
          </a:p>
        </p:txBody>
      </p:sp>
      <p:pic>
        <p:nvPicPr>
          <p:cNvPr descr="Behavior of ReLU, ELU and SELU activation functions. | Download Scientific  Diagram" id="321" name="Google Shape;321;p53"/>
          <p:cNvPicPr preferRelativeResize="0"/>
          <p:nvPr/>
        </p:nvPicPr>
        <p:blipFill rotWithShape="1">
          <a:blip r:embed="rId3">
            <a:alphaModFix/>
          </a:blip>
          <a:srcRect b="0" l="0" r="0" t="0"/>
          <a:stretch/>
        </p:blipFill>
        <p:spPr>
          <a:xfrm>
            <a:off x="6336638" y="1384300"/>
            <a:ext cx="2271713" cy="1135856"/>
          </a:xfrm>
          <a:prstGeom prst="rect">
            <a:avLst/>
          </a:prstGeom>
          <a:noFill/>
          <a:ln>
            <a:noFill/>
          </a:ln>
        </p:spPr>
      </p:pic>
      <p:pic>
        <p:nvPicPr>
          <p:cNvPr descr="SELU — Make FNNs Great Again (SNN) | by Elior Cohen | Towards Data Science" id="322" name="Google Shape;322;p53"/>
          <p:cNvPicPr preferRelativeResize="0"/>
          <p:nvPr/>
        </p:nvPicPr>
        <p:blipFill rotWithShape="1">
          <a:blip r:embed="rId4">
            <a:alphaModFix/>
          </a:blip>
          <a:srcRect b="0" l="0" r="0" t="0"/>
          <a:stretch/>
        </p:blipFill>
        <p:spPr>
          <a:xfrm>
            <a:off x="5961303" y="2571750"/>
            <a:ext cx="2730615" cy="553799"/>
          </a:xfrm>
          <a:prstGeom prst="rect">
            <a:avLst/>
          </a:prstGeom>
          <a:noFill/>
          <a:ln>
            <a:noFill/>
          </a:ln>
        </p:spPr>
      </p:pic>
      <p:sp>
        <p:nvSpPr>
          <p:cNvPr id="323" name="Google Shape;323;p53"/>
          <p:cNvSpPr txBox="1"/>
          <p:nvPr/>
        </p:nvSpPr>
        <p:spPr>
          <a:xfrm>
            <a:off x="484075" y="4401700"/>
            <a:ext cx="7711200" cy="6666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300"/>
              </a:spcBef>
              <a:spcAft>
                <a:spcPts val="0"/>
              </a:spcAft>
              <a:buNone/>
            </a:pPr>
            <a:r>
              <a:rPr lang="pt-BR" sz="1800">
                <a:solidFill>
                  <a:schemeClr val="dk2"/>
                </a:solidFill>
              </a:rPr>
              <a:t>Exemplo no keras:</a:t>
            </a:r>
            <a:endParaRPr sz="1800">
              <a:solidFill>
                <a:schemeClr val="dk2"/>
              </a:solidFill>
            </a:endParaRPr>
          </a:p>
          <a:p>
            <a:pPr indent="0" lvl="0" marL="0" rtl="0" algn="l">
              <a:lnSpc>
                <a:spcPct val="90000"/>
              </a:lnSpc>
              <a:spcBef>
                <a:spcPts val="300"/>
              </a:spcBef>
              <a:spcAft>
                <a:spcPts val="0"/>
              </a:spcAft>
              <a:buNone/>
            </a:pPr>
            <a:r>
              <a:rPr lang="pt-BR">
                <a:solidFill>
                  <a:srgbClr val="008000"/>
                </a:solidFill>
              </a:rPr>
              <a:t>model.add(keras.layer.Dense(10, activation=“selu”, kernel_initializer=“lecun_normal”))</a:t>
            </a:r>
            <a:endParaRPr>
              <a:solidFill>
                <a:srgbClr val="008000"/>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54"/>
          <p:cNvSpPr txBox="1"/>
          <p:nvPr>
            <p:ph type="title"/>
          </p:nvPr>
        </p:nvSpPr>
        <p:spPr>
          <a:xfrm>
            <a:off x="617220" y="161214"/>
            <a:ext cx="5658000" cy="816000"/>
          </a:xfrm>
          <a:prstGeom prst="rect">
            <a:avLst/>
          </a:prstGeom>
          <a:noFill/>
          <a:ln>
            <a:noFill/>
          </a:ln>
        </p:spPr>
        <p:txBody>
          <a:bodyPr anchorCtr="0" anchor="b" bIns="34275" lIns="68575" spcFirstLastPara="1" rIns="68575" wrap="square" tIns="34275">
            <a:normAutofit/>
          </a:bodyPr>
          <a:lstStyle/>
          <a:p>
            <a:pPr indent="0" lvl="0" marL="0" rtl="0" algn="l">
              <a:spcBef>
                <a:spcPts val="0"/>
              </a:spcBef>
              <a:spcAft>
                <a:spcPts val="0"/>
              </a:spcAft>
              <a:buClr>
                <a:srgbClr val="3F3F3F"/>
              </a:buClr>
              <a:buSzPts val="3600"/>
              <a:buFont typeface="Calibri"/>
              <a:buNone/>
            </a:pPr>
            <a:r>
              <a:rPr lang="pt-BR"/>
              <a:t>Evitando Saturação com Funções de Ativação: </a:t>
            </a:r>
            <a:r>
              <a:rPr lang="pt-BR"/>
              <a:t>Scaled ELU (SELU)</a:t>
            </a:r>
            <a:endParaRPr/>
          </a:p>
        </p:txBody>
      </p:sp>
      <p:sp>
        <p:nvSpPr>
          <p:cNvPr id="329" name="Google Shape;329;p54"/>
          <p:cNvSpPr txBox="1"/>
          <p:nvPr>
            <p:ph idx="1" type="body"/>
          </p:nvPr>
        </p:nvSpPr>
        <p:spPr>
          <a:xfrm>
            <a:off x="822950" y="1384300"/>
            <a:ext cx="5138400" cy="3709800"/>
          </a:xfrm>
          <a:prstGeom prst="rect">
            <a:avLst/>
          </a:prstGeom>
          <a:noFill/>
          <a:ln>
            <a:noFill/>
          </a:ln>
        </p:spPr>
        <p:txBody>
          <a:bodyPr anchorCtr="0" anchor="t" bIns="34275" lIns="0" spcFirstLastPara="1" rIns="0" wrap="square" tIns="34275">
            <a:normAutofit/>
          </a:bodyPr>
          <a:lstStyle/>
          <a:p>
            <a:pPr indent="-95250" lvl="0" marL="63500" rtl="0" algn="l">
              <a:lnSpc>
                <a:spcPct val="90000"/>
              </a:lnSpc>
              <a:spcBef>
                <a:spcPts val="1100"/>
              </a:spcBef>
              <a:spcAft>
                <a:spcPts val="0"/>
              </a:spcAft>
              <a:buSzPts val="1500"/>
              <a:buChar char="●"/>
            </a:pPr>
            <a:r>
              <a:rPr lang="pt-BR"/>
              <a:t>Porque pouca gente usa SELU, ELU e outras funções da família RELU na prática?</a:t>
            </a:r>
            <a:endParaRPr/>
          </a:p>
          <a:p>
            <a:pPr indent="-139700" lvl="1" marL="292100" rtl="0" algn="l">
              <a:lnSpc>
                <a:spcPct val="90000"/>
              </a:lnSpc>
              <a:spcBef>
                <a:spcPts val="1100"/>
              </a:spcBef>
              <a:spcAft>
                <a:spcPts val="0"/>
              </a:spcAft>
              <a:buSzPts val="1400"/>
              <a:buChar char="○"/>
            </a:pPr>
            <a:r>
              <a:rPr lang="pt-BR"/>
              <a:t>Relu é *muito* barata de computar.</a:t>
            </a:r>
            <a:endParaRPr/>
          </a:p>
          <a:p>
            <a:pPr indent="-139700" lvl="1" marL="292100" rtl="0" algn="l">
              <a:lnSpc>
                <a:spcPct val="90000"/>
              </a:lnSpc>
              <a:spcBef>
                <a:spcPts val="1100"/>
              </a:spcBef>
              <a:spcAft>
                <a:spcPts val="0"/>
              </a:spcAft>
              <a:buSzPts val="1400"/>
              <a:buChar char="○"/>
            </a:pPr>
            <a:r>
              <a:rPr lang="pt-BR"/>
              <a:t>Relu se tornou um padrão nas arquiteturas. Trocar a função significa repensar uma arquitetura.</a:t>
            </a:r>
            <a:endParaRPr/>
          </a:p>
          <a:p>
            <a:pPr indent="-139700" lvl="1" marL="292100" rtl="0" algn="l">
              <a:lnSpc>
                <a:spcPct val="90000"/>
              </a:lnSpc>
              <a:spcBef>
                <a:spcPts val="1100"/>
              </a:spcBef>
              <a:spcAft>
                <a:spcPts val="0"/>
              </a:spcAft>
              <a:buSzPts val="1400"/>
              <a:buChar char="○"/>
            </a:pPr>
            <a:r>
              <a:rPr lang="pt-BR"/>
              <a:t>É difícil comparar o seu modelo com outros modelos que já usam RELU.</a:t>
            </a:r>
            <a:endParaRPr/>
          </a:p>
          <a:p>
            <a:pPr indent="-139700" lvl="2" marL="419100" rtl="0" algn="l">
              <a:lnSpc>
                <a:spcPct val="90000"/>
              </a:lnSpc>
              <a:spcBef>
                <a:spcPts val="1100"/>
              </a:spcBef>
              <a:spcAft>
                <a:spcPts val="0"/>
              </a:spcAft>
              <a:buSzPts val="1400"/>
              <a:buChar char="■"/>
            </a:pPr>
            <a:r>
              <a:rPr lang="pt-BR"/>
              <a:t>Em outras palavras, para aplicar a um novo problema…</a:t>
            </a:r>
            <a:endParaRPr/>
          </a:p>
          <a:p>
            <a:pPr indent="-139700" lvl="3" marL="558800" rtl="0" algn="l">
              <a:lnSpc>
                <a:spcPct val="90000"/>
              </a:lnSpc>
              <a:spcBef>
                <a:spcPts val="1100"/>
              </a:spcBef>
              <a:spcAft>
                <a:spcPts val="0"/>
              </a:spcAft>
              <a:buSzPts val="1400"/>
              <a:buChar char="●"/>
            </a:pPr>
            <a:r>
              <a:rPr lang="pt-BR"/>
              <a:t>use o que todo mundo usa!</a:t>
            </a:r>
            <a:endParaRPr/>
          </a:p>
          <a:p>
            <a:pPr indent="-139700" lvl="3" marL="558800" rtl="0" algn="l">
              <a:lnSpc>
                <a:spcPct val="90000"/>
              </a:lnSpc>
              <a:spcBef>
                <a:spcPts val="1100"/>
              </a:spcBef>
              <a:spcAft>
                <a:spcPts val="0"/>
              </a:spcAft>
              <a:buSzPts val="1400"/>
              <a:buChar char="●"/>
            </a:pPr>
            <a:r>
              <a:rPr lang="pt-BR"/>
              <a:t>tente manter, sempre que possível, padrões dos criadores da arquitetura.</a:t>
            </a:r>
            <a:endParaRPr/>
          </a:p>
          <a:p>
            <a:pPr indent="-139700" lvl="4" marL="698500" rtl="0" algn="l">
              <a:lnSpc>
                <a:spcPct val="90000"/>
              </a:lnSpc>
              <a:spcBef>
                <a:spcPts val="1100"/>
              </a:spcBef>
              <a:spcAft>
                <a:spcPts val="0"/>
              </a:spcAft>
              <a:buSzPts val="1400"/>
              <a:buChar char="○"/>
            </a:pPr>
            <a:r>
              <a:rPr lang="pt-BR"/>
              <a:t>… mas saiba da existência de outras opções de parametrização.</a:t>
            </a:r>
            <a:endParaRPr/>
          </a:p>
        </p:txBody>
      </p:sp>
      <p:pic>
        <p:nvPicPr>
          <p:cNvPr descr="Behavior of ReLU, ELU and SELU activation functions. | Download Scientific  Diagram" id="330" name="Google Shape;330;p54"/>
          <p:cNvPicPr preferRelativeResize="0"/>
          <p:nvPr/>
        </p:nvPicPr>
        <p:blipFill rotWithShape="1">
          <a:blip r:embed="rId3">
            <a:alphaModFix/>
          </a:blip>
          <a:srcRect b="0" l="0" r="0" t="0"/>
          <a:stretch/>
        </p:blipFill>
        <p:spPr>
          <a:xfrm>
            <a:off x="6336638" y="1384300"/>
            <a:ext cx="2271713" cy="1135856"/>
          </a:xfrm>
          <a:prstGeom prst="rect">
            <a:avLst/>
          </a:prstGeom>
          <a:noFill/>
          <a:ln>
            <a:noFill/>
          </a:ln>
        </p:spPr>
      </p:pic>
      <p:pic>
        <p:nvPicPr>
          <p:cNvPr descr="SELU — Make FNNs Great Again (SNN) | by Elior Cohen | Towards Data Science" id="331" name="Google Shape;331;p54"/>
          <p:cNvPicPr preferRelativeResize="0"/>
          <p:nvPr/>
        </p:nvPicPr>
        <p:blipFill rotWithShape="1">
          <a:blip r:embed="rId4">
            <a:alphaModFix/>
          </a:blip>
          <a:srcRect b="0" l="0" r="0" t="0"/>
          <a:stretch/>
        </p:blipFill>
        <p:spPr>
          <a:xfrm>
            <a:off x="5961303" y="2571750"/>
            <a:ext cx="2730615" cy="553799"/>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35" name="Shape 335"/>
        <p:cNvGrpSpPr/>
        <p:nvPr/>
      </p:nvGrpSpPr>
      <p:grpSpPr>
        <a:xfrm>
          <a:off x="0" y="0"/>
          <a:ext cx="0" cy="0"/>
          <a:chOff x="0" y="0"/>
          <a:chExt cx="0" cy="0"/>
        </a:xfrm>
      </p:grpSpPr>
      <p:sp>
        <p:nvSpPr>
          <p:cNvPr id="336" name="Google Shape;336;p55"/>
          <p:cNvSpPr txBox="1"/>
          <p:nvPr>
            <p:ph type="title"/>
          </p:nvPr>
        </p:nvSpPr>
        <p:spPr>
          <a:xfrm>
            <a:off x="441367" y="451124"/>
            <a:ext cx="6640800" cy="413100"/>
          </a:xfrm>
          <a:prstGeom prst="rect">
            <a:avLst/>
          </a:prstGeom>
          <a:noFill/>
          <a:ln>
            <a:noFill/>
          </a:ln>
        </p:spPr>
        <p:txBody>
          <a:bodyPr anchorCtr="0" anchor="t" bIns="0" lIns="0" spcFirstLastPara="1" rIns="0" wrap="square" tIns="12675">
            <a:spAutoFit/>
          </a:bodyPr>
          <a:lstStyle/>
          <a:p>
            <a:pPr indent="0" lvl="0" marL="12700" rtl="0" algn="l">
              <a:lnSpc>
                <a:spcPct val="100000"/>
              </a:lnSpc>
              <a:spcBef>
                <a:spcPts val="0"/>
              </a:spcBef>
              <a:spcAft>
                <a:spcPts val="0"/>
              </a:spcAft>
              <a:buNone/>
            </a:pPr>
            <a:r>
              <a:rPr lang="pt-BR" sz="2600"/>
              <a:t>Escolhas de Parametrização - Ativação</a:t>
            </a:r>
            <a:endParaRPr sz="2600"/>
          </a:p>
        </p:txBody>
      </p:sp>
      <p:sp>
        <p:nvSpPr>
          <p:cNvPr id="337" name="Google Shape;337;p55"/>
          <p:cNvSpPr txBox="1"/>
          <p:nvPr/>
        </p:nvSpPr>
        <p:spPr>
          <a:xfrm>
            <a:off x="540999" y="1063900"/>
            <a:ext cx="6262500" cy="1045200"/>
          </a:xfrm>
          <a:prstGeom prst="rect">
            <a:avLst/>
          </a:prstGeom>
          <a:noFill/>
          <a:ln>
            <a:noFill/>
          </a:ln>
        </p:spPr>
        <p:txBody>
          <a:bodyPr anchorCtr="0" anchor="t" bIns="0" lIns="0" spcFirstLastPara="1" rIns="0" wrap="square" tIns="161125">
            <a:spAutoFit/>
          </a:bodyPr>
          <a:lstStyle/>
          <a:p>
            <a:pPr indent="-266700" lvl="0" marL="279400" marR="0" rtl="0" algn="l">
              <a:lnSpc>
                <a:spcPct val="100000"/>
              </a:lnSpc>
              <a:spcBef>
                <a:spcPts val="0"/>
              </a:spcBef>
              <a:spcAft>
                <a:spcPts val="0"/>
              </a:spcAft>
              <a:buSzPts val="1200"/>
              <a:buFont typeface="Noto Sans Symbols"/>
              <a:buChar char="●"/>
            </a:pPr>
            <a:r>
              <a:rPr lang="pt-BR" sz="2600">
                <a:latin typeface="Arial"/>
                <a:ea typeface="Arial"/>
                <a:cs typeface="Arial"/>
                <a:sym typeface="Arial"/>
              </a:rPr>
              <a:t>Hyperparâmetros</a:t>
            </a:r>
            <a:endParaRPr sz="2600">
              <a:latin typeface="Arial"/>
              <a:ea typeface="Arial"/>
              <a:cs typeface="Arial"/>
              <a:sym typeface="Arial"/>
            </a:endParaRPr>
          </a:p>
          <a:p>
            <a:pPr indent="-260350" lvl="1" marL="635000" marR="0" rtl="0" algn="l">
              <a:lnSpc>
                <a:spcPct val="100000"/>
              </a:lnSpc>
              <a:spcBef>
                <a:spcPts val="1000"/>
              </a:spcBef>
              <a:spcAft>
                <a:spcPts val="0"/>
              </a:spcAft>
              <a:buSzPts val="1700"/>
              <a:buFont typeface="Noto Sans Symbols"/>
              <a:buChar char="−"/>
            </a:pPr>
            <a:r>
              <a:rPr b="0" i="0" lang="pt-BR" sz="2300" u="none" cap="none" strike="noStrike">
                <a:latin typeface="Arial"/>
                <a:ea typeface="Arial"/>
                <a:cs typeface="Arial"/>
                <a:sym typeface="Arial"/>
              </a:rPr>
              <a:t>Função de Ativação mais usadas </a:t>
            </a:r>
            <a:endParaRPr b="0" i="0" sz="2300" u="none" cap="none" strike="noStrike">
              <a:latin typeface="Arial"/>
              <a:ea typeface="Arial"/>
              <a:cs typeface="Arial"/>
              <a:sym typeface="Arial"/>
            </a:endParaRPr>
          </a:p>
        </p:txBody>
      </p:sp>
      <p:sp>
        <p:nvSpPr>
          <p:cNvPr id="338" name="Google Shape;338;p55"/>
          <p:cNvSpPr/>
          <p:nvPr/>
        </p:nvSpPr>
        <p:spPr>
          <a:xfrm>
            <a:off x="854155" y="2190885"/>
            <a:ext cx="7382100" cy="22884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500"/>
          </a:p>
        </p:txBody>
      </p:sp>
      <p:pic>
        <p:nvPicPr>
          <p:cNvPr id="339" name="Google Shape;339;p55"/>
          <p:cNvPicPr preferRelativeResize="0"/>
          <p:nvPr/>
        </p:nvPicPr>
        <p:blipFill>
          <a:blip r:embed="rId4">
            <a:alphaModFix/>
          </a:blip>
          <a:stretch>
            <a:fillRect/>
          </a:stretch>
        </p:blipFill>
        <p:spPr>
          <a:xfrm>
            <a:off x="8050625" y="44817"/>
            <a:ext cx="1093375" cy="13223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43" name="Shape 343"/>
        <p:cNvGrpSpPr/>
        <p:nvPr/>
      </p:nvGrpSpPr>
      <p:grpSpPr>
        <a:xfrm>
          <a:off x="0" y="0"/>
          <a:ext cx="0" cy="0"/>
          <a:chOff x="0" y="0"/>
          <a:chExt cx="0" cy="0"/>
        </a:xfrm>
      </p:grpSpPr>
      <p:sp>
        <p:nvSpPr>
          <p:cNvPr id="344" name="Google Shape;344;p56"/>
          <p:cNvSpPr txBox="1"/>
          <p:nvPr>
            <p:ph type="title"/>
          </p:nvPr>
        </p:nvSpPr>
        <p:spPr>
          <a:xfrm>
            <a:off x="441367" y="451124"/>
            <a:ext cx="6640800" cy="413100"/>
          </a:xfrm>
          <a:prstGeom prst="rect">
            <a:avLst/>
          </a:prstGeom>
          <a:noFill/>
          <a:ln>
            <a:noFill/>
          </a:ln>
        </p:spPr>
        <p:txBody>
          <a:bodyPr anchorCtr="0" anchor="t" bIns="0" lIns="0" spcFirstLastPara="1" rIns="0" wrap="square" tIns="12675">
            <a:spAutoFit/>
          </a:bodyPr>
          <a:lstStyle/>
          <a:p>
            <a:pPr indent="0" lvl="0" marL="12700" rtl="0" algn="l">
              <a:lnSpc>
                <a:spcPct val="100000"/>
              </a:lnSpc>
              <a:spcBef>
                <a:spcPts val="0"/>
              </a:spcBef>
              <a:spcAft>
                <a:spcPts val="0"/>
              </a:spcAft>
              <a:buNone/>
            </a:pPr>
            <a:r>
              <a:rPr lang="pt-BR" sz="2600"/>
              <a:t>Escolhas de Parametrização - Ativação</a:t>
            </a:r>
            <a:endParaRPr sz="2600"/>
          </a:p>
        </p:txBody>
      </p:sp>
      <p:sp>
        <p:nvSpPr>
          <p:cNvPr id="345" name="Google Shape;345;p56"/>
          <p:cNvSpPr txBox="1"/>
          <p:nvPr/>
        </p:nvSpPr>
        <p:spPr>
          <a:xfrm>
            <a:off x="540999" y="1063875"/>
            <a:ext cx="7853100" cy="3957000"/>
          </a:xfrm>
          <a:prstGeom prst="rect">
            <a:avLst/>
          </a:prstGeom>
          <a:noFill/>
          <a:ln>
            <a:noFill/>
          </a:ln>
        </p:spPr>
        <p:txBody>
          <a:bodyPr anchorCtr="0" anchor="t" bIns="0" lIns="0" spcFirstLastPara="1" rIns="0" wrap="square" tIns="161125">
            <a:spAutoFit/>
          </a:bodyPr>
          <a:lstStyle/>
          <a:p>
            <a:pPr indent="-266700" lvl="0" marL="279400" marR="0" rtl="0" algn="l">
              <a:lnSpc>
                <a:spcPct val="100000"/>
              </a:lnSpc>
              <a:spcBef>
                <a:spcPts val="0"/>
              </a:spcBef>
              <a:spcAft>
                <a:spcPts val="0"/>
              </a:spcAft>
              <a:buSzPts val="1200"/>
              <a:buFont typeface="Noto Sans Symbols"/>
              <a:buChar char="●"/>
            </a:pPr>
            <a:r>
              <a:rPr lang="pt-BR" sz="2600">
                <a:latin typeface="Arial"/>
                <a:ea typeface="Arial"/>
                <a:cs typeface="Arial"/>
                <a:sym typeface="Arial"/>
              </a:rPr>
              <a:t>H</a:t>
            </a:r>
            <a:r>
              <a:rPr lang="pt-BR" sz="2600"/>
              <a:t>i</a:t>
            </a:r>
            <a:r>
              <a:rPr lang="pt-BR" sz="2600">
                <a:latin typeface="Arial"/>
                <a:ea typeface="Arial"/>
                <a:cs typeface="Arial"/>
                <a:sym typeface="Arial"/>
              </a:rPr>
              <a:t>perparâmetros: </a:t>
            </a:r>
            <a:r>
              <a:rPr lang="pt-BR" sz="2300">
                <a:solidFill>
                  <a:schemeClr val="dk1"/>
                </a:solidFill>
              </a:rPr>
              <a:t>Função de Ativação</a:t>
            </a:r>
            <a:endParaRPr sz="2600"/>
          </a:p>
          <a:p>
            <a:pPr indent="-260350" lvl="1" marL="635000" marR="0" rtl="0" algn="l">
              <a:lnSpc>
                <a:spcPct val="100000"/>
              </a:lnSpc>
              <a:spcBef>
                <a:spcPts val="1000"/>
              </a:spcBef>
              <a:spcAft>
                <a:spcPts val="0"/>
              </a:spcAft>
              <a:buSzPts val="1700"/>
              <a:buFont typeface="Noto Sans Symbols"/>
              <a:buChar char="−"/>
            </a:pPr>
            <a:r>
              <a:rPr lang="pt-BR" sz="2300"/>
              <a:t>“</a:t>
            </a:r>
            <a:r>
              <a:rPr i="1" lang="pt-BR" sz="2300">
                <a:solidFill>
                  <a:srgbClr val="555555"/>
                </a:solidFill>
                <a:highlight>
                  <a:srgbClr val="FFFFFF"/>
                </a:highlight>
              </a:rPr>
              <a:t>… the hyperbolic tangent activation function typically performs better than the logistic sigmoid.” Ian Goodfellow- Deep Learning.</a:t>
            </a:r>
            <a:endParaRPr i="1" sz="2300">
              <a:solidFill>
                <a:srgbClr val="555555"/>
              </a:solidFill>
              <a:highlight>
                <a:srgbClr val="FFFFFF"/>
              </a:highlight>
            </a:endParaRPr>
          </a:p>
          <a:p>
            <a:pPr indent="-311150" lvl="2" marL="1143000" marR="0" rtl="0" algn="l">
              <a:lnSpc>
                <a:spcPct val="100000"/>
              </a:lnSpc>
              <a:spcBef>
                <a:spcPts val="1000"/>
              </a:spcBef>
              <a:spcAft>
                <a:spcPts val="0"/>
              </a:spcAft>
              <a:buClr>
                <a:schemeClr val="dk1"/>
              </a:buClr>
              <a:buSzPts val="1900"/>
              <a:buChar char="■"/>
            </a:pPr>
            <a:r>
              <a:rPr lang="pt-BR" sz="1900">
                <a:solidFill>
                  <a:schemeClr val="dk1"/>
                </a:solidFill>
                <a:highlight>
                  <a:srgbClr val="FFFFFF"/>
                </a:highlight>
              </a:rPr>
              <a:t>Entretanto, tanto tanh quanto sigmoid saturam, e sua utilização depende da arquitetura e outras escolhas de parametrização. Arquiteturas de redes recorrentes, LSTM, GRU dependem dessas funções.</a:t>
            </a:r>
            <a:endParaRPr sz="1900">
              <a:solidFill>
                <a:schemeClr val="dk1"/>
              </a:solidFill>
              <a:highlight>
                <a:srgbClr val="FFFFFF"/>
              </a:highlight>
            </a:endParaRPr>
          </a:p>
          <a:p>
            <a:pPr indent="-311150" lvl="1" marL="762000" rtl="0" algn="l">
              <a:spcBef>
                <a:spcPts val="1000"/>
              </a:spcBef>
              <a:spcAft>
                <a:spcPts val="0"/>
              </a:spcAft>
              <a:buClr>
                <a:schemeClr val="dk1"/>
              </a:buClr>
              <a:buSzPts val="1900"/>
              <a:buChar char="−"/>
            </a:pPr>
            <a:r>
              <a:rPr lang="pt-BR" sz="2900">
                <a:solidFill>
                  <a:schemeClr val="dk1"/>
                </a:solidFill>
                <a:highlight>
                  <a:srgbClr val="FFFFFF"/>
                </a:highlight>
              </a:rPr>
              <a:t>“</a:t>
            </a:r>
            <a:r>
              <a:rPr i="1" lang="pt-BR" sz="2150">
                <a:solidFill>
                  <a:srgbClr val="555555"/>
                </a:solidFill>
                <a:highlight>
                  <a:srgbClr val="FFFFFF"/>
                </a:highlight>
              </a:rPr>
              <a:t>In modern neural networks, the default recommendation is to use the rectified linear unit or ReLU …”</a:t>
            </a:r>
            <a:endParaRPr sz="2900">
              <a:solidFill>
                <a:schemeClr val="dk1"/>
              </a:solidFill>
              <a:highlight>
                <a:srgbClr val="FFFFFF"/>
              </a:highlight>
            </a:endParaRPr>
          </a:p>
        </p:txBody>
      </p:sp>
      <p:pic>
        <p:nvPicPr>
          <p:cNvPr id="346" name="Google Shape;346;p56"/>
          <p:cNvPicPr preferRelativeResize="0"/>
          <p:nvPr/>
        </p:nvPicPr>
        <p:blipFill>
          <a:blip r:embed="rId3">
            <a:alphaModFix/>
          </a:blip>
          <a:stretch>
            <a:fillRect/>
          </a:stretch>
        </p:blipFill>
        <p:spPr>
          <a:xfrm>
            <a:off x="8050625" y="44817"/>
            <a:ext cx="1093375" cy="13223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50" name="Shape 350"/>
        <p:cNvGrpSpPr/>
        <p:nvPr/>
      </p:nvGrpSpPr>
      <p:grpSpPr>
        <a:xfrm>
          <a:off x="0" y="0"/>
          <a:ext cx="0" cy="0"/>
          <a:chOff x="0" y="0"/>
          <a:chExt cx="0" cy="0"/>
        </a:xfrm>
      </p:grpSpPr>
      <p:sp>
        <p:nvSpPr>
          <p:cNvPr id="351" name="Google Shape;351;p57"/>
          <p:cNvSpPr txBox="1"/>
          <p:nvPr>
            <p:ph type="title"/>
          </p:nvPr>
        </p:nvSpPr>
        <p:spPr>
          <a:xfrm>
            <a:off x="441367" y="451124"/>
            <a:ext cx="6640800" cy="413100"/>
          </a:xfrm>
          <a:prstGeom prst="rect">
            <a:avLst/>
          </a:prstGeom>
          <a:noFill/>
          <a:ln>
            <a:noFill/>
          </a:ln>
        </p:spPr>
        <p:txBody>
          <a:bodyPr anchorCtr="0" anchor="t" bIns="0" lIns="0" spcFirstLastPara="1" rIns="0" wrap="square" tIns="12675">
            <a:spAutoFit/>
          </a:bodyPr>
          <a:lstStyle/>
          <a:p>
            <a:pPr indent="0" lvl="0" marL="12700" rtl="0" algn="l">
              <a:lnSpc>
                <a:spcPct val="100000"/>
              </a:lnSpc>
              <a:spcBef>
                <a:spcPts val="0"/>
              </a:spcBef>
              <a:spcAft>
                <a:spcPts val="0"/>
              </a:spcAft>
              <a:buNone/>
            </a:pPr>
            <a:r>
              <a:rPr lang="pt-BR" sz="2600"/>
              <a:t>Escolhas de Parametrização - Ativação</a:t>
            </a:r>
            <a:endParaRPr sz="2600"/>
          </a:p>
        </p:txBody>
      </p:sp>
      <p:sp>
        <p:nvSpPr>
          <p:cNvPr id="352" name="Google Shape;352;p57"/>
          <p:cNvSpPr txBox="1"/>
          <p:nvPr/>
        </p:nvSpPr>
        <p:spPr>
          <a:xfrm>
            <a:off x="540999" y="1063875"/>
            <a:ext cx="7853100" cy="1045200"/>
          </a:xfrm>
          <a:prstGeom prst="rect">
            <a:avLst/>
          </a:prstGeom>
          <a:noFill/>
          <a:ln>
            <a:noFill/>
          </a:ln>
        </p:spPr>
        <p:txBody>
          <a:bodyPr anchorCtr="0" anchor="t" bIns="0" lIns="0" spcFirstLastPara="1" rIns="0" wrap="square" tIns="161125">
            <a:spAutoFit/>
          </a:bodyPr>
          <a:lstStyle/>
          <a:p>
            <a:pPr indent="-266700" lvl="0" marL="279400" marR="0" rtl="0" algn="l">
              <a:lnSpc>
                <a:spcPct val="100000"/>
              </a:lnSpc>
              <a:spcBef>
                <a:spcPts val="0"/>
              </a:spcBef>
              <a:spcAft>
                <a:spcPts val="0"/>
              </a:spcAft>
              <a:buSzPts val="1200"/>
              <a:buFont typeface="Noto Sans Symbols"/>
              <a:buChar char="●"/>
            </a:pPr>
            <a:r>
              <a:rPr lang="pt-BR" sz="2600">
                <a:latin typeface="Arial"/>
                <a:ea typeface="Arial"/>
                <a:cs typeface="Arial"/>
                <a:sym typeface="Arial"/>
              </a:rPr>
              <a:t>H</a:t>
            </a:r>
            <a:r>
              <a:rPr lang="pt-BR" sz="2600"/>
              <a:t>i</a:t>
            </a:r>
            <a:r>
              <a:rPr lang="pt-BR" sz="2600">
                <a:latin typeface="Arial"/>
                <a:ea typeface="Arial"/>
                <a:cs typeface="Arial"/>
                <a:sym typeface="Arial"/>
              </a:rPr>
              <a:t>perparâmetros: </a:t>
            </a:r>
            <a:r>
              <a:rPr lang="pt-BR" sz="2300">
                <a:solidFill>
                  <a:schemeClr val="dk1"/>
                </a:solidFill>
              </a:rPr>
              <a:t>Função de Ativação</a:t>
            </a:r>
            <a:endParaRPr sz="2600"/>
          </a:p>
          <a:p>
            <a:pPr indent="-311150" lvl="1" marL="762000" rtl="0" algn="l">
              <a:spcBef>
                <a:spcPts val="1000"/>
              </a:spcBef>
              <a:spcAft>
                <a:spcPts val="0"/>
              </a:spcAft>
              <a:buClr>
                <a:schemeClr val="dk1"/>
              </a:buClr>
              <a:buSzPts val="1900"/>
              <a:buChar char="−"/>
            </a:pPr>
            <a:r>
              <a:rPr lang="pt-BR" sz="2300"/>
              <a:t>Portanto, segundo </a:t>
            </a:r>
            <a:r>
              <a:rPr b="1" i="1" lang="pt-BR" sz="2300"/>
              <a:t>Ian</a:t>
            </a:r>
            <a:r>
              <a:rPr lang="pt-BR" sz="2300"/>
              <a:t>, para as camadas ocultas:</a:t>
            </a:r>
            <a:endParaRPr sz="2900">
              <a:solidFill>
                <a:schemeClr val="dk1"/>
              </a:solidFill>
              <a:highlight>
                <a:srgbClr val="FFFFFF"/>
              </a:highlight>
            </a:endParaRPr>
          </a:p>
        </p:txBody>
      </p:sp>
      <p:pic>
        <p:nvPicPr>
          <p:cNvPr id="353" name="Google Shape;353;p57"/>
          <p:cNvPicPr preferRelativeResize="0"/>
          <p:nvPr/>
        </p:nvPicPr>
        <p:blipFill>
          <a:blip r:embed="rId3">
            <a:alphaModFix/>
          </a:blip>
          <a:stretch>
            <a:fillRect/>
          </a:stretch>
        </p:blipFill>
        <p:spPr>
          <a:xfrm>
            <a:off x="8050625" y="44817"/>
            <a:ext cx="1093375" cy="1322300"/>
          </a:xfrm>
          <a:prstGeom prst="rect">
            <a:avLst/>
          </a:prstGeom>
          <a:noFill/>
          <a:ln>
            <a:noFill/>
          </a:ln>
        </p:spPr>
      </p:pic>
      <p:pic>
        <p:nvPicPr>
          <p:cNvPr id="354" name="Google Shape;354;p57"/>
          <p:cNvPicPr preferRelativeResize="0"/>
          <p:nvPr/>
        </p:nvPicPr>
        <p:blipFill>
          <a:blip r:embed="rId4">
            <a:alphaModFix/>
          </a:blip>
          <a:stretch>
            <a:fillRect/>
          </a:stretch>
        </p:blipFill>
        <p:spPr>
          <a:xfrm>
            <a:off x="1665200" y="2365200"/>
            <a:ext cx="5891154" cy="272962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58" name="Shape 358"/>
        <p:cNvGrpSpPr/>
        <p:nvPr/>
      </p:nvGrpSpPr>
      <p:grpSpPr>
        <a:xfrm>
          <a:off x="0" y="0"/>
          <a:ext cx="0" cy="0"/>
          <a:chOff x="0" y="0"/>
          <a:chExt cx="0" cy="0"/>
        </a:xfrm>
      </p:grpSpPr>
      <p:sp>
        <p:nvSpPr>
          <p:cNvPr id="359" name="Google Shape;359;p58"/>
          <p:cNvSpPr txBox="1"/>
          <p:nvPr>
            <p:ph type="title"/>
          </p:nvPr>
        </p:nvSpPr>
        <p:spPr>
          <a:xfrm>
            <a:off x="441367" y="451124"/>
            <a:ext cx="6640800" cy="413100"/>
          </a:xfrm>
          <a:prstGeom prst="rect">
            <a:avLst/>
          </a:prstGeom>
          <a:noFill/>
          <a:ln>
            <a:noFill/>
          </a:ln>
        </p:spPr>
        <p:txBody>
          <a:bodyPr anchorCtr="0" anchor="t" bIns="0" lIns="0" spcFirstLastPara="1" rIns="0" wrap="square" tIns="12675">
            <a:spAutoFit/>
          </a:bodyPr>
          <a:lstStyle/>
          <a:p>
            <a:pPr indent="0" lvl="0" marL="12700" rtl="0" algn="l">
              <a:lnSpc>
                <a:spcPct val="100000"/>
              </a:lnSpc>
              <a:spcBef>
                <a:spcPts val="0"/>
              </a:spcBef>
              <a:spcAft>
                <a:spcPts val="0"/>
              </a:spcAft>
              <a:buNone/>
            </a:pPr>
            <a:r>
              <a:rPr lang="pt-BR" sz="2600"/>
              <a:t>Escolhas de Parametrização - Ativação</a:t>
            </a:r>
            <a:endParaRPr sz="2600"/>
          </a:p>
        </p:txBody>
      </p:sp>
      <p:sp>
        <p:nvSpPr>
          <p:cNvPr id="360" name="Google Shape;360;p58"/>
          <p:cNvSpPr txBox="1"/>
          <p:nvPr/>
        </p:nvSpPr>
        <p:spPr>
          <a:xfrm>
            <a:off x="541000" y="1063900"/>
            <a:ext cx="7543800" cy="1563300"/>
          </a:xfrm>
          <a:prstGeom prst="rect">
            <a:avLst/>
          </a:prstGeom>
          <a:noFill/>
          <a:ln>
            <a:noFill/>
          </a:ln>
        </p:spPr>
        <p:txBody>
          <a:bodyPr anchorCtr="0" anchor="t" bIns="0" lIns="0" spcFirstLastPara="1" rIns="0" wrap="square" tIns="161125">
            <a:spAutoFit/>
          </a:bodyPr>
          <a:lstStyle/>
          <a:p>
            <a:pPr indent="-234950" lvl="0" marL="279400" marR="0" rtl="0" algn="l">
              <a:lnSpc>
                <a:spcPct val="100000"/>
              </a:lnSpc>
              <a:spcBef>
                <a:spcPts val="0"/>
              </a:spcBef>
              <a:spcAft>
                <a:spcPts val="0"/>
              </a:spcAft>
              <a:buSzPts val="700"/>
              <a:buFont typeface="Noto Sans Symbols"/>
              <a:buChar char="●"/>
            </a:pPr>
            <a:r>
              <a:rPr lang="pt-BR" sz="2100">
                <a:latin typeface="Arial"/>
                <a:ea typeface="Arial"/>
                <a:cs typeface="Arial"/>
                <a:sym typeface="Arial"/>
              </a:rPr>
              <a:t>Hyperparâmetros</a:t>
            </a:r>
            <a:endParaRPr sz="2100">
              <a:latin typeface="Arial"/>
              <a:ea typeface="Arial"/>
              <a:cs typeface="Arial"/>
              <a:sym typeface="Arial"/>
            </a:endParaRPr>
          </a:p>
          <a:p>
            <a:pPr indent="-209550" lvl="1" marL="635000" marR="0" rtl="0" algn="l">
              <a:lnSpc>
                <a:spcPct val="100000"/>
              </a:lnSpc>
              <a:spcBef>
                <a:spcPts val="1000"/>
              </a:spcBef>
              <a:spcAft>
                <a:spcPts val="0"/>
              </a:spcAft>
              <a:buSzPts val="900"/>
              <a:buFont typeface="Noto Sans Symbols"/>
              <a:buChar char="−"/>
            </a:pPr>
            <a:r>
              <a:rPr lang="pt-BR" sz="1500"/>
              <a:t>Quais são as melhores Funções de ativação?</a:t>
            </a:r>
            <a:r>
              <a:rPr b="0" i="0" lang="pt-BR" sz="1500" u="none" cap="none" strike="noStrike">
                <a:latin typeface="Arial"/>
                <a:ea typeface="Arial"/>
                <a:cs typeface="Arial"/>
                <a:sym typeface="Arial"/>
              </a:rPr>
              <a:t> </a:t>
            </a:r>
            <a:endParaRPr b="0" i="0" sz="1500" u="none" cap="none" strike="noStrike">
              <a:latin typeface="Arial"/>
              <a:ea typeface="Arial"/>
              <a:cs typeface="Arial"/>
              <a:sym typeface="Arial"/>
            </a:endParaRPr>
          </a:p>
          <a:p>
            <a:pPr indent="-298450" lvl="2" marL="1143000" marR="0" rtl="0" algn="l">
              <a:lnSpc>
                <a:spcPct val="100000"/>
              </a:lnSpc>
              <a:spcBef>
                <a:spcPts val="1000"/>
              </a:spcBef>
              <a:spcAft>
                <a:spcPts val="0"/>
              </a:spcAft>
              <a:buSzPts val="1700"/>
              <a:buChar char="■"/>
            </a:pPr>
            <a:r>
              <a:rPr lang="pt-BR" sz="1300"/>
              <a:t>Difícil…:  </a:t>
            </a:r>
            <a:r>
              <a:rPr lang="pt-BR" sz="1300" u="sng">
                <a:solidFill>
                  <a:schemeClr val="hlink"/>
                </a:solidFill>
                <a:hlinkClick r:id="rId3"/>
              </a:rPr>
              <a:t>https://doi.org/10.1016/j.neucom.2022.06.111</a:t>
            </a:r>
            <a:endParaRPr sz="1300"/>
          </a:p>
          <a:p>
            <a:pPr indent="-273050" lvl="2" marL="1143000" marR="0" rtl="0" algn="l">
              <a:lnSpc>
                <a:spcPct val="100000"/>
              </a:lnSpc>
              <a:spcBef>
                <a:spcPts val="1000"/>
              </a:spcBef>
              <a:spcAft>
                <a:spcPts val="0"/>
              </a:spcAft>
              <a:buSzPts val="1300"/>
              <a:buChar char="■"/>
            </a:pPr>
            <a:r>
              <a:rPr lang="pt-BR" sz="1300"/>
              <a:t>https://ml-explained.com/blog/activation-functions-explained</a:t>
            </a:r>
            <a:endParaRPr sz="1300"/>
          </a:p>
        </p:txBody>
      </p:sp>
      <p:pic>
        <p:nvPicPr>
          <p:cNvPr id="361" name="Google Shape;361;p58"/>
          <p:cNvPicPr preferRelativeResize="0"/>
          <p:nvPr/>
        </p:nvPicPr>
        <p:blipFill>
          <a:blip r:embed="rId4">
            <a:alphaModFix/>
          </a:blip>
          <a:stretch>
            <a:fillRect/>
          </a:stretch>
        </p:blipFill>
        <p:spPr>
          <a:xfrm>
            <a:off x="8050625" y="44817"/>
            <a:ext cx="1093375" cy="1322300"/>
          </a:xfrm>
          <a:prstGeom prst="rect">
            <a:avLst/>
          </a:prstGeom>
          <a:noFill/>
          <a:ln>
            <a:noFill/>
          </a:ln>
        </p:spPr>
      </p:pic>
      <p:pic>
        <p:nvPicPr>
          <p:cNvPr id="362" name="Google Shape;362;p58"/>
          <p:cNvPicPr preferRelativeResize="0"/>
          <p:nvPr/>
        </p:nvPicPr>
        <p:blipFill>
          <a:blip r:embed="rId5">
            <a:alphaModFix/>
          </a:blip>
          <a:stretch>
            <a:fillRect/>
          </a:stretch>
        </p:blipFill>
        <p:spPr>
          <a:xfrm>
            <a:off x="1856850" y="2612975"/>
            <a:ext cx="4068090" cy="242182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66" name="Shape 366"/>
        <p:cNvGrpSpPr/>
        <p:nvPr/>
      </p:nvGrpSpPr>
      <p:grpSpPr>
        <a:xfrm>
          <a:off x="0" y="0"/>
          <a:ext cx="0" cy="0"/>
          <a:chOff x="0" y="0"/>
          <a:chExt cx="0" cy="0"/>
        </a:xfrm>
      </p:grpSpPr>
      <p:sp>
        <p:nvSpPr>
          <p:cNvPr id="367" name="Google Shape;367;p59"/>
          <p:cNvSpPr txBox="1"/>
          <p:nvPr>
            <p:ph type="title"/>
          </p:nvPr>
        </p:nvSpPr>
        <p:spPr>
          <a:xfrm>
            <a:off x="441367" y="451124"/>
            <a:ext cx="6640800" cy="413100"/>
          </a:xfrm>
          <a:prstGeom prst="rect">
            <a:avLst/>
          </a:prstGeom>
          <a:noFill/>
          <a:ln>
            <a:noFill/>
          </a:ln>
        </p:spPr>
        <p:txBody>
          <a:bodyPr anchorCtr="0" anchor="t" bIns="0" lIns="0" spcFirstLastPara="1" rIns="0" wrap="square" tIns="12675">
            <a:spAutoFit/>
          </a:bodyPr>
          <a:lstStyle/>
          <a:p>
            <a:pPr indent="0" lvl="0" marL="12700" rtl="0" algn="l">
              <a:lnSpc>
                <a:spcPct val="100000"/>
              </a:lnSpc>
              <a:spcBef>
                <a:spcPts val="0"/>
              </a:spcBef>
              <a:spcAft>
                <a:spcPts val="0"/>
              </a:spcAft>
              <a:buNone/>
            </a:pPr>
            <a:r>
              <a:rPr lang="pt-BR" sz="2600"/>
              <a:t>Escolhas de Parametrização - Ativação</a:t>
            </a:r>
            <a:endParaRPr sz="2600"/>
          </a:p>
        </p:txBody>
      </p:sp>
      <p:sp>
        <p:nvSpPr>
          <p:cNvPr id="368" name="Google Shape;368;p59"/>
          <p:cNvSpPr txBox="1"/>
          <p:nvPr/>
        </p:nvSpPr>
        <p:spPr>
          <a:xfrm>
            <a:off x="541000" y="1063900"/>
            <a:ext cx="7543800" cy="814200"/>
          </a:xfrm>
          <a:prstGeom prst="rect">
            <a:avLst/>
          </a:prstGeom>
          <a:noFill/>
          <a:ln>
            <a:noFill/>
          </a:ln>
        </p:spPr>
        <p:txBody>
          <a:bodyPr anchorCtr="0" anchor="t" bIns="0" lIns="0" spcFirstLastPara="1" rIns="0" wrap="square" tIns="161125">
            <a:spAutoFit/>
          </a:bodyPr>
          <a:lstStyle/>
          <a:p>
            <a:pPr indent="-234950" lvl="0" marL="279400" marR="0" rtl="0" algn="l">
              <a:lnSpc>
                <a:spcPct val="100000"/>
              </a:lnSpc>
              <a:spcBef>
                <a:spcPts val="0"/>
              </a:spcBef>
              <a:spcAft>
                <a:spcPts val="0"/>
              </a:spcAft>
              <a:buSzPts val="700"/>
              <a:buFont typeface="Noto Sans Symbols"/>
              <a:buChar char="●"/>
            </a:pPr>
            <a:r>
              <a:rPr lang="pt-BR" sz="2100">
                <a:latin typeface="Arial"/>
                <a:ea typeface="Arial"/>
                <a:cs typeface="Arial"/>
                <a:sym typeface="Arial"/>
              </a:rPr>
              <a:t>Hyperparâmetros</a:t>
            </a:r>
            <a:endParaRPr sz="2100">
              <a:latin typeface="Arial"/>
              <a:ea typeface="Arial"/>
              <a:cs typeface="Arial"/>
              <a:sym typeface="Arial"/>
            </a:endParaRPr>
          </a:p>
          <a:p>
            <a:pPr indent="0" lvl="0" marL="0" marR="0" rtl="0" algn="l">
              <a:lnSpc>
                <a:spcPct val="100000"/>
              </a:lnSpc>
              <a:spcBef>
                <a:spcPts val="1000"/>
              </a:spcBef>
              <a:spcAft>
                <a:spcPts val="0"/>
              </a:spcAft>
              <a:buNone/>
            </a:pPr>
            <a:r>
              <a:t/>
            </a:r>
            <a:endParaRPr sz="1300"/>
          </a:p>
        </p:txBody>
      </p:sp>
      <p:pic>
        <p:nvPicPr>
          <p:cNvPr id="369" name="Google Shape;369;p59"/>
          <p:cNvPicPr preferRelativeResize="0"/>
          <p:nvPr/>
        </p:nvPicPr>
        <p:blipFill>
          <a:blip r:embed="rId3">
            <a:alphaModFix/>
          </a:blip>
          <a:stretch>
            <a:fillRect/>
          </a:stretch>
        </p:blipFill>
        <p:spPr>
          <a:xfrm>
            <a:off x="8050625" y="44817"/>
            <a:ext cx="1093375" cy="1322300"/>
          </a:xfrm>
          <a:prstGeom prst="rect">
            <a:avLst/>
          </a:prstGeom>
          <a:noFill/>
          <a:ln>
            <a:noFill/>
          </a:ln>
        </p:spPr>
      </p:pic>
      <p:pic>
        <p:nvPicPr>
          <p:cNvPr id="370" name="Google Shape;370;p59"/>
          <p:cNvPicPr preferRelativeResize="0"/>
          <p:nvPr/>
        </p:nvPicPr>
        <p:blipFill>
          <a:blip r:embed="rId4">
            <a:alphaModFix/>
          </a:blip>
          <a:stretch>
            <a:fillRect/>
          </a:stretch>
        </p:blipFill>
        <p:spPr>
          <a:xfrm>
            <a:off x="1253500" y="1780274"/>
            <a:ext cx="5828675" cy="3363226"/>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74" name="Shape 374"/>
        <p:cNvGrpSpPr/>
        <p:nvPr/>
      </p:nvGrpSpPr>
      <p:grpSpPr>
        <a:xfrm>
          <a:off x="0" y="0"/>
          <a:ext cx="0" cy="0"/>
          <a:chOff x="0" y="0"/>
          <a:chExt cx="0" cy="0"/>
        </a:xfrm>
      </p:grpSpPr>
      <p:sp>
        <p:nvSpPr>
          <p:cNvPr id="375" name="Google Shape;375;p60"/>
          <p:cNvSpPr txBox="1"/>
          <p:nvPr>
            <p:ph type="title"/>
          </p:nvPr>
        </p:nvSpPr>
        <p:spPr>
          <a:xfrm>
            <a:off x="441367" y="451124"/>
            <a:ext cx="6640800" cy="413100"/>
          </a:xfrm>
          <a:prstGeom prst="rect">
            <a:avLst/>
          </a:prstGeom>
          <a:noFill/>
          <a:ln>
            <a:noFill/>
          </a:ln>
        </p:spPr>
        <p:txBody>
          <a:bodyPr anchorCtr="0" anchor="t" bIns="0" lIns="0" spcFirstLastPara="1" rIns="0" wrap="square" tIns="12675">
            <a:spAutoFit/>
          </a:bodyPr>
          <a:lstStyle/>
          <a:p>
            <a:pPr indent="0" lvl="0" marL="12700" rtl="0" algn="l">
              <a:lnSpc>
                <a:spcPct val="100000"/>
              </a:lnSpc>
              <a:spcBef>
                <a:spcPts val="0"/>
              </a:spcBef>
              <a:spcAft>
                <a:spcPts val="0"/>
              </a:spcAft>
              <a:buNone/>
            </a:pPr>
            <a:r>
              <a:rPr lang="pt-BR" sz="2600"/>
              <a:t>Escolhas de Parametrização - Ativação</a:t>
            </a:r>
            <a:endParaRPr sz="2600"/>
          </a:p>
        </p:txBody>
      </p:sp>
      <p:sp>
        <p:nvSpPr>
          <p:cNvPr id="376" name="Google Shape;376;p60"/>
          <p:cNvSpPr txBox="1"/>
          <p:nvPr/>
        </p:nvSpPr>
        <p:spPr>
          <a:xfrm>
            <a:off x="541000" y="1063900"/>
            <a:ext cx="7543800" cy="814200"/>
          </a:xfrm>
          <a:prstGeom prst="rect">
            <a:avLst/>
          </a:prstGeom>
          <a:noFill/>
          <a:ln>
            <a:noFill/>
          </a:ln>
        </p:spPr>
        <p:txBody>
          <a:bodyPr anchorCtr="0" anchor="t" bIns="0" lIns="0" spcFirstLastPara="1" rIns="0" wrap="square" tIns="161125">
            <a:spAutoFit/>
          </a:bodyPr>
          <a:lstStyle/>
          <a:p>
            <a:pPr indent="-234950" lvl="0" marL="279400" marR="0" rtl="0" algn="l">
              <a:lnSpc>
                <a:spcPct val="100000"/>
              </a:lnSpc>
              <a:spcBef>
                <a:spcPts val="0"/>
              </a:spcBef>
              <a:spcAft>
                <a:spcPts val="0"/>
              </a:spcAft>
              <a:buSzPts val="700"/>
              <a:buFont typeface="Noto Sans Symbols"/>
              <a:buChar char="●"/>
            </a:pPr>
            <a:r>
              <a:rPr lang="pt-BR" sz="2100">
                <a:latin typeface="Arial"/>
                <a:ea typeface="Arial"/>
                <a:cs typeface="Arial"/>
                <a:sym typeface="Arial"/>
              </a:rPr>
              <a:t>Hyperparâmetros</a:t>
            </a:r>
            <a:endParaRPr sz="2100">
              <a:latin typeface="Arial"/>
              <a:ea typeface="Arial"/>
              <a:cs typeface="Arial"/>
              <a:sym typeface="Arial"/>
            </a:endParaRPr>
          </a:p>
          <a:p>
            <a:pPr indent="0" lvl="0" marL="0" marR="0" rtl="0" algn="l">
              <a:lnSpc>
                <a:spcPct val="100000"/>
              </a:lnSpc>
              <a:spcBef>
                <a:spcPts val="1000"/>
              </a:spcBef>
              <a:spcAft>
                <a:spcPts val="0"/>
              </a:spcAft>
              <a:buNone/>
            </a:pPr>
            <a:r>
              <a:t/>
            </a:r>
            <a:endParaRPr sz="1300"/>
          </a:p>
        </p:txBody>
      </p:sp>
      <p:pic>
        <p:nvPicPr>
          <p:cNvPr id="377" name="Google Shape;377;p60"/>
          <p:cNvPicPr preferRelativeResize="0"/>
          <p:nvPr/>
        </p:nvPicPr>
        <p:blipFill>
          <a:blip r:embed="rId3">
            <a:alphaModFix/>
          </a:blip>
          <a:stretch>
            <a:fillRect/>
          </a:stretch>
        </p:blipFill>
        <p:spPr>
          <a:xfrm>
            <a:off x="8050625" y="44817"/>
            <a:ext cx="1093375" cy="1322300"/>
          </a:xfrm>
          <a:prstGeom prst="rect">
            <a:avLst/>
          </a:prstGeom>
          <a:noFill/>
          <a:ln>
            <a:noFill/>
          </a:ln>
        </p:spPr>
      </p:pic>
      <p:pic>
        <p:nvPicPr>
          <p:cNvPr id="378" name="Google Shape;378;p60"/>
          <p:cNvPicPr preferRelativeResize="0"/>
          <p:nvPr/>
        </p:nvPicPr>
        <p:blipFill>
          <a:blip r:embed="rId4">
            <a:alphaModFix/>
          </a:blip>
          <a:stretch>
            <a:fillRect/>
          </a:stretch>
        </p:blipFill>
        <p:spPr>
          <a:xfrm>
            <a:off x="1561149" y="1679175"/>
            <a:ext cx="4678799" cy="346432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82" name="Shape 382"/>
        <p:cNvGrpSpPr/>
        <p:nvPr/>
      </p:nvGrpSpPr>
      <p:grpSpPr>
        <a:xfrm>
          <a:off x="0" y="0"/>
          <a:ext cx="0" cy="0"/>
          <a:chOff x="0" y="0"/>
          <a:chExt cx="0" cy="0"/>
        </a:xfrm>
      </p:grpSpPr>
      <p:sp>
        <p:nvSpPr>
          <p:cNvPr id="383" name="Google Shape;383;p61"/>
          <p:cNvSpPr txBox="1"/>
          <p:nvPr>
            <p:ph type="title"/>
          </p:nvPr>
        </p:nvSpPr>
        <p:spPr>
          <a:xfrm>
            <a:off x="441367" y="451124"/>
            <a:ext cx="6640800" cy="413100"/>
          </a:xfrm>
          <a:prstGeom prst="rect">
            <a:avLst/>
          </a:prstGeom>
          <a:noFill/>
          <a:ln>
            <a:noFill/>
          </a:ln>
        </p:spPr>
        <p:txBody>
          <a:bodyPr anchorCtr="0" anchor="t" bIns="0" lIns="0" spcFirstLastPara="1" rIns="0" wrap="square" tIns="12675">
            <a:spAutoFit/>
          </a:bodyPr>
          <a:lstStyle/>
          <a:p>
            <a:pPr indent="0" lvl="0" marL="12700" rtl="0" algn="l">
              <a:lnSpc>
                <a:spcPct val="100000"/>
              </a:lnSpc>
              <a:spcBef>
                <a:spcPts val="0"/>
              </a:spcBef>
              <a:spcAft>
                <a:spcPts val="0"/>
              </a:spcAft>
              <a:buNone/>
            </a:pPr>
            <a:r>
              <a:rPr lang="pt-BR" sz="2600"/>
              <a:t>Escolhas de Parametrização - Ativação</a:t>
            </a:r>
            <a:endParaRPr sz="2600"/>
          </a:p>
        </p:txBody>
      </p:sp>
      <p:sp>
        <p:nvSpPr>
          <p:cNvPr id="384" name="Google Shape;384;p61"/>
          <p:cNvSpPr txBox="1"/>
          <p:nvPr/>
        </p:nvSpPr>
        <p:spPr>
          <a:xfrm>
            <a:off x="540999" y="1063875"/>
            <a:ext cx="7853100" cy="3166500"/>
          </a:xfrm>
          <a:prstGeom prst="rect">
            <a:avLst/>
          </a:prstGeom>
          <a:noFill/>
          <a:ln>
            <a:noFill/>
          </a:ln>
        </p:spPr>
        <p:txBody>
          <a:bodyPr anchorCtr="0" anchor="t" bIns="0" lIns="0" spcFirstLastPara="1" rIns="0" wrap="square" tIns="161125">
            <a:spAutoFit/>
          </a:bodyPr>
          <a:lstStyle/>
          <a:p>
            <a:pPr indent="-266700" lvl="0" marL="279400" marR="0" rtl="0" algn="l">
              <a:lnSpc>
                <a:spcPct val="100000"/>
              </a:lnSpc>
              <a:spcBef>
                <a:spcPts val="0"/>
              </a:spcBef>
              <a:spcAft>
                <a:spcPts val="0"/>
              </a:spcAft>
              <a:buSzPts val="1200"/>
              <a:buFont typeface="Noto Sans Symbols"/>
              <a:buChar char="●"/>
            </a:pPr>
            <a:r>
              <a:rPr lang="pt-BR" sz="2600">
                <a:latin typeface="Arial"/>
                <a:ea typeface="Arial"/>
                <a:cs typeface="Arial"/>
                <a:sym typeface="Arial"/>
              </a:rPr>
              <a:t>H</a:t>
            </a:r>
            <a:r>
              <a:rPr lang="pt-BR" sz="2600"/>
              <a:t>i</a:t>
            </a:r>
            <a:r>
              <a:rPr lang="pt-BR" sz="2600">
                <a:latin typeface="Arial"/>
                <a:ea typeface="Arial"/>
                <a:cs typeface="Arial"/>
                <a:sym typeface="Arial"/>
              </a:rPr>
              <a:t>perparâmetros: </a:t>
            </a:r>
            <a:r>
              <a:rPr lang="pt-BR" sz="2300">
                <a:solidFill>
                  <a:schemeClr val="dk1"/>
                </a:solidFill>
              </a:rPr>
              <a:t>Função de Ativação  típicas da camada de saída</a:t>
            </a:r>
            <a:endParaRPr sz="2300">
              <a:solidFill>
                <a:schemeClr val="dk1"/>
              </a:solidFill>
            </a:endParaRPr>
          </a:p>
          <a:p>
            <a:pPr indent="-307975" lvl="1" marL="762000" rtl="0" algn="l">
              <a:lnSpc>
                <a:spcPct val="115000"/>
              </a:lnSpc>
              <a:spcBef>
                <a:spcPts val="0"/>
              </a:spcBef>
              <a:spcAft>
                <a:spcPts val="0"/>
              </a:spcAft>
              <a:buClr>
                <a:srgbClr val="555555"/>
              </a:buClr>
              <a:buSzPts val="1850"/>
              <a:buChar char="−"/>
            </a:pPr>
            <a:r>
              <a:rPr lang="pt-BR" sz="1850">
                <a:solidFill>
                  <a:srgbClr val="555555"/>
                </a:solidFill>
                <a:highlight>
                  <a:srgbClr val="FFFFFF"/>
                </a:highlight>
              </a:rPr>
              <a:t>Linear </a:t>
            </a:r>
            <a:r>
              <a:rPr lang="pt-BR" sz="1050">
                <a:solidFill>
                  <a:srgbClr val="008000"/>
                </a:solidFill>
                <a:highlight>
                  <a:srgbClr val="FFFFFE"/>
                </a:highlight>
                <a:latin typeface="Courier New"/>
                <a:ea typeface="Courier New"/>
                <a:cs typeface="Courier New"/>
                <a:sym typeface="Courier New"/>
              </a:rPr>
              <a:t>activation="linear"</a:t>
            </a:r>
            <a:endParaRPr sz="1850">
              <a:solidFill>
                <a:srgbClr val="555555"/>
              </a:solidFill>
              <a:highlight>
                <a:srgbClr val="FFFFFF"/>
              </a:highlight>
            </a:endParaRPr>
          </a:p>
          <a:p>
            <a:pPr indent="-307975" lvl="2" marL="1143000" rtl="0" algn="l">
              <a:lnSpc>
                <a:spcPct val="115000"/>
              </a:lnSpc>
              <a:spcBef>
                <a:spcPts val="0"/>
              </a:spcBef>
              <a:spcAft>
                <a:spcPts val="0"/>
              </a:spcAft>
              <a:buClr>
                <a:srgbClr val="555555"/>
              </a:buClr>
              <a:buSzPts val="1850"/>
              <a:buChar char="■"/>
            </a:pPr>
            <a:r>
              <a:rPr lang="pt-BR" sz="1850">
                <a:solidFill>
                  <a:srgbClr val="555555"/>
                </a:solidFill>
                <a:highlight>
                  <a:srgbClr val="FFFFFF"/>
                </a:highlight>
              </a:rPr>
              <a:t>Saída sem limite superior/inferior. Usualmente p/ regressão. </a:t>
            </a:r>
            <a:endParaRPr sz="1850">
              <a:solidFill>
                <a:srgbClr val="555555"/>
              </a:solidFill>
              <a:highlight>
                <a:srgbClr val="FFFFFF"/>
              </a:highlight>
            </a:endParaRPr>
          </a:p>
          <a:p>
            <a:pPr indent="-307975" lvl="1" marL="762000" rtl="0" algn="l">
              <a:lnSpc>
                <a:spcPct val="115000"/>
              </a:lnSpc>
              <a:spcBef>
                <a:spcPts val="0"/>
              </a:spcBef>
              <a:spcAft>
                <a:spcPts val="0"/>
              </a:spcAft>
              <a:buClr>
                <a:srgbClr val="555555"/>
              </a:buClr>
              <a:buSzPts val="1850"/>
              <a:buChar char="−"/>
            </a:pPr>
            <a:r>
              <a:rPr lang="pt-BR" sz="1850">
                <a:solidFill>
                  <a:srgbClr val="555555"/>
                </a:solidFill>
                <a:highlight>
                  <a:srgbClr val="FFFFFF"/>
                </a:highlight>
              </a:rPr>
              <a:t>Sigmoid - </a:t>
            </a:r>
            <a:r>
              <a:rPr lang="pt-BR" sz="1050">
                <a:solidFill>
                  <a:srgbClr val="008000"/>
                </a:solidFill>
                <a:highlight>
                  <a:srgbClr val="FFFFFE"/>
                </a:highlight>
                <a:latin typeface="Courier New"/>
                <a:ea typeface="Courier New"/>
                <a:cs typeface="Courier New"/>
                <a:sym typeface="Courier New"/>
              </a:rPr>
              <a:t>activation="sigmoid"</a:t>
            </a:r>
            <a:endParaRPr sz="1850">
              <a:solidFill>
                <a:srgbClr val="555555"/>
              </a:solidFill>
              <a:highlight>
                <a:srgbClr val="FFFFFF"/>
              </a:highlight>
            </a:endParaRPr>
          </a:p>
          <a:p>
            <a:pPr indent="-307975" lvl="2" marL="1143000" rtl="0" algn="l">
              <a:lnSpc>
                <a:spcPct val="115000"/>
              </a:lnSpc>
              <a:spcBef>
                <a:spcPts val="0"/>
              </a:spcBef>
              <a:spcAft>
                <a:spcPts val="0"/>
              </a:spcAft>
              <a:buClr>
                <a:srgbClr val="555555"/>
              </a:buClr>
              <a:buSzPts val="1850"/>
              <a:buChar char="■"/>
            </a:pPr>
            <a:r>
              <a:rPr lang="pt-BR" sz="1850">
                <a:solidFill>
                  <a:srgbClr val="555555"/>
                </a:solidFill>
                <a:highlight>
                  <a:srgbClr val="FFFFFF"/>
                </a:highlight>
              </a:rPr>
              <a:t>classificação/multilabel classification</a:t>
            </a:r>
            <a:endParaRPr sz="1850">
              <a:solidFill>
                <a:srgbClr val="555555"/>
              </a:solidFill>
              <a:highlight>
                <a:srgbClr val="FFFFFF"/>
              </a:highlight>
            </a:endParaRPr>
          </a:p>
          <a:p>
            <a:pPr indent="-307975" lvl="1" marL="762000" rtl="0" algn="l">
              <a:lnSpc>
                <a:spcPct val="115000"/>
              </a:lnSpc>
              <a:spcBef>
                <a:spcPts val="0"/>
              </a:spcBef>
              <a:spcAft>
                <a:spcPts val="0"/>
              </a:spcAft>
              <a:buClr>
                <a:srgbClr val="555555"/>
              </a:buClr>
              <a:buSzPts val="1850"/>
              <a:buChar char="−"/>
            </a:pPr>
            <a:r>
              <a:rPr lang="pt-BR" sz="1850">
                <a:solidFill>
                  <a:srgbClr val="555555"/>
                </a:solidFill>
                <a:highlight>
                  <a:srgbClr val="FFFFFF"/>
                </a:highlight>
              </a:rPr>
              <a:t>Softmax - </a:t>
            </a:r>
            <a:r>
              <a:rPr lang="pt-BR" sz="1050">
                <a:solidFill>
                  <a:srgbClr val="008000"/>
                </a:solidFill>
                <a:highlight>
                  <a:srgbClr val="FFFFFE"/>
                </a:highlight>
                <a:latin typeface="Courier New"/>
                <a:ea typeface="Courier New"/>
                <a:cs typeface="Courier New"/>
                <a:sym typeface="Courier New"/>
              </a:rPr>
              <a:t>activation="softmax"</a:t>
            </a:r>
            <a:endParaRPr sz="1850">
              <a:solidFill>
                <a:srgbClr val="555555"/>
              </a:solidFill>
              <a:highlight>
                <a:srgbClr val="FFFFFF"/>
              </a:highlight>
            </a:endParaRPr>
          </a:p>
          <a:p>
            <a:pPr indent="-307975" lvl="2" marL="1143000" rtl="0" algn="l">
              <a:lnSpc>
                <a:spcPct val="115000"/>
              </a:lnSpc>
              <a:spcBef>
                <a:spcPts val="0"/>
              </a:spcBef>
              <a:spcAft>
                <a:spcPts val="0"/>
              </a:spcAft>
              <a:buClr>
                <a:schemeClr val="dk1"/>
              </a:buClr>
              <a:buSzPts val="1850"/>
              <a:buChar char="■"/>
            </a:pPr>
            <a:r>
              <a:rPr lang="pt-BR" sz="1850">
                <a:solidFill>
                  <a:srgbClr val="555555"/>
                </a:solidFill>
                <a:highlight>
                  <a:srgbClr val="FFFFFF"/>
                </a:highlight>
              </a:rPr>
              <a:t>“Força” uma saída (multiclass classification)</a:t>
            </a:r>
            <a:endParaRPr sz="1850">
              <a:solidFill>
                <a:srgbClr val="555555"/>
              </a:solidFill>
              <a:highlight>
                <a:srgbClr val="FFFFFF"/>
              </a:highlight>
            </a:endParaRPr>
          </a:p>
          <a:p>
            <a:pPr indent="-307975" lvl="2" marL="1143000" rtl="0" algn="l">
              <a:lnSpc>
                <a:spcPct val="115000"/>
              </a:lnSpc>
              <a:spcBef>
                <a:spcPts val="0"/>
              </a:spcBef>
              <a:spcAft>
                <a:spcPts val="0"/>
              </a:spcAft>
              <a:buClr>
                <a:srgbClr val="555555"/>
              </a:buClr>
              <a:buSzPts val="1850"/>
              <a:buChar char="■"/>
            </a:pPr>
            <a:r>
              <a:rPr lang="pt-BR" sz="1850">
                <a:solidFill>
                  <a:srgbClr val="555555"/>
                </a:solidFill>
                <a:highlight>
                  <a:srgbClr val="FFFFFF"/>
                </a:highlight>
              </a:rPr>
              <a:t>Múltiplos neurônios de saída e um deve ser escolhido.</a:t>
            </a:r>
            <a:endParaRPr sz="1850">
              <a:solidFill>
                <a:srgbClr val="555555"/>
              </a:solidFill>
              <a:highlight>
                <a:srgbClr val="FFFFFF"/>
              </a:highlight>
            </a:endParaRPr>
          </a:p>
        </p:txBody>
      </p:sp>
      <p:pic>
        <p:nvPicPr>
          <p:cNvPr id="385" name="Google Shape;385;p61"/>
          <p:cNvPicPr preferRelativeResize="0"/>
          <p:nvPr/>
        </p:nvPicPr>
        <p:blipFill>
          <a:blip r:embed="rId3">
            <a:alphaModFix/>
          </a:blip>
          <a:stretch>
            <a:fillRect/>
          </a:stretch>
        </p:blipFill>
        <p:spPr>
          <a:xfrm>
            <a:off x="8050625" y="44817"/>
            <a:ext cx="1093375" cy="13223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89" name="Shape 389"/>
        <p:cNvGrpSpPr/>
        <p:nvPr/>
      </p:nvGrpSpPr>
      <p:grpSpPr>
        <a:xfrm>
          <a:off x="0" y="0"/>
          <a:ext cx="0" cy="0"/>
          <a:chOff x="0" y="0"/>
          <a:chExt cx="0" cy="0"/>
        </a:xfrm>
      </p:grpSpPr>
      <p:sp>
        <p:nvSpPr>
          <p:cNvPr id="390" name="Google Shape;390;p62"/>
          <p:cNvSpPr txBox="1"/>
          <p:nvPr>
            <p:ph type="title"/>
          </p:nvPr>
        </p:nvSpPr>
        <p:spPr>
          <a:xfrm>
            <a:off x="441367" y="451124"/>
            <a:ext cx="6640800" cy="413100"/>
          </a:xfrm>
          <a:prstGeom prst="rect">
            <a:avLst/>
          </a:prstGeom>
          <a:noFill/>
          <a:ln>
            <a:noFill/>
          </a:ln>
        </p:spPr>
        <p:txBody>
          <a:bodyPr anchorCtr="0" anchor="t" bIns="0" lIns="0" spcFirstLastPara="1" rIns="0" wrap="square" tIns="12675">
            <a:spAutoFit/>
          </a:bodyPr>
          <a:lstStyle/>
          <a:p>
            <a:pPr indent="0" lvl="0" marL="12700" rtl="0" algn="l">
              <a:lnSpc>
                <a:spcPct val="100000"/>
              </a:lnSpc>
              <a:spcBef>
                <a:spcPts val="0"/>
              </a:spcBef>
              <a:spcAft>
                <a:spcPts val="0"/>
              </a:spcAft>
              <a:buNone/>
            </a:pPr>
            <a:r>
              <a:rPr lang="pt-BR" sz="2600"/>
              <a:t>Escolhas de Parametrização - Ativação</a:t>
            </a:r>
            <a:endParaRPr sz="2600"/>
          </a:p>
        </p:txBody>
      </p:sp>
      <p:sp>
        <p:nvSpPr>
          <p:cNvPr id="391" name="Google Shape;391;p62"/>
          <p:cNvSpPr txBox="1"/>
          <p:nvPr/>
        </p:nvSpPr>
        <p:spPr>
          <a:xfrm>
            <a:off x="540999" y="1063875"/>
            <a:ext cx="7853100" cy="1201800"/>
          </a:xfrm>
          <a:prstGeom prst="rect">
            <a:avLst/>
          </a:prstGeom>
          <a:noFill/>
          <a:ln>
            <a:noFill/>
          </a:ln>
        </p:spPr>
        <p:txBody>
          <a:bodyPr anchorCtr="0" anchor="t" bIns="0" lIns="0" spcFirstLastPara="1" rIns="0" wrap="square" tIns="161125">
            <a:spAutoFit/>
          </a:bodyPr>
          <a:lstStyle/>
          <a:p>
            <a:pPr indent="-266700" lvl="0" marL="279400" marR="0" rtl="0" algn="l">
              <a:lnSpc>
                <a:spcPct val="100000"/>
              </a:lnSpc>
              <a:spcBef>
                <a:spcPts val="0"/>
              </a:spcBef>
              <a:spcAft>
                <a:spcPts val="0"/>
              </a:spcAft>
              <a:buSzPts val="1200"/>
              <a:buFont typeface="Noto Sans Symbols"/>
              <a:buChar char="●"/>
            </a:pPr>
            <a:r>
              <a:rPr lang="pt-BR" sz="2600">
                <a:latin typeface="Arial"/>
                <a:ea typeface="Arial"/>
                <a:cs typeface="Arial"/>
                <a:sym typeface="Arial"/>
              </a:rPr>
              <a:t>H</a:t>
            </a:r>
            <a:r>
              <a:rPr lang="pt-BR" sz="2600"/>
              <a:t>i</a:t>
            </a:r>
            <a:r>
              <a:rPr lang="pt-BR" sz="2600">
                <a:latin typeface="Arial"/>
                <a:ea typeface="Arial"/>
                <a:cs typeface="Arial"/>
                <a:sym typeface="Arial"/>
              </a:rPr>
              <a:t>perparâmetros: </a:t>
            </a:r>
            <a:r>
              <a:rPr lang="pt-BR" sz="2300">
                <a:solidFill>
                  <a:schemeClr val="dk1"/>
                </a:solidFill>
              </a:rPr>
              <a:t>Função de Ativação  da camada de saída</a:t>
            </a:r>
            <a:endParaRPr sz="2300">
              <a:solidFill>
                <a:schemeClr val="dk1"/>
              </a:solidFill>
            </a:endParaRPr>
          </a:p>
          <a:p>
            <a:pPr indent="-307975" lvl="1" marL="762000" rtl="0" algn="l">
              <a:lnSpc>
                <a:spcPct val="115000"/>
              </a:lnSpc>
              <a:spcBef>
                <a:spcPts val="0"/>
              </a:spcBef>
              <a:spcAft>
                <a:spcPts val="0"/>
              </a:spcAft>
              <a:buClr>
                <a:srgbClr val="555555"/>
              </a:buClr>
              <a:buSzPts val="1850"/>
              <a:buChar char="−"/>
            </a:pPr>
            <a:r>
              <a:rPr lang="pt-BR" sz="1050">
                <a:solidFill>
                  <a:srgbClr val="008000"/>
                </a:solidFill>
                <a:highlight>
                  <a:srgbClr val="FFFFFE"/>
                </a:highlight>
                <a:latin typeface="Courier New"/>
                <a:ea typeface="Courier New"/>
                <a:cs typeface="Courier New"/>
                <a:sym typeface="Courier New"/>
              </a:rPr>
              <a:t>keras.layers.Dense(3,activation="softmax")</a:t>
            </a:r>
            <a:endParaRPr sz="1850">
              <a:solidFill>
                <a:schemeClr val="dk1"/>
              </a:solidFill>
              <a:highlight>
                <a:srgbClr val="FFFFFE"/>
              </a:highlight>
              <a:latin typeface="Courier New"/>
              <a:ea typeface="Courier New"/>
              <a:cs typeface="Courier New"/>
              <a:sym typeface="Courier New"/>
            </a:endParaRPr>
          </a:p>
        </p:txBody>
      </p:sp>
      <p:pic>
        <p:nvPicPr>
          <p:cNvPr id="392" name="Google Shape;392;p62"/>
          <p:cNvPicPr preferRelativeResize="0"/>
          <p:nvPr/>
        </p:nvPicPr>
        <p:blipFill>
          <a:blip r:embed="rId3">
            <a:alphaModFix/>
          </a:blip>
          <a:stretch>
            <a:fillRect/>
          </a:stretch>
        </p:blipFill>
        <p:spPr>
          <a:xfrm>
            <a:off x="8050625" y="44817"/>
            <a:ext cx="1093375" cy="1322300"/>
          </a:xfrm>
          <a:prstGeom prst="rect">
            <a:avLst/>
          </a:prstGeom>
          <a:noFill/>
          <a:ln>
            <a:noFill/>
          </a:ln>
        </p:spPr>
      </p:pic>
      <p:pic>
        <p:nvPicPr>
          <p:cNvPr id="393" name="Google Shape;393;p62"/>
          <p:cNvPicPr preferRelativeResize="0"/>
          <p:nvPr/>
        </p:nvPicPr>
        <p:blipFill>
          <a:blip r:embed="rId4">
            <a:alphaModFix/>
          </a:blip>
          <a:stretch>
            <a:fillRect/>
          </a:stretch>
        </p:blipFill>
        <p:spPr>
          <a:xfrm>
            <a:off x="0" y="2670425"/>
            <a:ext cx="4426000" cy="2473084"/>
          </a:xfrm>
          <a:prstGeom prst="rect">
            <a:avLst/>
          </a:prstGeom>
          <a:noFill/>
          <a:ln>
            <a:noFill/>
          </a:ln>
        </p:spPr>
      </p:pic>
      <p:pic>
        <p:nvPicPr>
          <p:cNvPr id="394" name="Google Shape;394;p62"/>
          <p:cNvPicPr preferRelativeResize="0"/>
          <p:nvPr/>
        </p:nvPicPr>
        <p:blipFill>
          <a:blip r:embed="rId5">
            <a:alphaModFix/>
          </a:blip>
          <a:stretch>
            <a:fillRect/>
          </a:stretch>
        </p:blipFill>
        <p:spPr>
          <a:xfrm>
            <a:off x="4730800" y="2772400"/>
            <a:ext cx="4413200" cy="2269117"/>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63"/>
          <p:cNvSpPr txBox="1"/>
          <p:nvPr>
            <p:ph type="title"/>
          </p:nvPr>
        </p:nvSpPr>
        <p:spPr>
          <a:xfrm>
            <a:off x="617226" y="161225"/>
            <a:ext cx="6618300" cy="816000"/>
          </a:xfrm>
          <a:prstGeom prst="rect">
            <a:avLst/>
          </a:prstGeom>
          <a:noFill/>
          <a:ln>
            <a:noFill/>
          </a:ln>
        </p:spPr>
        <p:txBody>
          <a:bodyPr anchorCtr="0" anchor="b" bIns="34275" lIns="68575" spcFirstLastPara="1" rIns="68575" wrap="square" tIns="34275">
            <a:normAutofit/>
          </a:bodyPr>
          <a:lstStyle/>
          <a:p>
            <a:pPr indent="0" lvl="0" marL="0" rtl="0" algn="l">
              <a:lnSpc>
                <a:spcPct val="85000"/>
              </a:lnSpc>
              <a:spcBef>
                <a:spcPts val="0"/>
              </a:spcBef>
              <a:spcAft>
                <a:spcPts val="0"/>
              </a:spcAft>
              <a:buClr>
                <a:srgbClr val="3F3F3F"/>
              </a:buClr>
              <a:buSzPts val="3600"/>
              <a:buFont typeface="Calibri"/>
              <a:buNone/>
            </a:pPr>
            <a:r>
              <a:rPr lang="pt-BR"/>
              <a:t>Parametrização - Batch</a:t>
            </a:r>
            <a:r>
              <a:rPr lang="pt-BR"/>
              <a:t> Normalization</a:t>
            </a:r>
            <a:endParaRPr/>
          </a:p>
        </p:txBody>
      </p:sp>
      <p:sp>
        <p:nvSpPr>
          <p:cNvPr id="400" name="Google Shape;400;p63"/>
          <p:cNvSpPr txBox="1"/>
          <p:nvPr>
            <p:ph idx="1" type="body"/>
          </p:nvPr>
        </p:nvSpPr>
        <p:spPr>
          <a:xfrm>
            <a:off x="617225" y="1038225"/>
            <a:ext cx="8290800" cy="3518100"/>
          </a:xfrm>
          <a:prstGeom prst="rect">
            <a:avLst/>
          </a:prstGeom>
          <a:noFill/>
          <a:ln>
            <a:noFill/>
          </a:ln>
        </p:spPr>
        <p:txBody>
          <a:bodyPr anchorCtr="0" anchor="t" bIns="34275" lIns="0" spcFirstLastPara="1" rIns="0" wrap="square" tIns="34275">
            <a:normAutofit lnSpcReduction="10000"/>
          </a:bodyPr>
          <a:lstStyle/>
          <a:p>
            <a:pPr indent="-95250" lvl="0" marL="63500" rtl="0" algn="l">
              <a:lnSpc>
                <a:spcPct val="90000"/>
              </a:lnSpc>
              <a:spcBef>
                <a:spcPts val="1100"/>
              </a:spcBef>
              <a:spcAft>
                <a:spcPts val="0"/>
              </a:spcAft>
              <a:buSzPts val="1500"/>
              <a:buChar char="●"/>
            </a:pPr>
            <a:r>
              <a:rPr i="1" lang="pt-BR" sz="1150">
                <a:solidFill>
                  <a:srgbClr val="555555"/>
                </a:solidFill>
                <a:highlight>
                  <a:srgbClr val="FFFFFF"/>
                </a:highlight>
              </a:rPr>
              <a:t>Problema: </a:t>
            </a:r>
            <a:endParaRPr i="1" sz="1150">
              <a:solidFill>
                <a:srgbClr val="555555"/>
              </a:solidFill>
              <a:highlight>
                <a:srgbClr val="FFFFFF"/>
              </a:highlight>
            </a:endParaRPr>
          </a:p>
          <a:p>
            <a:pPr indent="-123825" lvl="1" marL="292100" rtl="0" algn="l">
              <a:lnSpc>
                <a:spcPct val="90000"/>
              </a:lnSpc>
              <a:spcBef>
                <a:spcPts val="1100"/>
              </a:spcBef>
              <a:spcAft>
                <a:spcPts val="0"/>
              </a:spcAft>
              <a:buClr>
                <a:srgbClr val="555555"/>
              </a:buClr>
              <a:buSzPts val="1150"/>
              <a:buChar char="○"/>
            </a:pPr>
            <a:r>
              <a:rPr i="1" lang="pt-BR" sz="1150">
                <a:solidFill>
                  <a:srgbClr val="555555"/>
                </a:solidFill>
                <a:highlight>
                  <a:srgbClr val="FFFFFF"/>
                </a:highlight>
              </a:rPr>
              <a:t>Após a inicialização, os pesos das diferentes camadas da rede podem desviar muito uns dos outros durante o treino…</a:t>
            </a:r>
            <a:endParaRPr i="1" sz="1150">
              <a:solidFill>
                <a:srgbClr val="555555"/>
              </a:solidFill>
              <a:highlight>
                <a:srgbClr val="FFFFFF"/>
              </a:highlight>
            </a:endParaRPr>
          </a:p>
          <a:p>
            <a:pPr indent="-123825" lvl="2" marL="419100" rtl="0" algn="l">
              <a:lnSpc>
                <a:spcPct val="90000"/>
              </a:lnSpc>
              <a:spcBef>
                <a:spcPts val="1100"/>
              </a:spcBef>
              <a:spcAft>
                <a:spcPts val="0"/>
              </a:spcAft>
              <a:buClr>
                <a:srgbClr val="555555"/>
              </a:buClr>
              <a:buSzPts val="1150"/>
              <a:buChar char="■"/>
            </a:pPr>
            <a:r>
              <a:rPr i="1" lang="pt-BR" sz="1150">
                <a:solidFill>
                  <a:srgbClr val="555555"/>
                </a:solidFill>
                <a:highlight>
                  <a:srgbClr val="FFFFFF"/>
                </a:highlight>
              </a:rPr>
              <a:t>Ex.: para cada batch de entrada, se os dados dos diferentes batches são muito diferentes (variação muito alta), o ajuste dos pesos se torna uma tarefa de “acertar um alvo em movimento”</a:t>
            </a:r>
            <a:endParaRPr i="1" sz="1150">
              <a:solidFill>
                <a:srgbClr val="555555"/>
              </a:solidFill>
              <a:highlight>
                <a:srgbClr val="FFFFFF"/>
              </a:highlight>
            </a:endParaRPr>
          </a:p>
          <a:p>
            <a:pPr indent="-88900" lvl="0" marL="63500" rtl="0" algn="l">
              <a:lnSpc>
                <a:spcPct val="90000"/>
              </a:lnSpc>
              <a:spcBef>
                <a:spcPts val="1100"/>
              </a:spcBef>
              <a:spcAft>
                <a:spcPts val="0"/>
              </a:spcAft>
              <a:buSzPts val="1400"/>
              <a:buChar char="●"/>
            </a:pPr>
            <a:r>
              <a:rPr lang="pt-BR" sz="1700"/>
              <a:t>Em 2015, Sergey Ioffe e Christian Szegedy propuseram Batch Normalization (BN)</a:t>
            </a:r>
            <a:endParaRPr sz="1700"/>
          </a:p>
          <a:p>
            <a:pPr indent="-146050" lvl="1" marL="292100" rtl="0" algn="l">
              <a:spcBef>
                <a:spcPts val="1100"/>
              </a:spcBef>
              <a:spcAft>
                <a:spcPts val="0"/>
              </a:spcAft>
              <a:buSzPts val="1500"/>
              <a:buChar char="○"/>
            </a:pPr>
            <a:r>
              <a:rPr i="1" lang="pt-BR" sz="1150">
                <a:solidFill>
                  <a:srgbClr val="555555"/>
                </a:solidFill>
                <a:highlight>
                  <a:srgbClr val="FFFFFF"/>
                </a:highlight>
              </a:rPr>
              <a:t>“Training Deep Neural Networks is complicated by the fact that the distribution of each layer’s inputs changes during training, as the parameters of the previous layers change. This slows down the training by requiring lower learning rates and careful parameter initialization, and makes it notoriously hard to train models” (Sergey Ioffe, 2015)</a:t>
            </a:r>
            <a:endParaRPr/>
          </a:p>
          <a:p>
            <a:pPr indent="-95250" lvl="0" marL="63500" rtl="0" algn="l">
              <a:lnSpc>
                <a:spcPct val="90000"/>
              </a:lnSpc>
              <a:spcBef>
                <a:spcPts val="1100"/>
              </a:spcBef>
              <a:spcAft>
                <a:spcPts val="0"/>
              </a:spcAft>
              <a:buSzPts val="1500"/>
              <a:buChar char="●"/>
            </a:pPr>
            <a:r>
              <a:rPr lang="pt-BR"/>
              <a:t>A estratégia é adicionar uma operação antes ou depois de cada camada oculta;</a:t>
            </a:r>
            <a:endParaRPr/>
          </a:p>
          <a:p>
            <a:pPr indent="-95250" lvl="0" marL="63500" rtl="0" algn="l">
              <a:lnSpc>
                <a:spcPct val="90000"/>
              </a:lnSpc>
              <a:spcBef>
                <a:spcPts val="1100"/>
              </a:spcBef>
              <a:spcAft>
                <a:spcPts val="0"/>
              </a:spcAft>
              <a:buSzPts val="1500"/>
              <a:buChar char="●"/>
            </a:pPr>
            <a:r>
              <a:rPr lang="pt-BR"/>
              <a:t>P</a:t>
            </a:r>
            <a:r>
              <a:rPr lang="pt-BR"/>
              <a:t>ara cada batch, a</a:t>
            </a:r>
            <a:r>
              <a:rPr lang="pt-BR"/>
              <a:t> operação irá normalizar a entrada e ajustar a variação para média em zero;</a:t>
            </a:r>
            <a:endParaRPr/>
          </a:p>
          <a:p>
            <a:pPr indent="-95250" lvl="0" marL="63500" rtl="0" algn="l">
              <a:lnSpc>
                <a:spcPct val="90000"/>
              </a:lnSpc>
              <a:spcBef>
                <a:spcPts val="1100"/>
              </a:spcBef>
              <a:spcAft>
                <a:spcPts val="0"/>
              </a:spcAft>
              <a:buSzPts val="1500"/>
              <a:buChar char="●"/>
            </a:pPr>
            <a:r>
              <a:rPr lang="pt-BR"/>
              <a:t>Basicamente a operação deixa o modelo aprender a melhor escala e média de cada camada de entrada</a:t>
            </a:r>
            <a:endParaRPr/>
          </a:p>
        </p:txBody>
      </p:sp>
      <p:pic>
        <p:nvPicPr>
          <p:cNvPr id="401" name="Google Shape;401;p63"/>
          <p:cNvPicPr preferRelativeResize="0"/>
          <p:nvPr/>
        </p:nvPicPr>
        <p:blipFill>
          <a:blip r:embed="rId3">
            <a:alphaModFix/>
          </a:blip>
          <a:stretch>
            <a:fillRect/>
          </a:stretch>
        </p:blipFill>
        <p:spPr>
          <a:xfrm>
            <a:off x="8050625" y="44817"/>
            <a:ext cx="1093375" cy="132230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64"/>
          <p:cNvSpPr/>
          <p:nvPr/>
        </p:nvSpPr>
        <p:spPr>
          <a:xfrm>
            <a:off x="0" y="0"/>
            <a:ext cx="9144000" cy="51435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407" name="Google Shape;407;p64"/>
          <p:cNvGrpSpPr/>
          <p:nvPr/>
        </p:nvGrpSpPr>
        <p:grpSpPr>
          <a:xfrm>
            <a:off x="476250" y="-8"/>
            <a:ext cx="8483376" cy="1322400"/>
            <a:chOff x="476250" y="-8"/>
            <a:chExt cx="8483376" cy="1322400"/>
          </a:xfrm>
        </p:grpSpPr>
        <p:sp>
          <p:nvSpPr>
            <p:cNvPr id="408" name="Google Shape;408;p64"/>
            <p:cNvSpPr txBox="1"/>
            <p:nvPr/>
          </p:nvSpPr>
          <p:spPr>
            <a:xfrm>
              <a:off x="476250" y="333375"/>
              <a:ext cx="6667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pt-BR" sz="2040">
                  <a:solidFill>
                    <a:srgbClr val="0F172A"/>
                  </a:solidFill>
                  <a:latin typeface="Arial"/>
                  <a:ea typeface="Arial"/>
                  <a:cs typeface="Arial"/>
                  <a:sym typeface="Arial"/>
                </a:rPr>
                <a:t>Limitações do BatchNorm e a Solução LayerNorm</a:t>
              </a:r>
              <a:endParaRPr b="1" sz="2040">
                <a:solidFill>
                  <a:srgbClr val="0F172A"/>
                </a:solidFill>
                <a:latin typeface="Arial"/>
                <a:ea typeface="Arial"/>
                <a:cs typeface="Arial"/>
                <a:sym typeface="Arial"/>
              </a:endParaRPr>
            </a:p>
          </p:txBody>
        </p:sp>
        <p:pic>
          <p:nvPicPr>
            <p:cNvPr id="409" name="Google Shape;409;p64"/>
            <p:cNvPicPr preferRelativeResize="0"/>
            <p:nvPr/>
          </p:nvPicPr>
          <p:blipFill rotWithShape="1">
            <a:blip r:embed="rId3">
              <a:alphaModFix/>
            </a:blip>
            <a:srcRect b="0" l="0" r="0" t="0"/>
            <a:stretch/>
          </p:blipFill>
          <p:spPr>
            <a:xfrm>
              <a:off x="7866126" y="-8"/>
              <a:ext cx="1093500" cy="1322400"/>
            </a:xfrm>
            <a:prstGeom prst="rect">
              <a:avLst/>
            </a:prstGeom>
            <a:noFill/>
            <a:ln>
              <a:noFill/>
            </a:ln>
          </p:spPr>
        </p:pic>
      </p:grpSp>
      <p:grpSp>
        <p:nvGrpSpPr>
          <p:cNvPr id="410" name="Google Shape;410;p64"/>
          <p:cNvGrpSpPr/>
          <p:nvPr/>
        </p:nvGrpSpPr>
        <p:grpSpPr>
          <a:xfrm>
            <a:off x="476250" y="1143000"/>
            <a:ext cx="3952800" cy="3524400"/>
            <a:chOff x="476250" y="1143000"/>
            <a:chExt cx="3952800" cy="3524400"/>
          </a:xfrm>
        </p:grpSpPr>
        <p:sp>
          <p:nvSpPr>
            <p:cNvPr id="411" name="Google Shape;411;p64"/>
            <p:cNvSpPr/>
            <p:nvPr/>
          </p:nvSpPr>
          <p:spPr>
            <a:xfrm>
              <a:off x="476250" y="1143000"/>
              <a:ext cx="3952800" cy="3524400"/>
            </a:xfrm>
            <a:prstGeom prst="roundRect">
              <a:avLst>
                <a:gd fmla="val 3243" name="adj"/>
              </a:avLst>
            </a:prstGeom>
            <a:solidFill>
              <a:srgbClr val="FEF2F2"/>
            </a:solidFill>
            <a:ln cap="flat" cmpd="sng" w="9525">
              <a:solidFill>
                <a:srgbClr val="FCA5A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2" name="Google Shape;412;p64"/>
            <p:cNvSpPr txBox="1"/>
            <p:nvPr/>
          </p:nvSpPr>
          <p:spPr>
            <a:xfrm>
              <a:off x="666750" y="1333500"/>
              <a:ext cx="3571800" cy="3143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pt-BR" sz="1300">
                  <a:solidFill>
                    <a:srgbClr val="991B1B"/>
                  </a:solidFill>
                  <a:latin typeface="Arial"/>
                  <a:ea typeface="Arial"/>
                  <a:cs typeface="Arial"/>
                  <a:sym typeface="Arial"/>
                </a:rPr>
                <a:t>O Problema do Batch Normalization (BN)</a:t>
              </a:r>
              <a:endParaRPr b="1" sz="1300">
                <a:solidFill>
                  <a:srgbClr val="991B1B"/>
                </a:solidFill>
                <a:latin typeface="Arial"/>
                <a:ea typeface="Arial"/>
                <a:cs typeface="Arial"/>
                <a:sym typeface="Arial"/>
              </a:endParaRPr>
            </a:p>
            <a:p>
              <a:pPr indent="0" lvl="0" marL="0" rtl="0" algn="l">
                <a:spcBef>
                  <a:spcPts val="600"/>
                </a:spcBef>
                <a:spcAft>
                  <a:spcPts val="0"/>
                </a:spcAft>
                <a:buNone/>
              </a:pPr>
              <a:r>
                <a:rPr b="0" lang="pt-BR" sz="950">
                  <a:solidFill>
                    <a:srgbClr val="334155"/>
                  </a:solidFill>
                  <a:latin typeface="Arial"/>
                  <a:ea typeface="Arial"/>
                  <a:cs typeface="Arial"/>
                  <a:sym typeface="Arial"/>
                </a:rPr>
                <a:t>O BatchNorm depende crucialmente de estatísticas calculadas ao longo do </a:t>
              </a:r>
              <a:r>
                <a:rPr b="1" lang="pt-BR" sz="950">
                  <a:solidFill>
                    <a:srgbClr val="0F172A"/>
                  </a:solidFill>
                  <a:latin typeface="Arial"/>
                  <a:ea typeface="Arial"/>
                  <a:cs typeface="Arial"/>
                  <a:sym typeface="Arial"/>
                </a:rPr>
                <a:t>mini-batch</a:t>
              </a:r>
              <a:r>
                <a:rPr b="0" lang="pt-BR" sz="950">
                  <a:solidFill>
                    <a:srgbClr val="334155"/>
                  </a:solidFill>
                  <a:latin typeface="Arial"/>
                  <a:ea typeface="Arial"/>
                  <a:cs typeface="Arial"/>
                  <a:sym typeface="Arial"/>
                </a:rPr>
                <a:t>. Isso gera sérios problemas em cenários específicos:</a:t>
              </a:r>
              <a:endParaRPr b="0" sz="950">
                <a:solidFill>
                  <a:srgbClr val="334155"/>
                </a:solidFill>
                <a:latin typeface="Arial"/>
                <a:ea typeface="Arial"/>
                <a:cs typeface="Arial"/>
                <a:sym typeface="Arial"/>
              </a:endParaRPr>
            </a:p>
            <a:p>
              <a:pPr indent="0" lvl="0" marL="0" rtl="0" algn="l">
                <a:spcBef>
                  <a:spcPts val="600"/>
                </a:spcBef>
                <a:spcAft>
                  <a:spcPts val="0"/>
                </a:spcAft>
                <a:buNone/>
              </a:pPr>
              <a:r>
                <a:rPr b="1" lang="pt-BR" sz="1100">
                  <a:solidFill>
                    <a:srgbClr val="0F172A"/>
                  </a:solidFill>
                  <a:latin typeface="Arial"/>
                  <a:ea typeface="Arial"/>
                  <a:cs typeface="Arial"/>
                  <a:sym typeface="Arial"/>
                </a:rPr>
                <a:t>1. Batches Pequenos ou Dinâmicos</a:t>
              </a:r>
              <a:endParaRPr b="1" sz="1100">
                <a:solidFill>
                  <a:srgbClr val="0F172A"/>
                </a:solidFill>
                <a:latin typeface="Arial"/>
                <a:ea typeface="Arial"/>
                <a:cs typeface="Arial"/>
                <a:sym typeface="Arial"/>
              </a:endParaRPr>
            </a:p>
            <a:p>
              <a:pPr indent="0" lvl="0" marL="0" rtl="0" algn="l">
                <a:spcBef>
                  <a:spcPts val="450"/>
                </a:spcBef>
                <a:spcAft>
                  <a:spcPts val="0"/>
                </a:spcAft>
                <a:buNone/>
              </a:pPr>
              <a:r>
                <a:rPr b="0" lang="pt-BR" sz="950">
                  <a:solidFill>
                    <a:srgbClr val="334155"/>
                  </a:solidFill>
                  <a:latin typeface="Arial"/>
                  <a:ea typeface="Arial"/>
                  <a:cs typeface="Arial"/>
                  <a:sym typeface="Arial"/>
                </a:rPr>
                <a:t>Se o tamanho do lote for muito pequeno (ex: treinamento com poucos recursos), as estimativas de média e variância tornam-se ruidosas e instáveis, degradando o desempenho.</a:t>
              </a:r>
              <a:endParaRPr b="0" sz="950">
                <a:solidFill>
                  <a:srgbClr val="334155"/>
                </a:solidFill>
                <a:latin typeface="Arial"/>
                <a:ea typeface="Arial"/>
                <a:cs typeface="Arial"/>
                <a:sym typeface="Arial"/>
              </a:endParaRPr>
            </a:p>
            <a:p>
              <a:pPr indent="0" lvl="0" marL="0" rtl="0" algn="l">
                <a:spcBef>
                  <a:spcPts val="600"/>
                </a:spcBef>
                <a:spcAft>
                  <a:spcPts val="0"/>
                </a:spcAft>
                <a:buNone/>
              </a:pPr>
              <a:r>
                <a:rPr b="1" lang="pt-BR" sz="1100">
                  <a:solidFill>
                    <a:srgbClr val="0F172A"/>
                  </a:solidFill>
                  <a:latin typeface="Arial"/>
                  <a:ea typeface="Arial"/>
                  <a:cs typeface="Arial"/>
                  <a:sym typeface="Arial"/>
                </a:rPr>
                <a:t>2. Dados de Tamanho Variável (RNNs)</a:t>
              </a:r>
              <a:endParaRPr b="1" sz="1100">
                <a:solidFill>
                  <a:srgbClr val="0F172A"/>
                </a:solidFill>
                <a:latin typeface="Arial"/>
                <a:ea typeface="Arial"/>
                <a:cs typeface="Arial"/>
                <a:sym typeface="Arial"/>
              </a:endParaRPr>
            </a:p>
            <a:p>
              <a:pPr indent="0" lvl="0" marL="0" rtl="0" algn="l">
                <a:spcBef>
                  <a:spcPts val="450"/>
                </a:spcBef>
                <a:spcAft>
                  <a:spcPts val="0"/>
                </a:spcAft>
                <a:buNone/>
              </a:pPr>
              <a:r>
                <a:rPr b="0" lang="pt-BR" sz="950">
                  <a:solidFill>
                    <a:srgbClr val="334155"/>
                  </a:solidFill>
                  <a:latin typeface="Arial"/>
                  <a:ea typeface="Arial"/>
                  <a:cs typeface="Arial"/>
                  <a:sym typeface="Arial"/>
                </a:rPr>
                <a:t>Em redes recorrentes, o comprimento das sequências muda. Manter estatísticas separadas por passo de tempo em lotes variados torna-se extremamente complexo.</a:t>
              </a:r>
              <a:endParaRPr b="0" sz="950">
                <a:solidFill>
                  <a:srgbClr val="334155"/>
                </a:solidFill>
                <a:latin typeface="Arial"/>
                <a:ea typeface="Arial"/>
                <a:cs typeface="Arial"/>
                <a:sym typeface="Arial"/>
              </a:endParaRPr>
            </a:p>
            <a:p>
              <a:pPr indent="0" lvl="0" marL="0" rtl="0" algn="l">
                <a:spcBef>
                  <a:spcPts val="600"/>
                </a:spcBef>
                <a:spcAft>
                  <a:spcPts val="0"/>
                </a:spcAft>
                <a:buNone/>
              </a:pPr>
              <a:r>
                <a:rPr b="1" lang="pt-BR" sz="1100">
                  <a:solidFill>
                    <a:srgbClr val="0F172A"/>
                  </a:solidFill>
                  <a:latin typeface="Arial"/>
                  <a:ea typeface="Arial"/>
                  <a:cs typeface="Arial"/>
                  <a:sym typeface="Arial"/>
                </a:rPr>
                <a:t>3. Discrepância Treino vs. Inferência</a:t>
              </a:r>
              <a:endParaRPr b="1" sz="1100">
                <a:solidFill>
                  <a:srgbClr val="0F172A"/>
                </a:solidFill>
                <a:latin typeface="Arial"/>
                <a:ea typeface="Arial"/>
                <a:cs typeface="Arial"/>
                <a:sym typeface="Arial"/>
              </a:endParaRPr>
            </a:p>
            <a:p>
              <a:pPr indent="0" lvl="0" marL="0" rtl="0" algn="l">
                <a:spcBef>
                  <a:spcPts val="450"/>
                </a:spcBef>
                <a:spcAft>
                  <a:spcPts val="600"/>
                </a:spcAft>
                <a:buNone/>
              </a:pPr>
              <a:r>
                <a:rPr b="0" lang="pt-BR" sz="950">
                  <a:solidFill>
                    <a:srgbClr val="334155"/>
                  </a:solidFill>
                  <a:latin typeface="Arial"/>
                  <a:ea typeface="Arial"/>
                  <a:cs typeface="Arial"/>
                  <a:sym typeface="Arial"/>
                </a:rPr>
                <a:t>Exige guardar médias móveis durante o treino para usar na inferência, adicionando complexidade operacional.</a:t>
              </a:r>
              <a:endParaRPr b="0" sz="950">
                <a:solidFill>
                  <a:srgbClr val="334155"/>
                </a:solidFill>
                <a:latin typeface="Arial"/>
                <a:ea typeface="Arial"/>
                <a:cs typeface="Arial"/>
                <a:sym typeface="Arial"/>
              </a:endParaRPr>
            </a:p>
          </p:txBody>
        </p:sp>
      </p:grpSp>
      <p:grpSp>
        <p:nvGrpSpPr>
          <p:cNvPr id="413" name="Google Shape;413;p64"/>
          <p:cNvGrpSpPr/>
          <p:nvPr/>
        </p:nvGrpSpPr>
        <p:grpSpPr>
          <a:xfrm>
            <a:off x="4714875" y="1143000"/>
            <a:ext cx="3952800" cy="3524400"/>
            <a:chOff x="4714875" y="1143000"/>
            <a:chExt cx="3952800" cy="3524400"/>
          </a:xfrm>
        </p:grpSpPr>
        <p:sp>
          <p:nvSpPr>
            <p:cNvPr id="414" name="Google Shape;414;p64"/>
            <p:cNvSpPr/>
            <p:nvPr/>
          </p:nvSpPr>
          <p:spPr>
            <a:xfrm>
              <a:off x="4714875" y="1143000"/>
              <a:ext cx="3952800" cy="3524400"/>
            </a:xfrm>
            <a:prstGeom prst="roundRect">
              <a:avLst>
                <a:gd fmla="val 3243" name="adj"/>
              </a:avLst>
            </a:prstGeom>
            <a:solidFill>
              <a:srgbClr val="ECFDF5"/>
            </a:solidFill>
            <a:ln cap="flat" cmpd="sng" w="9525">
              <a:solidFill>
                <a:srgbClr val="A7F3D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5" name="Google Shape;415;p64"/>
            <p:cNvSpPr txBox="1"/>
            <p:nvPr/>
          </p:nvSpPr>
          <p:spPr>
            <a:xfrm>
              <a:off x="4905375" y="1333500"/>
              <a:ext cx="3571800" cy="3143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pt-BR" sz="1300">
                  <a:solidFill>
                    <a:srgbClr val="065F46"/>
                  </a:solidFill>
                  <a:latin typeface="Arial"/>
                  <a:ea typeface="Arial"/>
                  <a:cs typeface="Arial"/>
                  <a:sym typeface="Arial"/>
                </a:rPr>
                <a:t>Por que o Layer Normalization (LN) Supera?</a:t>
              </a:r>
              <a:endParaRPr b="1" sz="1300">
                <a:solidFill>
                  <a:srgbClr val="065F46"/>
                </a:solidFill>
                <a:latin typeface="Arial"/>
                <a:ea typeface="Arial"/>
                <a:cs typeface="Arial"/>
                <a:sym typeface="Arial"/>
              </a:endParaRPr>
            </a:p>
            <a:p>
              <a:pPr indent="0" lvl="0" marL="0" rtl="0" algn="l">
                <a:spcBef>
                  <a:spcPts val="600"/>
                </a:spcBef>
                <a:spcAft>
                  <a:spcPts val="0"/>
                </a:spcAft>
                <a:buNone/>
              </a:pPr>
              <a:r>
                <a:rPr lang="pt-BR" sz="978">
                  <a:solidFill>
                    <a:srgbClr val="334155"/>
                  </a:solidFill>
                </a:rPr>
                <a:t>Proposto por Jimmy Lei Ba, Jamie Ryan Kiros e </a:t>
              </a:r>
              <a:r>
                <a:rPr b="1" lang="pt-BR" sz="978">
                  <a:solidFill>
                    <a:srgbClr val="334155"/>
                  </a:solidFill>
                </a:rPr>
                <a:t>Geoffrey E. Hinton </a:t>
              </a:r>
              <a:r>
                <a:rPr lang="pt-BR" sz="978">
                  <a:solidFill>
                    <a:srgbClr val="334155"/>
                  </a:solidFill>
                </a:rPr>
                <a:t>em 2016 como uma alternativa robusta ao Batch Normalization.</a:t>
              </a:r>
              <a:r>
                <a:rPr lang="pt-BR" sz="950">
                  <a:solidFill>
                    <a:srgbClr val="334155"/>
                  </a:solidFill>
                </a:rPr>
                <a:t>R</a:t>
              </a:r>
              <a:r>
                <a:rPr b="0" lang="pt-BR" sz="950">
                  <a:solidFill>
                    <a:srgbClr val="334155"/>
                  </a:solidFill>
                  <a:latin typeface="Arial"/>
                  <a:ea typeface="Arial"/>
                  <a:cs typeface="Arial"/>
                  <a:sym typeface="Arial"/>
                </a:rPr>
                <a:t>esolve os gargalos do BN ao normalizar as ativações </a:t>
              </a:r>
              <a:r>
                <a:rPr b="1" lang="pt-BR" sz="950">
                  <a:solidFill>
                    <a:srgbClr val="0F172A"/>
                  </a:solidFill>
                  <a:latin typeface="Arial"/>
                  <a:ea typeface="Arial"/>
                  <a:cs typeface="Arial"/>
                  <a:sym typeface="Arial"/>
                </a:rPr>
                <a:t>através dos neurônios (features)</a:t>
              </a:r>
              <a:r>
                <a:rPr b="0" lang="pt-BR" sz="950">
                  <a:solidFill>
                    <a:srgbClr val="334155"/>
                  </a:solidFill>
                  <a:latin typeface="Arial"/>
                  <a:ea typeface="Arial"/>
                  <a:cs typeface="Arial"/>
                  <a:sym typeface="Arial"/>
                </a:rPr>
                <a:t> de cada instância isoladamente.</a:t>
              </a:r>
              <a:endParaRPr b="0" sz="950">
                <a:solidFill>
                  <a:srgbClr val="334155"/>
                </a:solidFill>
                <a:latin typeface="Arial"/>
                <a:ea typeface="Arial"/>
                <a:cs typeface="Arial"/>
                <a:sym typeface="Arial"/>
              </a:endParaRPr>
            </a:p>
            <a:p>
              <a:pPr indent="0" lvl="0" marL="0" rtl="0" algn="l">
                <a:spcBef>
                  <a:spcPts val="600"/>
                </a:spcBef>
                <a:spcAft>
                  <a:spcPts val="0"/>
                </a:spcAft>
                <a:buNone/>
              </a:pPr>
              <a:r>
                <a:rPr b="1" lang="pt-BR" sz="1100">
                  <a:solidFill>
                    <a:srgbClr val="065F46"/>
                  </a:solidFill>
                  <a:latin typeface="Arial"/>
                  <a:ea typeface="Arial"/>
                  <a:cs typeface="Arial"/>
                  <a:sym typeface="Arial"/>
                </a:rPr>
                <a:t>Vantagens Cruciais do LayerNorm:</a:t>
              </a:r>
              <a:endParaRPr b="1" sz="1100">
                <a:solidFill>
                  <a:srgbClr val="065F46"/>
                </a:solidFill>
                <a:latin typeface="Arial"/>
                <a:ea typeface="Arial"/>
                <a:cs typeface="Arial"/>
                <a:sym typeface="Arial"/>
              </a:endParaRPr>
            </a:p>
            <a:p>
              <a:pPr indent="-288925" lvl="0" marL="457200" rtl="0" algn="l">
                <a:spcBef>
                  <a:spcPts val="450"/>
                </a:spcBef>
                <a:spcAft>
                  <a:spcPts val="0"/>
                </a:spcAft>
                <a:buClr>
                  <a:srgbClr val="334155"/>
                </a:buClr>
                <a:buSzPts val="950"/>
                <a:buFont typeface="Arial"/>
                <a:buChar char="●"/>
              </a:pPr>
              <a:r>
                <a:rPr b="1" lang="pt-BR" sz="950">
                  <a:solidFill>
                    <a:srgbClr val="0F172A"/>
                  </a:solidFill>
                  <a:latin typeface="Arial"/>
                  <a:ea typeface="Arial"/>
                  <a:cs typeface="Arial"/>
                  <a:sym typeface="Arial"/>
                </a:rPr>
                <a:t>Independência Total do Batch:</a:t>
              </a:r>
              <a:r>
                <a:rPr b="0" lang="pt-BR" sz="950">
                  <a:solidFill>
                    <a:srgbClr val="334155"/>
                  </a:solidFill>
                  <a:latin typeface="Arial"/>
                  <a:ea typeface="Arial"/>
                  <a:cs typeface="Arial"/>
                  <a:sym typeface="Arial"/>
                </a:rPr>
                <a:t> O cálculo é idêntico no treino e na inferência, eliminando oscilações por tamanho de lote.</a:t>
              </a:r>
              <a:endParaRPr b="0" sz="950">
                <a:solidFill>
                  <a:srgbClr val="334155"/>
                </a:solidFill>
                <a:latin typeface="Arial"/>
                <a:ea typeface="Arial"/>
                <a:cs typeface="Arial"/>
                <a:sym typeface="Arial"/>
              </a:endParaRPr>
            </a:p>
            <a:p>
              <a:pPr indent="-288925" lvl="0" marL="457200" rtl="0" algn="l">
                <a:spcBef>
                  <a:spcPts val="450"/>
                </a:spcBef>
                <a:spcAft>
                  <a:spcPts val="0"/>
                </a:spcAft>
                <a:buClr>
                  <a:srgbClr val="334155"/>
                </a:buClr>
                <a:buSzPts val="950"/>
                <a:buFont typeface="Arial"/>
                <a:buChar char="●"/>
              </a:pPr>
              <a:r>
                <a:rPr b="1" lang="pt-BR" sz="950">
                  <a:solidFill>
                    <a:srgbClr val="0F172A"/>
                  </a:solidFill>
                  <a:latin typeface="Arial"/>
                  <a:ea typeface="Arial"/>
                  <a:cs typeface="Arial"/>
                  <a:sym typeface="Arial"/>
                </a:rPr>
                <a:t>Perfeito para NLP e LLMs:</a:t>
              </a:r>
              <a:r>
                <a:rPr b="0" lang="pt-BR" sz="950">
                  <a:solidFill>
                    <a:srgbClr val="334155"/>
                  </a:solidFill>
                  <a:latin typeface="Arial"/>
                  <a:ea typeface="Arial"/>
                  <a:cs typeface="Arial"/>
                  <a:sym typeface="Arial"/>
                </a:rPr>
                <a:t> Essencial para Transformers e RNNs, pois processa cada sentença de forma autocontida, mesmo com comprimentos variáveis.</a:t>
              </a:r>
              <a:endParaRPr b="0" sz="950">
                <a:solidFill>
                  <a:srgbClr val="334155"/>
                </a:solidFill>
                <a:latin typeface="Arial"/>
                <a:ea typeface="Arial"/>
                <a:cs typeface="Arial"/>
                <a:sym typeface="Arial"/>
              </a:endParaRPr>
            </a:p>
            <a:p>
              <a:pPr indent="-288925" lvl="0" marL="457200" rtl="0" algn="l">
                <a:spcBef>
                  <a:spcPts val="450"/>
                </a:spcBef>
                <a:spcAft>
                  <a:spcPts val="0"/>
                </a:spcAft>
                <a:buClr>
                  <a:srgbClr val="334155"/>
                </a:buClr>
                <a:buSzPts val="950"/>
                <a:buFont typeface="Arial"/>
                <a:buChar char="●"/>
              </a:pPr>
              <a:r>
                <a:rPr b="1" lang="pt-BR" sz="950">
                  <a:solidFill>
                    <a:srgbClr val="0F172A"/>
                  </a:solidFill>
                  <a:latin typeface="Arial"/>
                  <a:ea typeface="Arial"/>
                  <a:cs typeface="Arial"/>
                  <a:sym typeface="Arial"/>
                </a:rPr>
                <a:t>Estabilidade e Isolamento:</a:t>
              </a:r>
              <a:r>
                <a:rPr b="0" lang="pt-BR" sz="950">
                  <a:solidFill>
                    <a:srgbClr val="334155"/>
                  </a:solidFill>
                  <a:latin typeface="Arial"/>
                  <a:ea typeface="Arial"/>
                  <a:cs typeface="Arial"/>
                  <a:sym typeface="Arial"/>
                </a:rPr>
                <a:t> Evita o problema de "alvo em movimento" ao não misturar informações entre diferentes exemplos do mesmo lote.</a:t>
              </a:r>
              <a:endParaRPr b="0" sz="950">
                <a:solidFill>
                  <a:srgbClr val="334155"/>
                </a:solidFill>
                <a:latin typeface="Arial"/>
                <a:ea typeface="Arial"/>
                <a:cs typeface="Arial"/>
                <a:sym typeface="Arial"/>
              </a:endParaRPr>
            </a:p>
            <a:p>
              <a:pPr indent="0" lvl="0" marL="0" rtl="0" algn="l">
                <a:spcBef>
                  <a:spcPts val="900"/>
                </a:spcBef>
                <a:spcAft>
                  <a:spcPts val="0"/>
                </a:spcAft>
                <a:buNone/>
              </a:pPr>
              <a:r>
                <a:rPr b="1" lang="pt-BR" sz="1100">
                  <a:solidFill>
                    <a:srgbClr val="0F172A"/>
                  </a:solidFill>
                  <a:latin typeface="Arial"/>
                  <a:ea typeface="Arial"/>
                  <a:cs typeface="Arial"/>
                  <a:sym typeface="Arial"/>
                </a:rPr>
                <a:t>Keras API:</a:t>
              </a:r>
              <a:endParaRPr b="1" sz="1100">
                <a:solidFill>
                  <a:srgbClr val="0F172A"/>
                </a:solidFill>
                <a:latin typeface="Arial"/>
                <a:ea typeface="Arial"/>
                <a:cs typeface="Arial"/>
                <a:sym typeface="Arial"/>
              </a:endParaRPr>
            </a:p>
            <a:p>
              <a:pPr indent="0" lvl="0" marL="0" rtl="0" algn="l">
                <a:spcBef>
                  <a:spcPts val="300"/>
                </a:spcBef>
                <a:spcAft>
                  <a:spcPts val="0"/>
                </a:spcAft>
                <a:buNone/>
              </a:pPr>
              <a:r>
                <a:rPr b="1" lang="pt-BR" sz="900">
                  <a:solidFill>
                    <a:srgbClr val="059669"/>
                  </a:solidFill>
                  <a:latin typeface="Courier New"/>
                  <a:ea typeface="Courier New"/>
                  <a:cs typeface="Courier New"/>
                  <a:sym typeface="Courier New"/>
                </a:rPr>
                <a:t>keras.layers.LayerNormalization()</a:t>
              </a:r>
              <a:endParaRPr b="1" sz="900">
                <a:solidFill>
                  <a:srgbClr val="059669"/>
                </a:solidFill>
                <a:latin typeface="Courier New"/>
                <a:ea typeface="Courier New"/>
                <a:cs typeface="Courier New"/>
                <a:sym typeface="Courier New"/>
              </a:endParaRPr>
            </a:p>
          </p:txBody>
        </p:sp>
      </p:gr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65"/>
          <p:cNvSpPr/>
          <p:nvPr/>
        </p:nvSpPr>
        <p:spPr>
          <a:xfrm>
            <a:off x="-61500" y="-131750"/>
            <a:ext cx="9144000" cy="5143500"/>
          </a:xfrm>
          <a:prstGeom prst="rect">
            <a:avLst/>
          </a:prstGeom>
          <a:solidFill>
            <a:srgbClr val="F8FAFC"/>
          </a:solidFill>
          <a:ln>
            <a:noFill/>
          </a:ln>
        </p:spPr>
        <p:txBody>
          <a:bodyPr anchorCtr="0" anchor="ctr"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t/>
            </a:r>
            <a:endParaRPr/>
          </a:p>
        </p:txBody>
      </p:sp>
      <p:grpSp>
        <p:nvGrpSpPr>
          <p:cNvPr id="421" name="Google Shape;421;p65"/>
          <p:cNvGrpSpPr/>
          <p:nvPr/>
        </p:nvGrpSpPr>
        <p:grpSpPr>
          <a:xfrm>
            <a:off x="476250" y="285750"/>
            <a:ext cx="8525025" cy="600075"/>
            <a:chOff x="476250" y="285750"/>
            <a:chExt cx="8525025" cy="600075"/>
          </a:xfrm>
        </p:grpSpPr>
        <p:sp>
          <p:nvSpPr>
            <p:cNvPr id="422" name="Google Shape;422;p65"/>
            <p:cNvSpPr txBox="1"/>
            <p:nvPr/>
          </p:nvSpPr>
          <p:spPr>
            <a:xfrm>
              <a:off x="476250" y="285750"/>
              <a:ext cx="66675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pt-BR" sz="2200">
                  <a:solidFill>
                    <a:srgbClr val="0F172A"/>
                  </a:solidFill>
                  <a:latin typeface="Arial"/>
                  <a:ea typeface="Arial"/>
                  <a:cs typeface="Arial"/>
                  <a:sym typeface="Arial"/>
                </a:rPr>
                <a:t>LayerNormalization - Formulação e Visualização</a:t>
              </a:r>
              <a:endParaRPr b="1" sz="2200">
                <a:solidFill>
                  <a:srgbClr val="0F172A"/>
                </a:solidFill>
                <a:latin typeface="Arial"/>
                <a:ea typeface="Arial"/>
                <a:cs typeface="Arial"/>
                <a:sym typeface="Arial"/>
              </a:endParaRPr>
            </a:p>
          </p:txBody>
        </p:sp>
        <p:grpSp>
          <p:nvGrpSpPr>
            <p:cNvPr id="423" name="Google Shape;423;p65"/>
            <p:cNvGrpSpPr/>
            <p:nvPr/>
          </p:nvGrpSpPr>
          <p:grpSpPr>
            <a:xfrm>
              <a:off x="7762875" y="285750"/>
              <a:ext cx="1238400" cy="600075"/>
              <a:chOff x="7762875" y="285750"/>
              <a:chExt cx="1238400" cy="600075"/>
            </a:xfrm>
          </p:grpSpPr>
          <p:sp>
            <p:nvSpPr>
              <p:cNvPr id="424" name="Google Shape;424;p65"/>
              <p:cNvSpPr/>
              <p:nvPr/>
            </p:nvSpPr>
            <p:spPr>
              <a:xfrm>
                <a:off x="8191500" y="285750"/>
                <a:ext cx="95400" cy="95400"/>
              </a:xfrm>
              <a:prstGeom prst="roundRect">
                <a:avLst>
                  <a:gd fmla="val 9984" name="adj"/>
                </a:avLst>
              </a:prstGeom>
              <a:solidFill>
                <a:srgbClr val="CC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5" name="Google Shape;425;p65"/>
              <p:cNvSpPr/>
              <p:nvPr/>
            </p:nvSpPr>
            <p:spPr>
              <a:xfrm>
                <a:off x="8334375" y="285750"/>
                <a:ext cx="95400" cy="95400"/>
              </a:xfrm>
              <a:prstGeom prst="roundRect">
                <a:avLst>
                  <a:gd fmla="val 9984" name="adj"/>
                </a:avLst>
              </a:prstGeom>
              <a:solidFill>
                <a:srgbClr val="008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6" name="Google Shape;426;p65"/>
              <p:cNvSpPr/>
              <p:nvPr/>
            </p:nvSpPr>
            <p:spPr>
              <a:xfrm>
                <a:off x="8477250" y="285750"/>
                <a:ext cx="95400" cy="95400"/>
              </a:xfrm>
              <a:prstGeom prst="roundRect">
                <a:avLst>
                  <a:gd fmla="val 9984" name="adj"/>
                </a:avLst>
              </a:prstGeom>
              <a:solidFill>
                <a:srgbClr val="008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7" name="Google Shape;427;p65"/>
              <p:cNvSpPr/>
              <p:nvPr/>
            </p:nvSpPr>
            <p:spPr>
              <a:xfrm>
                <a:off x="8191500" y="428625"/>
                <a:ext cx="95400" cy="95400"/>
              </a:xfrm>
              <a:prstGeom prst="roundRect">
                <a:avLst>
                  <a:gd fmla="val 9984" name="adj"/>
                </a:avLst>
              </a:prstGeom>
              <a:solidFill>
                <a:srgbClr val="008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8" name="Google Shape;428;p65"/>
              <p:cNvSpPr/>
              <p:nvPr/>
            </p:nvSpPr>
            <p:spPr>
              <a:xfrm>
                <a:off x="8334375" y="428625"/>
                <a:ext cx="95400" cy="95400"/>
              </a:xfrm>
              <a:prstGeom prst="roundRect">
                <a:avLst>
                  <a:gd fmla="val 9984" name="adj"/>
                </a:avLst>
              </a:prstGeom>
              <a:solidFill>
                <a:srgbClr val="008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9" name="Google Shape;429;p65"/>
              <p:cNvSpPr/>
              <p:nvPr/>
            </p:nvSpPr>
            <p:spPr>
              <a:xfrm>
                <a:off x="8477250" y="428625"/>
                <a:ext cx="95400" cy="95400"/>
              </a:xfrm>
              <a:prstGeom prst="roundRect">
                <a:avLst>
                  <a:gd fmla="val 9984" name="adj"/>
                </a:avLst>
              </a:prstGeom>
              <a:solidFill>
                <a:srgbClr val="008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0" name="Google Shape;430;p65"/>
              <p:cNvSpPr/>
              <p:nvPr/>
            </p:nvSpPr>
            <p:spPr>
              <a:xfrm>
                <a:off x="8334375" y="571500"/>
                <a:ext cx="95400" cy="95400"/>
              </a:xfrm>
              <a:prstGeom prst="roundRect">
                <a:avLst>
                  <a:gd fmla="val 9984" name="adj"/>
                </a:avLst>
              </a:prstGeom>
              <a:solidFill>
                <a:srgbClr val="008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1" name="Google Shape;431;p65"/>
              <p:cNvSpPr/>
              <p:nvPr/>
            </p:nvSpPr>
            <p:spPr>
              <a:xfrm>
                <a:off x="8477250" y="571500"/>
                <a:ext cx="95400" cy="95400"/>
              </a:xfrm>
              <a:prstGeom prst="roundRect">
                <a:avLst>
                  <a:gd fmla="val 9984" name="adj"/>
                </a:avLst>
              </a:prstGeom>
              <a:solidFill>
                <a:srgbClr val="008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2" name="Google Shape;432;p65"/>
              <p:cNvSpPr txBox="1"/>
              <p:nvPr/>
            </p:nvSpPr>
            <p:spPr>
              <a:xfrm>
                <a:off x="7762875" y="695325"/>
                <a:ext cx="12384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pt-BR" sz="638">
                    <a:solidFill>
                      <a:srgbClr val="555555"/>
                    </a:solidFill>
                    <a:latin typeface="Arial"/>
                    <a:ea typeface="Arial"/>
                    <a:cs typeface="Arial"/>
                    <a:sym typeface="Arial"/>
                  </a:rPr>
                  <a:t>INSTITUTO FEDERAL</a:t>
                </a:r>
                <a:endParaRPr b="1" sz="638">
                  <a:solidFill>
                    <a:srgbClr val="555555"/>
                  </a:solidFill>
                  <a:latin typeface="Arial"/>
                  <a:ea typeface="Arial"/>
                  <a:cs typeface="Arial"/>
                  <a:sym typeface="Arial"/>
                </a:endParaRPr>
              </a:p>
              <a:p>
                <a:pPr indent="0" lvl="0" marL="0" rtl="0" algn="ctr">
                  <a:spcBef>
                    <a:spcPts val="0"/>
                  </a:spcBef>
                  <a:spcAft>
                    <a:spcPts val="0"/>
                  </a:spcAft>
                  <a:buNone/>
                </a:pPr>
                <a:r>
                  <a:rPr b="0" lang="pt-BR" sz="553">
                    <a:solidFill>
                      <a:srgbClr val="555555"/>
                    </a:solidFill>
                    <a:latin typeface="Arial"/>
                    <a:ea typeface="Arial"/>
                    <a:cs typeface="Arial"/>
                    <a:sym typeface="Arial"/>
                  </a:rPr>
                  <a:t>Goiás</a:t>
                </a:r>
                <a:endParaRPr b="0" sz="553">
                  <a:solidFill>
                    <a:srgbClr val="555555"/>
                  </a:solidFill>
                  <a:latin typeface="Arial"/>
                  <a:ea typeface="Arial"/>
                  <a:cs typeface="Arial"/>
                  <a:sym typeface="Arial"/>
                </a:endParaRPr>
              </a:p>
            </p:txBody>
          </p:sp>
        </p:grpSp>
      </p:grpSp>
      <p:grpSp>
        <p:nvGrpSpPr>
          <p:cNvPr id="433" name="Google Shape;433;p65"/>
          <p:cNvGrpSpPr/>
          <p:nvPr/>
        </p:nvGrpSpPr>
        <p:grpSpPr>
          <a:xfrm>
            <a:off x="4201638" y="938650"/>
            <a:ext cx="4095900" cy="3714900"/>
            <a:chOff x="4667250" y="1000125"/>
            <a:chExt cx="4095900" cy="3714900"/>
          </a:xfrm>
        </p:grpSpPr>
        <p:sp>
          <p:nvSpPr>
            <p:cNvPr id="434" name="Google Shape;434;p65"/>
            <p:cNvSpPr/>
            <p:nvPr/>
          </p:nvSpPr>
          <p:spPr>
            <a:xfrm>
              <a:off x="4667250" y="1000125"/>
              <a:ext cx="4095900" cy="3714900"/>
            </a:xfrm>
            <a:prstGeom prst="roundRect">
              <a:avLst>
                <a:gd fmla="val 3076"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5" name="Google Shape;435;p65"/>
            <p:cNvSpPr txBox="1"/>
            <p:nvPr/>
          </p:nvSpPr>
          <p:spPr>
            <a:xfrm>
              <a:off x="4905375" y="1190625"/>
              <a:ext cx="36195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pt-BR" sz="1300">
                  <a:solidFill>
                    <a:srgbClr val="1E3A8A"/>
                  </a:solidFill>
                  <a:latin typeface="Arial"/>
                  <a:ea typeface="Arial"/>
                  <a:cs typeface="Arial"/>
                  <a:sym typeface="Arial"/>
                </a:rPr>
                <a:t>Cálculo da Normalização por Instância</a:t>
              </a:r>
              <a:endParaRPr b="1" sz="1300">
                <a:solidFill>
                  <a:srgbClr val="1E3A8A"/>
                </a:solidFill>
                <a:latin typeface="Arial"/>
                <a:ea typeface="Arial"/>
                <a:cs typeface="Arial"/>
                <a:sym typeface="Arial"/>
              </a:endParaRPr>
            </a:p>
            <a:p>
              <a:pPr indent="0" lvl="0" marL="0" rtl="0" algn="l">
                <a:spcBef>
                  <a:spcPts val="150"/>
                </a:spcBef>
                <a:spcAft>
                  <a:spcPts val="0"/>
                </a:spcAft>
                <a:buNone/>
              </a:pPr>
              <a:r>
                <a:rPr b="0" lang="pt-BR" sz="900">
                  <a:solidFill>
                    <a:srgbClr val="64748B"/>
                  </a:solidFill>
                  <a:latin typeface="Arial"/>
                  <a:ea typeface="Arial"/>
                  <a:cs typeface="Arial"/>
                  <a:sym typeface="Arial"/>
                </a:rPr>
                <a:t>Como uma única linha (exemplo) é normalizada de forma isolada</a:t>
              </a:r>
              <a:endParaRPr b="0" sz="900">
                <a:solidFill>
                  <a:srgbClr val="64748B"/>
                </a:solidFill>
                <a:latin typeface="Arial"/>
                <a:ea typeface="Arial"/>
                <a:cs typeface="Arial"/>
                <a:sym typeface="Arial"/>
              </a:endParaRPr>
            </a:p>
          </p:txBody>
        </p:sp>
        <p:grpSp>
          <p:nvGrpSpPr>
            <p:cNvPr id="436" name="Google Shape;436;p65"/>
            <p:cNvGrpSpPr/>
            <p:nvPr/>
          </p:nvGrpSpPr>
          <p:grpSpPr>
            <a:xfrm>
              <a:off x="4905375" y="1714500"/>
              <a:ext cx="3619500" cy="666900"/>
              <a:chOff x="4905375" y="1714500"/>
              <a:chExt cx="3619500" cy="666900"/>
            </a:xfrm>
          </p:grpSpPr>
          <p:sp>
            <p:nvSpPr>
              <p:cNvPr id="437" name="Google Shape;437;p65"/>
              <p:cNvSpPr/>
              <p:nvPr/>
            </p:nvSpPr>
            <p:spPr>
              <a:xfrm>
                <a:off x="4905375" y="1714500"/>
                <a:ext cx="3619500" cy="666900"/>
              </a:xfrm>
              <a:prstGeom prst="roundRect">
                <a:avLst>
                  <a:gd fmla="val 11428" name="adj"/>
                </a:avLst>
              </a:prstGeom>
              <a:solidFill>
                <a:srgbClr val="EFF6FF"/>
              </a:solidFill>
              <a:ln cap="flat" cmpd="sng" w="9525">
                <a:solidFill>
                  <a:srgbClr val="BFDB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8" name="Google Shape;438;p65"/>
              <p:cNvSpPr txBox="1"/>
              <p:nvPr/>
            </p:nvSpPr>
            <p:spPr>
              <a:xfrm>
                <a:off x="5000625" y="1762125"/>
                <a:ext cx="12384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pt-BR" sz="950">
                    <a:solidFill>
                      <a:srgbClr val="1E40AF"/>
                    </a:solidFill>
                    <a:latin typeface="Arial"/>
                    <a:ea typeface="Arial"/>
                    <a:cs typeface="Arial"/>
                    <a:sym typeface="Arial"/>
                  </a:rPr>
                  <a:t>1. Ativações da Instância</a:t>
                </a:r>
                <a:endParaRPr b="1" sz="950">
                  <a:solidFill>
                    <a:srgbClr val="1E40AF"/>
                  </a:solidFill>
                  <a:latin typeface="Arial"/>
                  <a:ea typeface="Arial"/>
                  <a:cs typeface="Arial"/>
                  <a:sym typeface="Arial"/>
                </a:endParaRPr>
              </a:p>
              <a:p>
                <a:pPr indent="0" lvl="0" marL="0" rtl="0" algn="l">
                  <a:spcBef>
                    <a:spcPts val="0"/>
                  </a:spcBef>
                  <a:spcAft>
                    <a:spcPts val="0"/>
                  </a:spcAft>
                  <a:buNone/>
                </a:pPr>
                <a:r>
                  <a:rPr b="0" lang="pt-BR" sz="800">
                    <a:solidFill>
                      <a:srgbClr val="60A5FA"/>
                    </a:solidFill>
                    <a:latin typeface="Arial"/>
                    <a:ea typeface="Arial"/>
                    <a:cs typeface="Arial"/>
                    <a:sym typeface="Arial"/>
                  </a:rPr>
                  <a:t>Features de entrada</a:t>
                </a:r>
                <a:endParaRPr b="0" sz="800">
                  <a:solidFill>
                    <a:srgbClr val="60A5FA"/>
                  </a:solidFill>
                  <a:latin typeface="Arial"/>
                  <a:ea typeface="Arial"/>
                  <a:cs typeface="Arial"/>
                  <a:sym typeface="Arial"/>
                </a:endParaRPr>
              </a:p>
            </p:txBody>
          </p:sp>
          <p:sp>
            <p:nvSpPr>
              <p:cNvPr id="439" name="Google Shape;439;p65"/>
              <p:cNvSpPr/>
              <p:nvPr/>
            </p:nvSpPr>
            <p:spPr>
              <a:xfrm>
                <a:off x="6381750" y="1905000"/>
                <a:ext cx="285900" cy="285900"/>
              </a:xfrm>
              <a:prstGeom prst="ellipse">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0" name="Google Shape;440;p65"/>
              <p:cNvSpPr txBox="1"/>
              <p:nvPr/>
            </p:nvSpPr>
            <p:spPr>
              <a:xfrm>
                <a:off x="6381750" y="1905000"/>
                <a:ext cx="2859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i="1" lang="pt-BR" sz="1000">
                    <a:solidFill>
                      <a:srgbClr val="FFFFFF"/>
                    </a:solidFill>
                    <a:latin typeface="Times New Roman"/>
                    <a:ea typeface="Times New Roman"/>
                    <a:cs typeface="Times New Roman"/>
                    <a:sym typeface="Times New Roman"/>
                  </a:rPr>
                  <a:t>x₁</a:t>
                </a:r>
                <a:endParaRPr i="1" sz="1000">
                  <a:solidFill>
                    <a:srgbClr val="FFFFFF"/>
                  </a:solidFill>
                  <a:latin typeface="Times New Roman"/>
                  <a:ea typeface="Times New Roman"/>
                  <a:cs typeface="Times New Roman"/>
                  <a:sym typeface="Times New Roman"/>
                </a:endParaRPr>
              </a:p>
            </p:txBody>
          </p:sp>
          <p:sp>
            <p:nvSpPr>
              <p:cNvPr id="441" name="Google Shape;441;p65"/>
              <p:cNvSpPr/>
              <p:nvPr/>
            </p:nvSpPr>
            <p:spPr>
              <a:xfrm>
                <a:off x="6858000" y="1905000"/>
                <a:ext cx="285900" cy="285900"/>
              </a:xfrm>
              <a:prstGeom prst="ellipse">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2" name="Google Shape;442;p65"/>
              <p:cNvSpPr txBox="1"/>
              <p:nvPr/>
            </p:nvSpPr>
            <p:spPr>
              <a:xfrm>
                <a:off x="6858000" y="1905000"/>
                <a:ext cx="2859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i="1" lang="pt-BR" sz="1000">
                    <a:solidFill>
                      <a:srgbClr val="FFFFFF"/>
                    </a:solidFill>
                    <a:latin typeface="Times New Roman"/>
                    <a:ea typeface="Times New Roman"/>
                    <a:cs typeface="Times New Roman"/>
                    <a:sym typeface="Times New Roman"/>
                  </a:rPr>
                  <a:t>x₂</a:t>
                </a:r>
                <a:endParaRPr i="1" sz="1000">
                  <a:solidFill>
                    <a:srgbClr val="FFFFFF"/>
                  </a:solidFill>
                  <a:latin typeface="Times New Roman"/>
                  <a:ea typeface="Times New Roman"/>
                  <a:cs typeface="Times New Roman"/>
                  <a:sym typeface="Times New Roman"/>
                </a:endParaRPr>
              </a:p>
            </p:txBody>
          </p:sp>
          <p:sp>
            <p:nvSpPr>
              <p:cNvPr id="443" name="Google Shape;443;p65"/>
              <p:cNvSpPr/>
              <p:nvPr/>
            </p:nvSpPr>
            <p:spPr>
              <a:xfrm>
                <a:off x="7334250" y="1905000"/>
                <a:ext cx="285900" cy="285900"/>
              </a:xfrm>
              <a:prstGeom prst="ellipse">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4" name="Google Shape;444;p65"/>
              <p:cNvSpPr txBox="1"/>
              <p:nvPr/>
            </p:nvSpPr>
            <p:spPr>
              <a:xfrm>
                <a:off x="7334250" y="1905000"/>
                <a:ext cx="2859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i="1" lang="pt-BR" sz="1000">
                    <a:solidFill>
                      <a:srgbClr val="FFFFFF"/>
                    </a:solidFill>
                    <a:latin typeface="Times New Roman"/>
                    <a:ea typeface="Times New Roman"/>
                    <a:cs typeface="Times New Roman"/>
                    <a:sym typeface="Times New Roman"/>
                  </a:rPr>
                  <a:t>x₃</a:t>
                </a:r>
                <a:endParaRPr i="1" sz="1000">
                  <a:solidFill>
                    <a:srgbClr val="FFFFFF"/>
                  </a:solidFill>
                  <a:latin typeface="Times New Roman"/>
                  <a:ea typeface="Times New Roman"/>
                  <a:cs typeface="Times New Roman"/>
                  <a:sym typeface="Times New Roman"/>
                </a:endParaRPr>
              </a:p>
            </p:txBody>
          </p:sp>
          <p:sp>
            <p:nvSpPr>
              <p:cNvPr id="445" name="Google Shape;445;p65"/>
              <p:cNvSpPr/>
              <p:nvPr/>
            </p:nvSpPr>
            <p:spPr>
              <a:xfrm>
                <a:off x="7810500" y="1905000"/>
                <a:ext cx="285900" cy="285900"/>
              </a:xfrm>
              <a:prstGeom prst="ellipse">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6" name="Google Shape;446;p65"/>
              <p:cNvSpPr txBox="1"/>
              <p:nvPr/>
            </p:nvSpPr>
            <p:spPr>
              <a:xfrm>
                <a:off x="7810500" y="1905000"/>
                <a:ext cx="2859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i="1" lang="pt-BR" sz="1000">
                    <a:solidFill>
                      <a:srgbClr val="FFFFFF"/>
                    </a:solidFill>
                    <a:latin typeface="Times New Roman"/>
                    <a:ea typeface="Times New Roman"/>
                    <a:cs typeface="Times New Roman"/>
                    <a:sym typeface="Times New Roman"/>
                  </a:rPr>
                  <a:t>x₄</a:t>
                </a:r>
                <a:endParaRPr i="1" sz="1000">
                  <a:solidFill>
                    <a:srgbClr val="FFFFFF"/>
                  </a:solidFill>
                  <a:latin typeface="Times New Roman"/>
                  <a:ea typeface="Times New Roman"/>
                  <a:cs typeface="Times New Roman"/>
                  <a:sym typeface="Times New Roman"/>
                </a:endParaRPr>
              </a:p>
            </p:txBody>
          </p:sp>
        </p:grpSp>
        <p:grpSp>
          <p:nvGrpSpPr>
            <p:cNvPr id="447" name="Google Shape;447;p65"/>
            <p:cNvGrpSpPr/>
            <p:nvPr/>
          </p:nvGrpSpPr>
          <p:grpSpPr>
            <a:xfrm>
              <a:off x="4905375" y="2524125"/>
              <a:ext cx="3619650" cy="714300"/>
              <a:chOff x="4905375" y="2524125"/>
              <a:chExt cx="3619650" cy="714300"/>
            </a:xfrm>
          </p:grpSpPr>
          <p:sp>
            <p:nvSpPr>
              <p:cNvPr id="448" name="Google Shape;448;p65"/>
              <p:cNvSpPr/>
              <p:nvPr/>
            </p:nvSpPr>
            <p:spPr>
              <a:xfrm>
                <a:off x="4905375" y="2524125"/>
                <a:ext cx="1733700" cy="714300"/>
              </a:xfrm>
              <a:prstGeom prst="roundRect">
                <a:avLst>
                  <a:gd fmla="val 10666" name="adj"/>
                </a:avLst>
              </a:prstGeom>
              <a:solidFill>
                <a:srgbClr val="F8FAFC"/>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9" name="Google Shape;449;p65"/>
              <p:cNvSpPr txBox="1"/>
              <p:nvPr/>
            </p:nvSpPr>
            <p:spPr>
              <a:xfrm>
                <a:off x="5000625" y="2571750"/>
                <a:ext cx="1543200" cy="619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pt-BR" sz="900">
                    <a:solidFill>
                      <a:srgbClr val="0F172A"/>
                    </a:solidFill>
                    <a:latin typeface="Arial"/>
                    <a:ea typeface="Arial"/>
                    <a:cs typeface="Arial"/>
                    <a:sym typeface="Arial"/>
                  </a:rPr>
                  <a:t>Média Local (μ)</a:t>
                </a:r>
                <a:endParaRPr b="1" sz="900">
                  <a:solidFill>
                    <a:srgbClr val="0F172A"/>
                  </a:solidFill>
                  <a:latin typeface="Arial"/>
                  <a:ea typeface="Arial"/>
                  <a:cs typeface="Arial"/>
                  <a:sym typeface="Arial"/>
                </a:endParaRPr>
              </a:p>
              <a:p>
                <a:pPr indent="0" lvl="0" marL="0" rtl="0" algn="ctr">
                  <a:spcBef>
                    <a:spcPts val="150"/>
                  </a:spcBef>
                  <a:spcAft>
                    <a:spcPts val="0"/>
                  </a:spcAft>
                  <a:buNone/>
                </a:pPr>
                <a:r>
                  <a:rPr i="1" lang="pt-BR" sz="1000">
                    <a:solidFill>
                      <a:srgbClr val="1E293B"/>
                    </a:solidFill>
                    <a:latin typeface="Times New Roman"/>
                    <a:ea typeface="Times New Roman"/>
                    <a:cs typeface="Times New Roman"/>
                    <a:sym typeface="Times New Roman"/>
                  </a:rPr>
                  <a:t>μ = (x₁+x₂+x₃+x₄)/4</a:t>
                </a:r>
                <a:endParaRPr i="1" sz="1000">
                  <a:solidFill>
                    <a:srgbClr val="1E293B"/>
                  </a:solidFill>
                  <a:latin typeface="Times New Roman"/>
                  <a:ea typeface="Times New Roman"/>
                  <a:cs typeface="Times New Roman"/>
                  <a:sym typeface="Times New Roman"/>
                </a:endParaRPr>
              </a:p>
              <a:p>
                <a:pPr indent="0" lvl="0" marL="0" rtl="0" algn="ctr">
                  <a:spcBef>
                    <a:spcPts val="150"/>
                  </a:spcBef>
                  <a:spcAft>
                    <a:spcPts val="0"/>
                  </a:spcAft>
                  <a:buNone/>
                </a:pPr>
                <a:r>
                  <a:rPr lang="pt-BR" sz="750">
                    <a:solidFill>
                      <a:srgbClr val="64748B"/>
                    </a:solidFill>
                    <a:latin typeface="Arial"/>
                    <a:ea typeface="Arial"/>
                    <a:cs typeface="Arial"/>
                    <a:sym typeface="Arial"/>
                  </a:rPr>
                  <a:t>Média de todas as features</a:t>
                </a:r>
                <a:endParaRPr sz="750">
                  <a:solidFill>
                    <a:srgbClr val="64748B"/>
                  </a:solidFill>
                  <a:latin typeface="Arial"/>
                  <a:ea typeface="Arial"/>
                  <a:cs typeface="Arial"/>
                  <a:sym typeface="Arial"/>
                </a:endParaRPr>
              </a:p>
            </p:txBody>
          </p:sp>
          <p:sp>
            <p:nvSpPr>
              <p:cNvPr id="450" name="Google Shape;450;p65"/>
              <p:cNvSpPr/>
              <p:nvPr/>
            </p:nvSpPr>
            <p:spPr>
              <a:xfrm>
                <a:off x="6791325" y="2524125"/>
                <a:ext cx="1733700" cy="714300"/>
              </a:xfrm>
              <a:prstGeom prst="roundRect">
                <a:avLst>
                  <a:gd fmla="val 10666" name="adj"/>
                </a:avLst>
              </a:prstGeom>
              <a:solidFill>
                <a:srgbClr val="F8FAFC"/>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1" name="Google Shape;451;p65"/>
              <p:cNvSpPr txBox="1"/>
              <p:nvPr/>
            </p:nvSpPr>
            <p:spPr>
              <a:xfrm>
                <a:off x="6886575" y="2571750"/>
                <a:ext cx="1543200" cy="619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pt-BR" sz="900">
                    <a:solidFill>
                      <a:srgbClr val="0F172A"/>
                    </a:solidFill>
                    <a:latin typeface="Arial"/>
                    <a:ea typeface="Arial"/>
                    <a:cs typeface="Arial"/>
                    <a:sym typeface="Arial"/>
                  </a:rPr>
                  <a:t>Variância Local (σ²)</a:t>
                </a:r>
                <a:endParaRPr b="1" sz="900">
                  <a:solidFill>
                    <a:srgbClr val="0F172A"/>
                  </a:solidFill>
                  <a:latin typeface="Arial"/>
                  <a:ea typeface="Arial"/>
                  <a:cs typeface="Arial"/>
                  <a:sym typeface="Arial"/>
                </a:endParaRPr>
              </a:p>
              <a:p>
                <a:pPr indent="0" lvl="0" marL="0" rtl="0" algn="ctr">
                  <a:spcBef>
                    <a:spcPts val="150"/>
                  </a:spcBef>
                  <a:spcAft>
                    <a:spcPts val="0"/>
                  </a:spcAft>
                  <a:buNone/>
                </a:pPr>
                <a:r>
                  <a:rPr i="1" lang="pt-BR" sz="1000">
                    <a:solidFill>
                      <a:srgbClr val="1E293B"/>
                    </a:solidFill>
                    <a:latin typeface="Times New Roman"/>
                    <a:ea typeface="Times New Roman"/>
                    <a:cs typeface="Times New Roman"/>
                    <a:sym typeface="Times New Roman"/>
                  </a:rPr>
                  <a:t>σ² = Σ(x_i - μ)² / 4</a:t>
                </a:r>
                <a:endParaRPr i="1" sz="1000">
                  <a:solidFill>
                    <a:srgbClr val="1E293B"/>
                  </a:solidFill>
                  <a:latin typeface="Times New Roman"/>
                  <a:ea typeface="Times New Roman"/>
                  <a:cs typeface="Times New Roman"/>
                  <a:sym typeface="Times New Roman"/>
                </a:endParaRPr>
              </a:p>
              <a:p>
                <a:pPr indent="0" lvl="0" marL="0" rtl="0" algn="ctr">
                  <a:spcBef>
                    <a:spcPts val="150"/>
                  </a:spcBef>
                  <a:spcAft>
                    <a:spcPts val="0"/>
                  </a:spcAft>
                  <a:buNone/>
                </a:pPr>
                <a:r>
                  <a:rPr lang="pt-BR" sz="750">
                    <a:solidFill>
                      <a:srgbClr val="64748B"/>
                    </a:solidFill>
                    <a:latin typeface="Arial"/>
                    <a:ea typeface="Arial"/>
                    <a:cs typeface="Arial"/>
                    <a:sym typeface="Arial"/>
                  </a:rPr>
                  <a:t>Dispersão da própria linha</a:t>
                </a:r>
                <a:endParaRPr sz="750">
                  <a:solidFill>
                    <a:srgbClr val="64748B"/>
                  </a:solidFill>
                  <a:latin typeface="Arial"/>
                  <a:ea typeface="Arial"/>
                  <a:cs typeface="Arial"/>
                  <a:sym typeface="Arial"/>
                </a:endParaRPr>
              </a:p>
            </p:txBody>
          </p:sp>
        </p:grpSp>
        <p:grpSp>
          <p:nvGrpSpPr>
            <p:cNvPr id="452" name="Google Shape;452;p65"/>
            <p:cNvGrpSpPr/>
            <p:nvPr/>
          </p:nvGrpSpPr>
          <p:grpSpPr>
            <a:xfrm>
              <a:off x="4905375" y="3619500"/>
              <a:ext cx="3619500" cy="666900"/>
              <a:chOff x="4905375" y="3619500"/>
              <a:chExt cx="3619500" cy="666900"/>
            </a:xfrm>
          </p:grpSpPr>
          <p:sp>
            <p:nvSpPr>
              <p:cNvPr id="453" name="Google Shape;453;p65"/>
              <p:cNvSpPr/>
              <p:nvPr/>
            </p:nvSpPr>
            <p:spPr>
              <a:xfrm>
                <a:off x="4905375" y="3619500"/>
                <a:ext cx="3619500" cy="666900"/>
              </a:xfrm>
              <a:prstGeom prst="roundRect">
                <a:avLst>
                  <a:gd fmla="val 11428" name="adj"/>
                </a:avLst>
              </a:prstGeom>
              <a:solidFill>
                <a:srgbClr val="ECFDF5"/>
              </a:solidFill>
              <a:ln cap="flat" cmpd="sng" w="9525">
                <a:solidFill>
                  <a:srgbClr val="A7F3D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4" name="Google Shape;454;p65"/>
              <p:cNvSpPr txBox="1"/>
              <p:nvPr/>
            </p:nvSpPr>
            <p:spPr>
              <a:xfrm>
                <a:off x="5000625" y="3667125"/>
                <a:ext cx="12384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pt-BR" sz="950">
                    <a:solidFill>
                      <a:srgbClr val="065F46"/>
                    </a:solidFill>
                    <a:latin typeface="Arial"/>
                    <a:ea typeface="Arial"/>
                    <a:cs typeface="Arial"/>
                    <a:sym typeface="Arial"/>
                  </a:rPr>
                  <a:t>2. Features Normalizadas</a:t>
                </a:r>
                <a:endParaRPr b="1" sz="950">
                  <a:solidFill>
                    <a:srgbClr val="065F46"/>
                  </a:solidFill>
                  <a:latin typeface="Arial"/>
                  <a:ea typeface="Arial"/>
                  <a:cs typeface="Arial"/>
                  <a:sym typeface="Arial"/>
                </a:endParaRPr>
              </a:p>
              <a:p>
                <a:pPr indent="0" lvl="0" marL="0" rtl="0" algn="l">
                  <a:spcBef>
                    <a:spcPts val="0"/>
                  </a:spcBef>
                  <a:spcAft>
                    <a:spcPts val="0"/>
                  </a:spcAft>
                  <a:buNone/>
                </a:pPr>
                <a:r>
                  <a:rPr b="0" lang="pt-BR" sz="800">
                    <a:solidFill>
                      <a:srgbClr val="34D399"/>
                    </a:solidFill>
                    <a:latin typeface="Arial"/>
                    <a:ea typeface="Arial"/>
                    <a:cs typeface="Arial"/>
                    <a:sym typeface="Arial"/>
                  </a:rPr>
                  <a:t>LN(x_i) aplicada</a:t>
                </a:r>
                <a:endParaRPr b="0" sz="800">
                  <a:solidFill>
                    <a:srgbClr val="34D399"/>
                  </a:solidFill>
                  <a:latin typeface="Arial"/>
                  <a:ea typeface="Arial"/>
                  <a:cs typeface="Arial"/>
                  <a:sym typeface="Arial"/>
                </a:endParaRPr>
              </a:p>
            </p:txBody>
          </p:sp>
          <p:sp>
            <p:nvSpPr>
              <p:cNvPr id="455" name="Google Shape;455;p65"/>
              <p:cNvSpPr/>
              <p:nvPr/>
            </p:nvSpPr>
            <p:spPr>
              <a:xfrm>
                <a:off x="6381750" y="3810000"/>
                <a:ext cx="285900" cy="2859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6" name="Google Shape;456;p65"/>
              <p:cNvSpPr txBox="1"/>
              <p:nvPr/>
            </p:nvSpPr>
            <p:spPr>
              <a:xfrm>
                <a:off x="6381750" y="3810000"/>
                <a:ext cx="2859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i="1" lang="pt-BR" sz="1000">
                    <a:solidFill>
                      <a:srgbClr val="FFFFFF"/>
                    </a:solidFill>
                    <a:latin typeface="Times New Roman"/>
                    <a:ea typeface="Times New Roman"/>
                    <a:cs typeface="Times New Roman"/>
                    <a:sym typeface="Times New Roman"/>
                  </a:rPr>
                  <a:t>y₁</a:t>
                </a:r>
                <a:endParaRPr i="1" sz="1000">
                  <a:solidFill>
                    <a:srgbClr val="FFFFFF"/>
                  </a:solidFill>
                  <a:latin typeface="Times New Roman"/>
                  <a:ea typeface="Times New Roman"/>
                  <a:cs typeface="Times New Roman"/>
                  <a:sym typeface="Times New Roman"/>
                </a:endParaRPr>
              </a:p>
            </p:txBody>
          </p:sp>
          <p:sp>
            <p:nvSpPr>
              <p:cNvPr id="457" name="Google Shape;457;p65"/>
              <p:cNvSpPr/>
              <p:nvPr/>
            </p:nvSpPr>
            <p:spPr>
              <a:xfrm>
                <a:off x="6858000" y="3810000"/>
                <a:ext cx="285900" cy="2859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8" name="Google Shape;458;p65"/>
              <p:cNvSpPr txBox="1"/>
              <p:nvPr/>
            </p:nvSpPr>
            <p:spPr>
              <a:xfrm>
                <a:off x="6858000" y="3810000"/>
                <a:ext cx="2859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i="1" lang="pt-BR" sz="1000">
                    <a:solidFill>
                      <a:srgbClr val="FFFFFF"/>
                    </a:solidFill>
                    <a:latin typeface="Times New Roman"/>
                    <a:ea typeface="Times New Roman"/>
                    <a:cs typeface="Times New Roman"/>
                    <a:sym typeface="Times New Roman"/>
                  </a:rPr>
                  <a:t>y₂</a:t>
                </a:r>
                <a:endParaRPr i="1" sz="1000">
                  <a:solidFill>
                    <a:srgbClr val="FFFFFF"/>
                  </a:solidFill>
                  <a:latin typeface="Times New Roman"/>
                  <a:ea typeface="Times New Roman"/>
                  <a:cs typeface="Times New Roman"/>
                  <a:sym typeface="Times New Roman"/>
                </a:endParaRPr>
              </a:p>
            </p:txBody>
          </p:sp>
          <p:sp>
            <p:nvSpPr>
              <p:cNvPr id="459" name="Google Shape;459;p65"/>
              <p:cNvSpPr/>
              <p:nvPr/>
            </p:nvSpPr>
            <p:spPr>
              <a:xfrm>
                <a:off x="7334250" y="3810000"/>
                <a:ext cx="285900" cy="2859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0" name="Google Shape;460;p65"/>
              <p:cNvSpPr txBox="1"/>
              <p:nvPr/>
            </p:nvSpPr>
            <p:spPr>
              <a:xfrm>
                <a:off x="7334250" y="3810000"/>
                <a:ext cx="2859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i="1" lang="pt-BR" sz="1000">
                    <a:solidFill>
                      <a:srgbClr val="FFFFFF"/>
                    </a:solidFill>
                    <a:latin typeface="Times New Roman"/>
                    <a:ea typeface="Times New Roman"/>
                    <a:cs typeface="Times New Roman"/>
                    <a:sym typeface="Times New Roman"/>
                  </a:rPr>
                  <a:t>y₃</a:t>
                </a:r>
                <a:endParaRPr i="1" sz="1000">
                  <a:solidFill>
                    <a:srgbClr val="FFFFFF"/>
                  </a:solidFill>
                  <a:latin typeface="Times New Roman"/>
                  <a:ea typeface="Times New Roman"/>
                  <a:cs typeface="Times New Roman"/>
                  <a:sym typeface="Times New Roman"/>
                </a:endParaRPr>
              </a:p>
            </p:txBody>
          </p:sp>
          <p:sp>
            <p:nvSpPr>
              <p:cNvPr id="461" name="Google Shape;461;p65"/>
              <p:cNvSpPr/>
              <p:nvPr/>
            </p:nvSpPr>
            <p:spPr>
              <a:xfrm>
                <a:off x="7810500" y="3810000"/>
                <a:ext cx="285900" cy="2859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2" name="Google Shape;462;p65"/>
              <p:cNvSpPr txBox="1"/>
              <p:nvPr/>
            </p:nvSpPr>
            <p:spPr>
              <a:xfrm>
                <a:off x="7810500" y="3810000"/>
                <a:ext cx="2859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i="1" lang="pt-BR" sz="1000">
                    <a:solidFill>
                      <a:srgbClr val="FFFFFF"/>
                    </a:solidFill>
                    <a:latin typeface="Times New Roman"/>
                    <a:ea typeface="Times New Roman"/>
                    <a:cs typeface="Times New Roman"/>
                    <a:sym typeface="Times New Roman"/>
                  </a:rPr>
                  <a:t>y₄</a:t>
                </a:r>
                <a:endParaRPr i="1" sz="1000">
                  <a:solidFill>
                    <a:srgbClr val="FFFFFF"/>
                  </a:solidFill>
                  <a:latin typeface="Times New Roman"/>
                  <a:ea typeface="Times New Roman"/>
                  <a:cs typeface="Times New Roman"/>
                  <a:sym typeface="Times New Roman"/>
                </a:endParaRPr>
              </a:p>
            </p:txBody>
          </p:sp>
        </p:grpSp>
        <p:grpSp>
          <p:nvGrpSpPr>
            <p:cNvPr id="463" name="Google Shape;463;p65"/>
            <p:cNvGrpSpPr/>
            <p:nvPr/>
          </p:nvGrpSpPr>
          <p:grpSpPr>
            <a:xfrm>
              <a:off x="5762625" y="2381250"/>
              <a:ext cx="1905150" cy="1190550"/>
              <a:chOff x="5762625" y="2381250"/>
              <a:chExt cx="1905150" cy="1190550"/>
            </a:xfrm>
          </p:grpSpPr>
          <p:pic>
            <p:nvPicPr>
              <p:cNvPr id="464" name="Google Shape;464;p65"/>
              <p:cNvPicPr preferRelativeResize="0"/>
              <p:nvPr/>
            </p:nvPicPr>
            <p:blipFill rotWithShape="1">
              <a:blip r:embed="rId3">
                <a:alphaModFix/>
              </a:blip>
              <a:srcRect b="0" l="0" r="0" t="0"/>
              <a:stretch/>
            </p:blipFill>
            <p:spPr>
              <a:xfrm>
                <a:off x="5762625" y="2381250"/>
                <a:ext cx="19200" cy="95400"/>
              </a:xfrm>
              <a:prstGeom prst="rect">
                <a:avLst/>
              </a:prstGeom>
              <a:noFill/>
              <a:ln>
                <a:noFill/>
              </a:ln>
            </p:spPr>
          </p:pic>
          <p:pic>
            <p:nvPicPr>
              <p:cNvPr id="465" name="Google Shape;465;p65"/>
              <p:cNvPicPr preferRelativeResize="0"/>
              <p:nvPr/>
            </p:nvPicPr>
            <p:blipFill rotWithShape="1">
              <a:blip r:embed="rId3">
                <a:alphaModFix/>
              </a:blip>
              <a:srcRect b="0" l="0" r="0" t="0"/>
              <a:stretch/>
            </p:blipFill>
            <p:spPr>
              <a:xfrm>
                <a:off x="7648575" y="2381250"/>
                <a:ext cx="19200" cy="95400"/>
              </a:xfrm>
              <a:prstGeom prst="rect">
                <a:avLst/>
              </a:prstGeom>
              <a:noFill/>
              <a:ln>
                <a:noFill/>
              </a:ln>
            </p:spPr>
          </p:pic>
          <p:pic>
            <p:nvPicPr>
              <p:cNvPr id="466" name="Google Shape;466;p65"/>
              <p:cNvPicPr preferRelativeResize="0"/>
              <p:nvPr/>
            </p:nvPicPr>
            <p:blipFill rotWithShape="1">
              <a:blip r:embed="rId4">
                <a:alphaModFix/>
              </a:blip>
              <a:srcRect b="0" l="0" r="0" t="0"/>
              <a:stretch/>
            </p:blipFill>
            <p:spPr>
              <a:xfrm>
                <a:off x="5762625" y="3238500"/>
                <a:ext cx="962100" cy="333300"/>
              </a:xfrm>
              <a:prstGeom prst="rect">
                <a:avLst/>
              </a:prstGeom>
              <a:noFill/>
              <a:ln>
                <a:noFill/>
              </a:ln>
            </p:spPr>
          </p:pic>
          <p:pic>
            <p:nvPicPr>
              <p:cNvPr id="467" name="Google Shape;467;p65"/>
              <p:cNvPicPr preferRelativeResize="0"/>
              <p:nvPr/>
            </p:nvPicPr>
            <p:blipFill rotWithShape="1">
              <a:blip r:embed="rId5">
                <a:alphaModFix/>
              </a:blip>
              <a:srcRect b="0" l="0" r="0" t="0"/>
              <a:stretch/>
            </p:blipFill>
            <p:spPr>
              <a:xfrm>
                <a:off x="6705600" y="3238500"/>
                <a:ext cx="962100" cy="333300"/>
              </a:xfrm>
              <a:prstGeom prst="rect">
                <a:avLst/>
              </a:prstGeom>
              <a:noFill/>
              <a:ln>
                <a:noFill/>
              </a:ln>
            </p:spPr>
          </p:pic>
        </p:grpSp>
        <p:sp>
          <p:nvSpPr>
            <p:cNvPr id="468" name="Google Shape;468;p65"/>
            <p:cNvSpPr txBox="1"/>
            <p:nvPr/>
          </p:nvSpPr>
          <p:spPr>
            <a:xfrm>
              <a:off x="4905375" y="4381500"/>
              <a:ext cx="36195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pt-BR" sz="850">
                  <a:solidFill>
                    <a:srgbClr val="047857"/>
                  </a:solidFill>
                  <a:latin typeface="Arial"/>
                  <a:ea typeface="Arial"/>
                  <a:cs typeface="Arial"/>
                  <a:sym typeface="Arial"/>
                </a:rPr>
                <a:t>Cada exemplo possui seu próprio μ e σ² independentemente do tamanho do lote (batch)</a:t>
              </a:r>
              <a:endParaRPr b="1" sz="850">
                <a:solidFill>
                  <a:srgbClr val="047857"/>
                </a:solidFill>
                <a:latin typeface="Arial"/>
                <a:ea typeface="Arial"/>
                <a:cs typeface="Arial"/>
                <a:sym typeface="Arial"/>
              </a:endParaRPr>
            </a:p>
          </p:txBody>
        </p:sp>
      </p:grpSp>
      <p:sp>
        <p:nvSpPr>
          <p:cNvPr id="469" name="Google Shape;469;p65"/>
          <p:cNvSpPr txBox="1"/>
          <p:nvPr/>
        </p:nvSpPr>
        <p:spPr>
          <a:xfrm>
            <a:off x="476250" y="1371600"/>
            <a:ext cx="3429000" cy="27936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i="0" lang="pt-BR" sz="1800">
                <a:solidFill>
                  <a:srgbClr val="0F172A"/>
                </a:solidFill>
                <a:latin typeface="Arial"/>
                <a:ea typeface="Arial"/>
                <a:cs typeface="Arial"/>
                <a:sym typeface="Arial"/>
              </a:rPr>
              <a:t>É essencialmente o Z-SCORE das features</a:t>
            </a:r>
            <a:endParaRPr b="1" i="0" sz="1800">
              <a:solidFill>
                <a:srgbClr val="0F172A"/>
              </a:solidFill>
              <a:latin typeface="Arial"/>
              <a:ea typeface="Arial"/>
              <a:cs typeface="Arial"/>
              <a:sym typeface="Arial"/>
            </a:endParaRPr>
          </a:p>
          <a:p>
            <a:pPr indent="0" lvl="0" marL="0" rtl="0" algn="l">
              <a:spcBef>
                <a:spcPts val="900"/>
              </a:spcBef>
              <a:spcAft>
                <a:spcPts val="0"/>
              </a:spcAft>
              <a:buNone/>
            </a:pPr>
            <a:r>
              <a:rPr b="0" i="0" lang="pt-BR" sz="1400">
                <a:solidFill>
                  <a:srgbClr val="334155"/>
                </a:solidFill>
                <a:latin typeface="Arial"/>
                <a:ea typeface="Arial"/>
                <a:cs typeface="Arial"/>
                <a:sym typeface="Arial"/>
              </a:rPr>
              <a:t>O z-score clássico é:</a:t>
            </a:r>
            <a:endParaRPr b="0" i="0" sz="1400">
              <a:solidFill>
                <a:srgbClr val="334155"/>
              </a:solidFill>
              <a:latin typeface="Arial"/>
              <a:ea typeface="Arial"/>
              <a:cs typeface="Arial"/>
              <a:sym typeface="Arial"/>
            </a:endParaRPr>
          </a:p>
          <a:p>
            <a:pPr indent="0" lvl="0" marL="0" rtl="0" algn="ctr">
              <a:spcBef>
                <a:spcPts val="600"/>
              </a:spcBef>
              <a:spcAft>
                <a:spcPts val="0"/>
              </a:spcAft>
              <a:buNone/>
            </a:pPr>
            <a:r>
              <a:rPr b="0" i="1" lang="pt-BR" sz="1800">
                <a:solidFill>
                  <a:srgbClr val="1E3A8A"/>
                </a:solidFill>
                <a:latin typeface="Times New Roman"/>
                <a:ea typeface="Times New Roman"/>
                <a:cs typeface="Times New Roman"/>
                <a:sym typeface="Times New Roman"/>
              </a:rPr>
              <a:t>zᵢ = (xᵢ - μ) / σ</a:t>
            </a:r>
            <a:endParaRPr b="0" i="1" sz="1800">
              <a:solidFill>
                <a:srgbClr val="1E3A8A"/>
              </a:solidFill>
              <a:latin typeface="Times New Roman"/>
              <a:ea typeface="Times New Roman"/>
              <a:cs typeface="Times New Roman"/>
              <a:sym typeface="Times New Roman"/>
            </a:endParaRPr>
          </a:p>
          <a:p>
            <a:pPr indent="0" lvl="0" marL="0" rtl="0" algn="l">
              <a:spcBef>
                <a:spcPts val="1200"/>
              </a:spcBef>
              <a:spcAft>
                <a:spcPts val="0"/>
              </a:spcAft>
              <a:buNone/>
            </a:pPr>
            <a:r>
              <a:rPr b="0" i="0" lang="pt-BR" sz="1400">
                <a:solidFill>
                  <a:srgbClr val="334155"/>
                </a:solidFill>
                <a:latin typeface="Arial"/>
                <a:ea typeface="Arial"/>
                <a:cs typeface="Arial"/>
                <a:sym typeface="Arial"/>
              </a:rPr>
              <a:t>A LayerNorm faz praticamente isso:</a:t>
            </a:r>
            <a:endParaRPr b="0" i="0" sz="1400">
              <a:solidFill>
                <a:srgbClr val="334155"/>
              </a:solidFill>
              <a:latin typeface="Arial"/>
              <a:ea typeface="Arial"/>
              <a:cs typeface="Arial"/>
              <a:sym typeface="Arial"/>
            </a:endParaRPr>
          </a:p>
          <a:p>
            <a:pPr indent="0" lvl="0" marL="0" rtl="0" algn="ctr">
              <a:spcBef>
                <a:spcPts val="600"/>
              </a:spcBef>
              <a:spcAft>
                <a:spcPts val="0"/>
              </a:spcAft>
              <a:buNone/>
            </a:pPr>
            <a:r>
              <a:rPr b="0" i="1" lang="pt-BR" sz="1800">
                <a:solidFill>
                  <a:srgbClr val="10B981"/>
                </a:solidFill>
                <a:latin typeface="Times New Roman"/>
                <a:ea typeface="Times New Roman"/>
                <a:cs typeface="Times New Roman"/>
                <a:sym typeface="Times New Roman"/>
              </a:rPr>
              <a:t>x̂ᵢ = (xᵢ - μ) / √(σ² + ε)</a:t>
            </a:r>
            <a:br>
              <a:rPr b="0" i="1" lang="pt-BR" sz="1800">
                <a:solidFill>
                  <a:srgbClr val="10B981"/>
                </a:solidFill>
                <a:latin typeface="Times New Roman"/>
                <a:ea typeface="Times New Roman"/>
                <a:cs typeface="Times New Roman"/>
                <a:sym typeface="Times New Roman"/>
              </a:rPr>
            </a:br>
            <a:br>
              <a:rPr b="0" i="1" lang="pt-BR" sz="1800">
                <a:solidFill>
                  <a:srgbClr val="10B981"/>
                </a:solidFill>
                <a:latin typeface="Times New Roman"/>
                <a:ea typeface="Times New Roman"/>
                <a:cs typeface="Times New Roman"/>
                <a:sym typeface="Times New Roman"/>
              </a:rPr>
            </a:br>
            <a:r>
              <a:rPr b="0" i="1" lang="pt-BR" sz="1800">
                <a:solidFill>
                  <a:srgbClr val="10B981"/>
                </a:solidFill>
                <a:latin typeface="Times New Roman"/>
                <a:ea typeface="Times New Roman"/>
                <a:cs typeface="Times New Roman"/>
                <a:sym typeface="Times New Roman"/>
              </a:rPr>
              <a:t>onde </a:t>
            </a:r>
            <a:r>
              <a:rPr i="1" lang="pt-BR" sz="1800">
                <a:solidFill>
                  <a:srgbClr val="10B981"/>
                </a:solidFill>
                <a:latin typeface="Times New Roman"/>
                <a:ea typeface="Times New Roman"/>
                <a:cs typeface="Times New Roman"/>
                <a:sym typeface="Times New Roman"/>
              </a:rPr>
              <a:t>ε é um valor pequeno para evitar divisão por zero.</a:t>
            </a:r>
            <a:endParaRPr b="0" i="1" sz="1800">
              <a:solidFill>
                <a:srgbClr val="10B981"/>
              </a:solidFill>
              <a:latin typeface="Times New Roman"/>
              <a:ea typeface="Times New Roman"/>
              <a:cs typeface="Times New Roman"/>
              <a:sym typeface="Times New Roman"/>
            </a:endParaRPr>
          </a:p>
        </p:txBody>
      </p:sp>
      <p:pic>
        <p:nvPicPr>
          <p:cNvPr id="470" name="Google Shape;470;p65"/>
          <p:cNvPicPr preferRelativeResize="0"/>
          <p:nvPr/>
        </p:nvPicPr>
        <p:blipFill>
          <a:blip r:embed="rId6">
            <a:alphaModFix/>
          </a:blip>
          <a:stretch>
            <a:fillRect/>
          </a:stretch>
        </p:blipFill>
        <p:spPr>
          <a:xfrm>
            <a:off x="8050625" y="44817"/>
            <a:ext cx="1093375" cy="132230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66"/>
          <p:cNvSpPr txBox="1"/>
          <p:nvPr>
            <p:ph type="title"/>
          </p:nvPr>
        </p:nvSpPr>
        <p:spPr>
          <a:xfrm>
            <a:off x="617220" y="161214"/>
            <a:ext cx="5658000" cy="816000"/>
          </a:xfrm>
          <a:prstGeom prst="rect">
            <a:avLst/>
          </a:prstGeom>
          <a:noFill/>
          <a:ln>
            <a:noFill/>
          </a:ln>
        </p:spPr>
        <p:txBody>
          <a:bodyPr anchorCtr="0" anchor="b" bIns="34275" lIns="68575" spcFirstLastPara="1" rIns="68575" wrap="square" tIns="34275">
            <a:normAutofit/>
          </a:bodyPr>
          <a:lstStyle/>
          <a:p>
            <a:pPr indent="0" lvl="0" marL="0" rtl="0" algn="l">
              <a:lnSpc>
                <a:spcPct val="85000"/>
              </a:lnSpc>
              <a:spcBef>
                <a:spcPts val="0"/>
              </a:spcBef>
              <a:spcAft>
                <a:spcPts val="0"/>
              </a:spcAft>
              <a:buClr>
                <a:srgbClr val="3F3F3F"/>
              </a:buClr>
              <a:buSzPts val="3600"/>
              <a:buFont typeface="Calibri"/>
              <a:buNone/>
            </a:pPr>
            <a:r>
              <a:rPr lang="pt-BR"/>
              <a:t>Implementando Batch Normalization</a:t>
            </a:r>
            <a:endParaRPr/>
          </a:p>
        </p:txBody>
      </p:sp>
      <p:sp>
        <p:nvSpPr>
          <p:cNvPr id="476" name="Google Shape;476;p66"/>
          <p:cNvSpPr txBox="1"/>
          <p:nvPr>
            <p:ph idx="1" type="body"/>
          </p:nvPr>
        </p:nvSpPr>
        <p:spPr>
          <a:xfrm>
            <a:off x="617220" y="1038225"/>
            <a:ext cx="5658000" cy="2263200"/>
          </a:xfrm>
          <a:prstGeom prst="rect">
            <a:avLst/>
          </a:prstGeom>
          <a:noFill/>
          <a:ln>
            <a:noFill/>
          </a:ln>
        </p:spPr>
        <p:txBody>
          <a:bodyPr anchorCtr="0" anchor="t" bIns="34275" lIns="0" spcFirstLastPara="1" rIns="0" wrap="square" tIns="34275">
            <a:normAutofit/>
          </a:bodyPr>
          <a:lstStyle/>
          <a:p>
            <a:pPr indent="0" lvl="0" marL="63500" rtl="0" algn="l">
              <a:lnSpc>
                <a:spcPct val="90000"/>
              </a:lnSpc>
              <a:spcBef>
                <a:spcPts val="0"/>
              </a:spcBef>
              <a:spcAft>
                <a:spcPts val="0"/>
              </a:spcAft>
              <a:buSzPts val="1500"/>
              <a:buNone/>
            </a:pPr>
            <a:r>
              <a:t/>
            </a:r>
            <a:endParaRPr/>
          </a:p>
        </p:txBody>
      </p:sp>
      <p:pic>
        <p:nvPicPr>
          <p:cNvPr id="477" name="Google Shape;477;p66"/>
          <p:cNvPicPr preferRelativeResize="0"/>
          <p:nvPr/>
        </p:nvPicPr>
        <p:blipFill rotWithShape="1">
          <a:blip r:embed="rId3">
            <a:alphaModFix/>
          </a:blip>
          <a:srcRect b="14417" l="18827" r="48740" t="31727"/>
          <a:stretch/>
        </p:blipFill>
        <p:spPr>
          <a:xfrm>
            <a:off x="128587" y="1384301"/>
            <a:ext cx="3581146" cy="3344863"/>
          </a:xfrm>
          <a:prstGeom prst="rect">
            <a:avLst/>
          </a:prstGeom>
          <a:noFill/>
          <a:ln>
            <a:noFill/>
          </a:ln>
        </p:spPr>
      </p:pic>
      <p:sp>
        <p:nvSpPr>
          <p:cNvPr id="478" name="Google Shape;478;p66"/>
          <p:cNvSpPr/>
          <p:nvPr/>
        </p:nvSpPr>
        <p:spPr>
          <a:xfrm>
            <a:off x="4241950" y="921746"/>
            <a:ext cx="2643300" cy="1590300"/>
          </a:xfrm>
          <a:prstGeom prst="wedgeRectCallout">
            <a:avLst>
              <a:gd fmla="val -85901" name="adj1"/>
              <a:gd fmla="val 99548" name="adj2"/>
            </a:avLst>
          </a:prstGeom>
          <a:solidFill>
            <a:schemeClr val="accent1"/>
          </a:solidFill>
          <a:ln cap="flat" cmpd="sng" w="15875">
            <a:solidFill>
              <a:srgbClr val="147EA6"/>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pt-BR" sz="1400" u="none" cap="none" strike="noStrike">
                <a:solidFill>
                  <a:schemeClr val="lt1"/>
                </a:solidFill>
                <a:latin typeface="Calibri"/>
                <a:ea typeface="Calibri"/>
                <a:cs typeface="Calibri"/>
                <a:sym typeface="Calibri"/>
              </a:rPr>
              <a:t>BN adiciona 4 parâmetros por entrada: variâncias</a:t>
            </a:r>
            <a:r>
              <a:rPr lang="pt-BR">
                <a:solidFill>
                  <a:schemeClr val="lt1"/>
                </a:solidFill>
                <a:latin typeface="Calibri"/>
                <a:ea typeface="Calibri"/>
                <a:cs typeface="Calibri"/>
                <a:sym typeface="Calibri"/>
              </a:rPr>
              <a:t> e</a:t>
            </a:r>
            <a:r>
              <a:rPr b="0" i="0" lang="pt-BR" sz="1400" u="none" cap="none" strike="noStrike">
                <a:solidFill>
                  <a:schemeClr val="lt1"/>
                </a:solidFill>
                <a:latin typeface="Calibri"/>
                <a:ea typeface="Calibri"/>
                <a:cs typeface="Calibri"/>
                <a:sym typeface="Calibri"/>
              </a:rPr>
              <a:t> médias </a:t>
            </a:r>
            <a:r>
              <a:rPr lang="pt-BR">
                <a:solidFill>
                  <a:schemeClr val="lt1"/>
                </a:solidFill>
                <a:latin typeface="Calibri"/>
                <a:ea typeface="Calibri"/>
                <a:cs typeface="Calibri"/>
                <a:sym typeface="Calibri"/>
              </a:rPr>
              <a:t>e dois parâmetros para ajustar a média e variancia de acordo com a entrada</a:t>
            </a:r>
            <a:r>
              <a:rPr b="0" i="0" lang="pt-BR" sz="1400" u="none" cap="none" strike="noStrike">
                <a:solidFill>
                  <a:schemeClr val="lt1"/>
                </a:solidFill>
                <a:latin typeface="Calibri"/>
                <a:ea typeface="Calibri"/>
                <a:cs typeface="Calibri"/>
                <a:sym typeface="Calibri"/>
              </a:rPr>
              <a:t>. Como nesse caso são 784 entradas: 784x4=3136</a:t>
            </a:r>
            <a:endParaRPr sz="1100"/>
          </a:p>
        </p:txBody>
      </p:sp>
      <p:sp>
        <p:nvSpPr>
          <p:cNvPr id="479" name="Google Shape;479;p66"/>
          <p:cNvSpPr/>
          <p:nvPr/>
        </p:nvSpPr>
        <p:spPr>
          <a:xfrm>
            <a:off x="3907632" y="2990293"/>
            <a:ext cx="2893200" cy="1738800"/>
          </a:xfrm>
          <a:prstGeom prst="wedgeRectCallout">
            <a:avLst>
              <a:gd fmla="val -122216" name="adj1"/>
              <a:gd fmla="val 46293" name="adj2"/>
            </a:avLst>
          </a:prstGeom>
          <a:solidFill>
            <a:schemeClr val="accent5"/>
          </a:solidFill>
          <a:ln cap="flat" cmpd="sng" w="15875">
            <a:solidFill>
              <a:srgbClr val="2D633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pt-BR" sz="1400" u="none" cap="none" strike="noStrike">
                <a:solidFill>
                  <a:schemeClr val="lt1"/>
                </a:solidFill>
                <a:latin typeface="Calibri"/>
                <a:ea typeface="Calibri"/>
                <a:cs typeface="Calibri"/>
                <a:sym typeface="Calibri"/>
              </a:rPr>
              <a:t>Veja que agora nós temos parâmetros não treináveis. Isso pois a média e variância do BN não são ajustados pelo back-propagation, então não são treináveis.</a:t>
            </a:r>
            <a:endParaRPr sz="1100"/>
          </a:p>
          <a:p>
            <a:pPr indent="0" lvl="0" marL="0" marR="0" rtl="0" algn="ctr">
              <a:spcBef>
                <a:spcPts val="0"/>
              </a:spcBef>
              <a:spcAft>
                <a:spcPts val="0"/>
              </a:spcAft>
              <a:buNone/>
            </a:pPr>
            <a:r>
              <a:rPr b="0" i="0" lang="pt-BR" sz="1400" u="none" cap="none" strike="noStrike">
                <a:solidFill>
                  <a:schemeClr val="lt1"/>
                </a:solidFill>
                <a:latin typeface="Calibri"/>
                <a:ea typeface="Calibri"/>
                <a:cs typeface="Calibri"/>
                <a:sym typeface="Calibri"/>
              </a:rPr>
              <a:t>Total de parâmetros BN (3136+1200+400)/2 = 2368</a:t>
            </a:r>
            <a:endParaRPr sz="1100"/>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67"/>
          <p:cNvSpPr txBox="1"/>
          <p:nvPr>
            <p:ph type="title"/>
          </p:nvPr>
        </p:nvSpPr>
        <p:spPr>
          <a:xfrm>
            <a:off x="617225" y="161225"/>
            <a:ext cx="7033200" cy="643200"/>
          </a:xfrm>
          <a:prstGeom prst="rect">
            <a:avLst/>
          </a:prstGeom>
          <a:noFill/>
          <a:ln>
            <a:noFill/>
          </a:ln>
        </p:spPr>
        <p:txBody>
          <a:bodyPr anchorCtr="0" anchor="b" bIns="34275" lIns="68575" spcFirstLastPara="1" rIns="68575" wrap="square" tIns="34275">
            <a:normAutofit/>
          </a:bodyPr>
          <a:lstStyle/>
          <a:p>
            <a:pPr indent="0" lvl="0" marL="0" rtl="0" algn="l">
              <a:lnSpc>
                <a:spcPct val="85000"/>
              </a:lnSpc>
              <a:spcBef>
                <a:spcPts val="0"/>
              </a:spcBef>
              <a:spcAft>
                <a:spcPts val="0"/>
              </a:spcAft>
              <a:buClr>
                <a:srgbClr val="3F3F3F"/>
              </a:buClr>
              <a:buSzPts val="3600"/>
              <a:buFont typeface="Calibri"/>
              <a:buNone/>
            </a:pPr>
            <a:r>
              <a:rPr lang="pt-BR"/>
              <a:t>Taxa de Aprendizado (Learning Rate, LR)</a:t>
            </a:r>
            <a:endParaRPr/>
          </a:p>
        </p:txBody>
      </p:sp>
      <p:sp>
        <p:nvSpPr>
          <p:cNvPr id="485" name="Google Shape;485;p67"/>
          <p:cNvSpPr txBox="1"/>
          <p:nvPr>
            <p:ph idx="1" type="body"/>
          </p:nvPr>
        </p:nvSpPr>
        <p:spPr>
          <a:xfrm>
            <a:off x="617220" y="1038225"/>
            <a:ext cx="5658000" cy="2263200"/>
          </a:xfrm>
          <a:prstGeom prst="rect">
            <a:avLst/>
          </a:prstGeom>
          <a:noFill/>
          <a:ln>
            <a:noFill/>
          </a:ln>
        </p:spPr>
        <p:txBody>
          <a:bodyPr anchorCtr="0" anchor="t" bIns="34275" lIns="0" spcFirstLastPara="1" rIns="0" wrap="square" tIns="34275">
            <a:normAutofit lnSpcReduction="10000"/>
          </a:bodyPr>
          <a:lstStyle/>
          <a:p>
            <a:pPr indent="-95250" lvl="0" marL="63500" rtl="0" algn="l">
              <a:lnSpc>
                <a:spcPct val="90000"/>
              </a:lnSpc>
              <a:spcBef>
                <a:spcPts val="0"/>
              </a:spcBef>
              <a:spcAft>
                <a:spcPts val="0"/>
              </a:spcAft>
              <a:buSzPts val="1500"/>
              <a:buChar char="●"/>
            </a:pPr>
            <a:r>
              <a:rPr lang="pt-BR"/>
              <a:t>Como já discutido:</a:t>
            </a:r>
            <a:endParaRPr/>
          </a:p>
          <a:p>
            <a:pPr indent="-139700" lvl="1" marL="292100" rtl="0" algn="l">
              <a:lnSpc>
                <a:spcPct val="90000"/>
              </a:lnSpc>
              <a:spcBef>
                <a:spcPts val="300"/>
              </a:spcBef>
              <a:spcAft>
                <a:spcPts val="0"/>
              </a:spcAft>
              <a:buSzPts val="1400"/>
              <a:buChar char="○"/>
            </a:pPr>
            <a:r>
              <a:rPr lang="pt-BR"/>
              <a:t>Taxa de aprendizado alta,  mostra uma alta confiança no cálculo do erro e a convergência deve ficar dançando em relação ao ponto mínimo;</a:t>
            </a:r>
            <a:endParaRPr/>
          </a:p>
          <a:p>
            <a:pPr indent="-139700" lvl="1" marL="292100" rtl="0" algn="l">
              <a:lnSpc>
                <a:spcPct val="90000"/>
              </a:lnSpc>
              <a:spcBef>
                <a:spcPts val="500"/>
              </a:spcBef>
              <a:spcAft>
                <a:spcPts val="0"/>
              </a:spcAft>
              <a:buSzPts val="1400"/>
              <a:buChar char="○"/>
            </a:pPr>
            <a:r>
              <a:rPr lang="pt-BR"/>
              <a:t>Taxa de aprendizado baixa, o treino deverá chegar ao valor ótimo, mas levará muito tempo.</a:t>
            </a:r>
            <a:endParaRPr/>
          </a:p>
          <a:p>
            <a:pPr indent="-95250" lvl="0" marL="63500" rtl="0" algn="l">
              <a:lnSpc>
                <a:spcPct val="90000"/>
              </a:lnSpc>
              <a:spcBef>
                <a:spcPts val="1200"/>
              </a:spcBef>
              <a:spcAft>
                <a:spcPts val="0"/>
              </a:spcAft>
              <a:buSzPts val="1500"/>
              <a:buChar char="●"/>
            </a:pPr>
            <a:r>
              <a:rPr lang="pt-BR"/>
              <a:t>Quando se tem pouco recurso para experimentos, provavelmente o experimento deverá ser interrompido sem ter chegado em uma boa convergência</a:t>
            </a:r>
            <a:endParaRPr/>
          </a:p>
        </p:txBody>
      </p:sp>
      <p:pic>
        <p:nvPicPr>
          <p:cNvPr descr="Having trouble to interpret the learning curve and tune the learning rate -  Google Groups" id="486" name="Google Shape;486;p67"/>
          <p:cNvPicPr preferRelativeResize="0"/>
          <p:nvPr/>
        </p:nvPicPr>
        <p:blipFill rotWithShape="1">
          <a:blip r:embed="rId3">
            <a:alphaModFix/>
          </a:blip>
          <a:srcRect b="0" l="0" r="0" t="0"/>
          <a:stretch/>
        </p:blipFill>
        <p:spPr>
          <a:xfrm>
            <a:off x="3419050" y="3313075"/>
            <a:ext cx="2026794" cy="1830425"/>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68"/>
          <p:cNvSpPr txBox="1"/>
          <p:nvPr>
            <p:ph type="title"/>
          </p:nvPr>
        </p:nvSpPr>
        <p:spPr>
          <a:xfrm>
            <a:off x="617220" y="161214"/>
            <a:ext cx="5658000" cy="816000"/>
          </a:xfrm>
          <a:prstGeom prst="rect">
            <a:avLst/>
          </a:prstGeom>
          <a:noFill/>
          <a:ln>
            <a:noFill/>
          </a:ln>
        </p:spPr>
        <p:txBody>
          <a:bodyPr anchorCtr="0" anchor="b" bIns="34275" lIns="68575" spcFirstLastPara="1" rIns="68575" wrap="square" tIns="34275">
            <a:normAutofit/>
          </a:bodyPr>
          <a:lstStyle/>
          <a:p>
            <a:pPr indent="0" lvl="0" marL="0" rtl="0" algn="l">
              <a:lnSpc>
                <a:spcPct val="85000"/>
              </a:lnSpc>
              <a:spcBef>
                <a:spcPts val="0"/>
              </a:spcBef>
              <a:spcAft>
                <a:spcPts val="0"/>
              </a:spcAft>
              <a:buClr>
                <a:srgbClr val="3F3F3F"/>
              </a:buClr>
              <a:buSzPts val="3600"/>
              <a:buFont typeface="Calibri"/>
              <a:buNone/>
            </a:pPr>
            <a:r>
              <a:rPr lang="pt-BR"/>
              <a:t>LR Schedules ou Dinâmico</a:t>
            </a:r>
            <a:endParaRPr/>
          </a:p>
        </p:txBody>
      </p:sp>
      <p:sp>
        <p:nvSpPr>
          <p:cNvPr id="492" name="Google Shape;492;p68"/>
          <p:cNvSpPr txBox="1"/>
          <p:nvPr>
            <p:ph idx="1" type="body"/>
          </p:nvPr>
        </p:nvSpPr>
        <p:spPr>
          <a:xfrm>
            <a:off x="617225" y="1038225"/>
            <a:ext cx="7638300" cy="3474900"/>
          </a:xfrm>
          <a:prstGeom prst="rect">
            <a:avLst/>
          </a:prstGeom>
          <a:blipFill rotWithShape="1">
            <a:blip r:embed="rId3">
              <a:alphaModFix/>
            </a:blip>
            <a:stretch>
              <a:fillRect b="0" l="-610" r="0" t="-1670"/>
            </a:stretch>
          </a:blipFill>
          <a:ln>
            <a:noFill/>
          </a:ln>
        </p:spPr>
        <p:txBody>
          <a:bodyPr anchorCtr="0" anchor="t" bIns="34275" lIns="0" spcFirstLastPara="1" rIns="0" wrap="square" tIns="34275">
            <a:normAutofit/>
          </a:bodyPr>
          <a:lstStyle/>
          <a:p>
            <a:pPr indent="-95250" lvl="0" marL="63500" rtl="0" algn="l">
              <a:lnSpc>
                <a:spcPct val="90000"/>
              </a:lnSpc>
              <a:spcBef>
                <a:spcPts val="0"/>
              </a:spcBef>
              <a:spcAft>
                <a:spcPts val="0"/>
              </a:spcAft>
              <a:buSzPts val="1500"/>
              <a:buChar char="●"/>
            </a:pPr>
            <a:r>
              <a:rPr lang="pt-BR"/>
              <a:t> </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69"/>
          <p:cNvSpPr txBox="1"/>
          <p:nvPr>
            <p:ph type="title"/>
          </p:nvPr>
        </p:nvSpPr>
        <p:spPr>
          <a:xfrm>
            <a:off x="617220" y="161214"/>
            <a:ext cx="5658000" cy="816000"/>
          </a:xfrm>
          <a:prstGeom prst="rect">
            <a:avLst/>
          </a:prstGeom>
          <a:noFill/>
          <a:ln>
            <a:noFill/>
          </a:ln>
        </p:spPr>
        <p:txBody>
          <a:bodyPr anchorCtr="0" anchor="b" bIns="34275" lIns="68575" spcFirstLastPara="1" rIns="68575" wrap="square" tIns="34275">
            <a:normAutofit/>
          </a:bodyPr>
          <a:lstStyle/>
          <a:p>
            <a:pPr indent="0" lvl="0" marL="0" rtl="0" algn="l">
              <a:lnSpc>
                <a:spcPct val="85000"/>
              </a:lnSpc>
              <a:spcBef>
                <a:spcPts val="0"/>
              </a:spcBef>
              <a:spcAft>
                <a:spcPts val="0"/>
              </a:spcAft>
              <a:buClr>
                <a:srgbClr val="3F3F3F"/>
              </a:buClr>
              <a:buSzPts val="3600"/>
              <a:buFont typeface="Calibri"/>
              <a:buNone/>
            </a:pPr>
            <a:r>
              <a:rPr lang="pt-BR"/>
              <a:t>LR Schedules - Implementando</a:t>
            </a:r>
            <a:endParaRPr/>
          </a:p>
        </p:txBody>
      </p:sp>
      <p:sp>
        <p:nvSpPr>
          <p:cNvPr id="498" name="Google Shape;498;p69"/>
          <p:cNvSpPr txBox="1"/>
          <p:nvPr>
            <p:ph idx="1" type="body"/>
          </p:nvPr>
        </p:nvSpPr>
        <p:spPr>
          <a:xfrm>
            <a:off x="822950" y="1384300"/>
            <a:ext cx="7890900" cy="3708000"/>
          </a:xfrm>
          <a:prstGeom prst="rect">
            <a:avLst/>
          </a:prstGeom>
          <a:blipFill rotWithShape="1">
            <a:blip r:embed="rId3">
              <a:alphaModFix/>
            </a:blip>
            <a:stretch>
              <a:fillRect b="0" l="-360" r="0" t="-1190"/>
            </a:stretch>
          </a:blipFill>
          <a:ln>
            <a:noFill/>
          </a:ln>
        </p:spPr>
        <p:txBody>
          <a:bodyPr anchorCtr="0" anchor="t" bIns="34275" lIns="0" spcFirstLastPara="1" rIns="0" wrap="square" tIns="34275">
            <a:normAutofit/>
          </a:bodyPr>
          <a:lstStyle/>
          <a:p>
            <a:pPr indent="-95250" lvl="0" marL="63500" rtl="0" algn="l">
              <a:lnSpc>
                <a:spcPct val="90000"/>
              </a:lnSpc>
              <a:spcBef>
                <a:spcPts val="0"/>
              </a:spcBef>
              <a:spcAft>
                <a:spcPts val="0"/>
              </a:spcAft>
              <a:buSzPts val="1500"/>
              <a:buChar char="●"/>
            </a:pPr>
            <a:r>
              <a:rPr lang="pt-BR"/>
              <a:t> </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70"/>
          <p:cNvSpPr txBox="1"/>
          <p:nvPr>
            <p:ph type="title"/>
          </p:nvPr>
        </p:nvSpPr>
        <p:spPr>
          <a:xfrm>
            <a:off x="822960" y="214952"/>
            <a:ext cx="7543800" cy="1088100"/>
          </a:xfrm>
          <a:prstGeom prst="rect">
            <a:avLst/>
          </a:prstGeom>
        </p:spPr>
        <p:txBody>
          <a:bodyPr anchorCtr="0" anchor="b" bIns="34275" lIns="68575" spcFirstLastPara="1" rIns="68575" wrap="square" tIns="34275">
            <a:normAutofit/>
          </a:bodyPr>
          <a:lstStyle/>
          <a:p>
            <a:pPr indent="0" lvl="0" marL="0" rtl="0" algn="l">
              <a:spcBef>
                <a:spcPts val="0"/>
              </a:spcBef>
              <a:spcAft>
                <a:spcPts val="0"/>
              </a:spcAft>
              <a:buNone/>
            </a:pPr>
            <a:r>
              <a:rPr lang="pt-BR"/>
              <a:t>Early Stop - Parando o treinamento</a:t>
            </a:r>
            <a:endParaRPr/>
          </a:p>
        </p:txBody>
      </p:sp>
      <p:sp>
        <p:nvSpPr>
          <p:cNvPr id="504" name="Google Shape;504;p70"/>
          <p:cNvSpPr txBox="1"/>
          <p:nvPr>
            <p:ph idx="1" type="body"/>
          </p:nvPr>
        </p:nvSpPr>
        <p:spPr>
          <a:xfrm>
            <a:off x="822960" y="1384300"/>
            <a:ext cx="7543800" cy="3017400"/>
          </a:xfrm>
          <a:prstGeom prst="rect">
            <a:avLst/>
          </a:prstGeom>
        </p:spPr>
        <p:txBody>
          <a:bodyPr anchorCtr="0" anchor="t" bIns="34275" lIns="0" spcFirstLastPara="1" rIns="0" wrap="square" tIns="34275">
            <a:normAutofit/>
          </a:bodyPr>
          <a:lstStyle/>
          <a:p>
            <a:pPr indent="-317500" lvl="0" marL="457200" rtl="0" algn="l">
              <a:spcBef>
                <a:spcPts val="900"/>
              </a:spcBef>
              <a:spcAft>
                <a:spcPts val="0"/>
              </a:spcAft>
              <a:buSzPts val="1400"/>
              <a:buChar char="●"/>
            </a:pPr>
            <a:r>
              <a:rPr lang="pt-BR"/>
              <a:t>Idéia: Quando paramos de aprender (não há evolução na loss), podemos parar o treinamento.</a:t>
            </a:r>
            <a:endParaRPr/>
          </a:p>
          <a:p>
            <a:pPr indent="-317500" lvl="1" marL="914400" rtl="0" algn="l">
              <a:spcBef>
                <a:spcPts val="0"/>
              </a:spcBef>
              <a:spcAft>
                <a:spcPts val="0"/>
              </a:spcAft>
              <a:buSzPts val="1400"/>
              <a:buChar char="○"/>
            </a:pPr>
            <a:r>
              <a:rPr lang="pt-BR"/>
              <a:t>Mais usado!</a:t>
            </a:r>
            <a:endParaRPr/>
          </a:p>
          <a:p>
            <a:pPr indent="-317500" lvl="0" marL="457200" rtl="0" algn="l">
              <a:spcBef>
                <a:spcPts val="0"/>
              </a:spcBef>
              <a:spcAft>
                <a:spcPts val="0"/>
              </a:spcAft>
              <a:buSzPts val="1400"/>
              <a:buChar char="●"/>
            </a:pPr>
            <a:r>
              <a:rPr lang="pt-BR"/>
              <a:t>O modelo avalia se após </a:t>
            </a:r>
            <a:r>
              <a:rPr b="1" i="1" lang="pt-BR"/>
              <a:t>P</a:t>
            </a:r>
            <a:r>
              <a:rPr lang="pt-BR"/>
              <a:t> interações (patience), o erro de validação não é reduzido. Nesse caso, ele pára o treinamento.</a:t>
            </a:r>
            <a:endParaRPr/>
          </a:p>
          <a:p>
            <a:pPr indent="-317500" lvl="1" marL="914400" rtl="0" algn="l">
              <a:spcBef>
                <a:spcPts val="0"/>
              </a:spcBef>
              <a:spcAft>
                <a:spcPts val="0"/>
              </a:spcAft>
              <a:buSzPts val="1400"/>
              <a:buChar char="○"/>
            </a:pPr>
            <a:r>
              <a:rPr lang="pt-BR" sz="900">
                <a:solidFill>
                  <a:srgbClr val="002D7A"/>
                </a:solidFill>
                <a:highlight>
                  <a:srgbClr val="FDFDFD"/>
                </a:highlight>
                <a:latin typeface="Courier New"/>
                <a:ea typeface="Courier New"/>
                <a:cs typeface="Courier New"/>
                <a:sym typeface="Courier New"/>
              </a:rPr>
              <a:t>es</a:t>
            </a:r>
            <a:r>
              <a:rPr lang="pt-BR" sz="900">
                <a:solidFill>
                  <a:srgbClr val="006FE0"/>
                </a:solidFill>
                <a:highlight>
                  <a:srgbClr val="FDFDFD"/>
                </a:highlight>
                <a:latin typeface="Courier New"/>
                <a:ea typeface="Courier New"/>
                <a:cs typeface="Courier New"/>
                <a:sym typeface="Courier New"/>
              </a:rPr>
              <a:t> = </a:t>
            </a:r>
            <a:r>
              <a:rPr lang="pt-BR" sz="900">
                <a:solidFill>
                  <a:srgbClr val="004ED0"/>
                </a:solidFill>
                <a:highlight>
                  <a:srgbClr val="FDFDFD"/>
                </a:highlight>
                <a:latin typeface="Courier New"/>
                <a:ea typeface="Courier New"/>
                <a:cs typeface="Courier New"/>
                <a:sym typeface="Courier New"/>
              </a:rPr>
              <a:t>EarlyStopping</a:t>
            </a:r>
            <a:r>
              <a:rPr lang="pt-BR" sz="900">
                <a:solidFill>
                  <a:srgbClr val="333333"/>
                </a:solidFill>
                <a:highlight>
                  <a:srgbClr val="FDFDFD"/>
                </a:highlight>
                <a:latin typeface="Courier New"/>
                <a:ea typeface="Courier New"/>
                <a:cs typeface="Courier New"/>
                <a:sym typeface="Courier New"/>
              </a:rPr>
              <a:t>(</a:t>
            </a:r>
            <a:r>
              <a:rPr lang="pt-BR" sz="900">
                <a:solidFill>
                  <a:srgbClr val="002D7A"/>
                </a:solidFill>
                <a:highlight>
                  <a:srgbClr val="FDFDFD"/>
                </a:highlight>
                <a:latin typeface="Courier New"/>
                <a:ea typeface="Courier New"/>
                <a:cs typeface="Courier New"/>
                <a:sym typeface="Courier New"/>
              </a:rPr>
              <a:t>monitor</a:t>
            </a:r>
            <a:r>
              <a:rPr lang="pt-BR" sz="900">
                <a:solidFill>
                  <a:srgbClr val="006FE0"/>
                </a:solidFill>
                <a:highlight>
                  <a:srgbClr val="FDFDFD"/>
                </a:highlight>
                <a:latin typeface="Courier New"/>
                <a:ea typeface="Courier New"/>
                <a:cs typeface="Courier New"/>
                <a:sym typeface="Courier New"/>
              </a:rPr>
              <a:t>=</a:t>
            </a:r>
            <a:r>
              <a:rPr lang="pt-BR" sz="900">
                <a:solidFill>
                  <a:srgbClr val="008000"/>
                </a:solidFill>
                <a:highlight>
                  <a:srgbClr val="FDFDFD"/>
                </a:highlight>
                <a:latin typeface="Courier New"/>
                <a:ea typeface="Courier New"/>
                <a:cs typeface="Courier New"/>
                <a:sym typeface="Courier New"/>
              </a:rPr>
              <a:t>'val_loss'</a:t>
            </a:r>
            <a:r>
              <a:rPr lang="pt-BR" sz="900">
                <a:solidFill>
                  <a:srgbClr val="333333"/>
                </a:solidFill>
                <a:highlight>
                  <a:srgbClr val="FDFDFD"/>
                </a:highlight>
                <a:latin typeface="Courier New"/>
                <a:ea typeface="Courier New"/>
                <a:cs typeface="Courier New"/>
                <a:sym typeface="Courier New"/>
              </a:rPr>
              <a:t>,</a:t>
            </a:r>
            <a:r>
              <a:rPr lang="pt-BR" sz="900">
                <a:solidFill>
                  <a:srgbClr val="006FE0"/>
                </a:solidFill>
                <a:highlight>
                  <a:srgbClr val="FDFDFD"/>
                </a:highlight>
                <a:latin typeface="Courier New"/>
                <a:ea typeface="Courier New"/>
                <a:cs typeface="Courier New"/>
                <a:sym typeface="Courier New"/>
              </a:rPr>
              <a:t> </a:t>
            </a:r>
            <a:r>
              <a:rPr lang="pt-BR" sz="900">
                <a:solidFill>
                  <a:srgbClr val="002D7A"/>
                </a:solidFill>
                <a:highlight>
                  <a:srgbClr val="FDFDFD"/>
                </a:highlight>
                <a:latin typeface="Courier New"/>
                <a:ea typeface="Courier New"/>
                <a:cs typeface="Courier New"/>
                <a:sym typeface="Courier New"/>
              </a:rPr>
              <a:t>mode</a:t>
            </a:r>
            <a:r>
              <a:rPr lang="pt-BR" sz="900">
                <a:solidFill>
                  <a:srgbClr val="006FE0"/>
                </a:solidFill>
                <a:highlight>
                  <a:srgbClr val="FDFDFD"/>
                </a:highlight>
                <a:latin typeface="Courier New"/>
                <a:ea typeface="Courier New"/>
                <a:cs typeface="Courier New"/>
                <a:sym typeface="Courier New"/>
              </a:rPr>
              <a:t>=</a:t>
            </a:r>
            <a:r>
              <a:rPr lang="pt-BR" sz="900">
                <a:solidFill>
                  <a:srgbClr val="008000"/>
                </a:solidFill>
                <a:highlight>
                  <a:srgbClr val="FDFDFD"/>
                </a:highlight>
                <a:latin typeface="Courier New"/>
                <a:ea typeface="Courier New"/>
                <a:cs typeface="Courier New"/>
                <a:sym typeface="Courier New"/>
              </a:rPr>
              <a:t>'min'</a:t>
            </a:r>
            <a:r>
              <a:rPr lang="pt-BR" sz="900">
                <a:solidFill>
                  <a:srgbClr val="333333"/>
                </a:solidFill>
                <a:highlight>
                  <a:srgbClr val="FDFDFD"/>
                </a:highlight>
                <a:latin typeface="Courier New"/>
                <a:ea typeface="Courier New"/>
                <a:cs typeface="Courier New"/>
                <a:sym typeface="Courier New"/>
              </a:rPr>
              <a:t>,</a:t>
            </a:r>
            <a:r>
              <a:rPr lang="pt-BR" sz="900">
                <a:solidFill>
                  <a:srgbClr val="006FE0"/>
                </a:solidFill>
                <a:highlight>
                  <a:srgbClr val="FDFDFD"/>
                </a:highlight>
                <a:latin typeface="Courier New"/>
                <a:ea typeface="Courier New"/>
                <a:cs typeface="Courier New"/>
                <a:sym typeface="Courier New"/>
              </a:rPr>
              <a:t> </a:t>
            </a:r>
            <a:r>
              <a:rPr lang="pt-BR" sz="900">
                <a:solidFill>
                  <a:srgbClr val="002D7A"/>
                </a:solidFill>
                <a:highlight>
                  <a:srgbClr val="FDFDFD"/>
                </a:highlight>
                <a:latin typeface="Courier New"/>
                <a:ea typeface="Courier New"/>
                <a:cs typeface="Courier New"/>
                <a:sym typeface="Courier New"/>
              </a:rPr>
              <a:t>patience</a:t>
            </a:r>
            <a:r>
              <a:rPr lang="pt-BR" sz="900">
                <a:solidFill>
                  <a:srgbClr val="006FE0"/>
                </a:solidFill>
                <a:highlight>
                  <a:srgbClr val="FDFDFD"/>
                </a:highlight>
                <a:latin typeface="Courier New"/>
                <a:ea typeface="Courier New"/>
                <a:cs typeface="Courier New"/>
                <a:sym typeface="Courier New"/>
              </a:rPr>
              <a:t>=</a:t>
            </a:r>
            <a:r>
              <a:rPr lang="pt-BR" sz="900">
                <a:solidFill>
                  <a:srgbClr val="CE0000"/>
                </a:solidFill>
                <a:highlight>
                  <a:srgbClr val="FDFDFD"/>
                </a:highlight>
                <a:latin typeface="Courier New"/>
                <a:ea typeface="Courier New"/>
                <a:cs typeface="Courier New"/>
                <a:sym typeface="Courier New"/>
              </a:rPr>
              <a:t>5</a:t>
            </a:r>
            <a:r>
              <a:rPr lang="pt-BR" sz="900">
                <a:solidFill>
                  <a:srgbClr val="333333"/>
                </a:solidFill>
                <a:highlight>
                  <a:srgbClr val="FDFDFD"/>
                </a:highlight>
                <a:latin typeface="Courier New"/>
                <a:ea typeface="Courier New"/>
                <a:cs typeface="Courier New"/>
                <a:sym typeface="Courier New"/>
              </a:rPr>
              <a:t>) ou</a:t>
            </a:r>
            <a:endParaRPr sz="900">
              <a:solidFill>
                <a:srgbClr val="333333"/>
              </a:solidFill>
              <a:highlight>
                <a:srgbClr val="FDFDFD"/>
              </a:highlight>
              <a:latin typeface="Courier New"/>
              <a:ea typeface="Courier New"/>
              <a:cs typeface="Courier New"/>
              <a:sym typeface="Courier New"/>
            </a:endParaRPr>
          </a:p>
          <a:p>
            <a:pPr indent="-285750" lvl="1" marL="914400" rtl="0" algn="l">
              <a:spcBef>
                <a:spcPts val="0"/>
              </a:spcBef>
              <a:spcAft>
                <a:spcPts val="0"/>
              </a:spcAft>
              <a:buClr>
                <a:srgbClr val="333333"/>
              </a:buClr>
              <a:buSzPts val="900"/>
              <a:buFont typeface="Courier New"/>
              <a:buChar char="○"/>
            </a:pPr>
            <a:r>
              <a:rPr lang="pt-BR" sz="900">
                <a:solidFill>
                  <a:srgbClr val="002D7A"/>
                </a:solidFill>
                <a:highlight>
                  <a:srgbClr val="FDFDFD"/>
                </a:highlight>
                <a:latin typeface="Courier New"/>
                <a:ea typeface="Courier New"/>
                <a:cs typeface="Courier New"/>
                <a:sym typeface="Courier New"/>
              </a:rPr>
              <a:t>es</a:t>
            </a:r>
            <a:r>
              <a:rPr lang="pt-BR" sz="900">
                <a:solidFill>
                  <a:srgbClr val="006FE0"/>
                </a:solidFill>
                <a:highlight>
                  <a:srgbClr val="FDFDFD"/>
                </a:highlight>
                <a:latin typeface="Courier New"/>
                <a:ea typeface="Courier New"/>
                <a:cs typeface="Courier New"/>
                <a:sym typeface="Courier New"/>
              </a:rPr>
              <a:t> = </a:t>
            </a:r>
            <a:r>
              <a:rPr lang="pt-BR" sz="900">
                <a:solidFill>
                  <a:srgbClr val="004ED0"/>
                </a:solidFill>
                <a:highlight>
                  <a:srgbClr val="FDFDFD"/>
                </a:highlight>
                <a:latin typeface="Courier New"/>
                <a:ea typeface="Courier New"/>
                <a:cs typeface="Courier New"/>
                <a:sym typeface="Courier New"/>
              </a:rPr>
              <a:t>EarlyStopping</a:t>
            </a:r>
            <a:r>
              <a:rPr lang="pt-BR" sz="900">
                <a:solidFill>
                  <a:srgbClr val="333333"/>
                </a:solidFill>
                <a:highlight>
                  <a:srgbClr val="FDFDFD"/>
                </a:highlight>
                <a:latin typeface="Courier New"/>
                <a:ea typeface="Courier New"/>
                <a:cs typeface="Courier New"/>
                <a:sym typeface="Courier New"/>
              </a:rPr>
              <a:t>(</a:t>
            </a:r>
            <a:r>
              <a:rPr lang="pt-BR" sz="900">
                <a:solidFill>
                  <a:srgbClr val="002D7A"/>
                </a:solidFill>
                <a:highlight>
                  <a:srgbClr val="FDFDFD"/>
                </a:highlight>
                <a:latin typeface="Courier New"/>
                <a:ea typeface="Courier New"/>
                <a:cs typeface="Courier New"/>
                <a:sym typeface="Courier New"/>
              </a:rPr>
              <a:t>monitor</a:t>
            </a:r>
            <a:r>
              <a:rPr lang="pt-BR" sz="900">
                <a:solidFill>
                  <a:srgbClr val="006FE0"/>
                </a:solidFill>
                <a:highlight>
                  <a:srgbClr val="FDFDFD"/>
                </a:highlight>
                <a:latin typeface="Courier New"/>
                <a:ea typeface="Courier New"/>
                <a:cs typeface="Courier New"/>
                <a:sym typeface="Courier New"/>
              </a:rPr>
              <a:t>=</a:t>
            </a:r>
            <a:r>
              <a:rPr lang="pt-BR" sz="900">
                <a:solidFill>
                  <a:srgbClr val="008000"/>
                </a:solidFill>
                <a:highlight>
                  <a:srgbClr val="FDFDFD"/>
                </a:highlight>
                <a:latin typeface="Courier New"/>
                <a:ea typeface="Courier New"/>
                <a:cs typeface="Courier New"/>
                <a:sym typeface="Courier New"/>
              </a:rPr>
              <a:t>'val_accuracy'</a:t>
            </a:r>
            <a:r>
              <a:rPr lang="pt-BR" sz="900">
                <a:solidFill>
                  <a:srgbClr val="333333"/>
                </a:solidFill>
                <a:highlight>
                  <a:srgbClr val="FDFDFD"/>
                </a:highlight>
                <a:latin typeface="Courier New"/>
                <a:ea typeface="Courier New"/>
                <a:cs typeface="Courier New"/>
                <a:sym typeface="Courier New"/>
              </a:rPr>
              <a:t>,</a:t>
            </a:r>
            <a:r>
              <a:rPr lang="pt-BR" sz="900">
                <a:solidFill>
                  <a:srgbClr val="006FE0"/>
                </a:solidFill>
                <a:highlight>
                  <a:srgbClr val="FDFDFD"/>
                </a:highlight>
                <a:latin typeface="Courier New"/>
                <a:ea typeface="Courier New"/>
                <a:cs typeface="Courier New"/>
                <a:sym typeface="Courier New"/>
              </a:rPr>
              <a:t> </a:t>
            </a:r>
            <a:r>
              <a:rPr lang="pt-BR" sz="900">
                <a:solidFill>
                  <a:srgbClr val="002D7A"/>
                </a:solidFill>
                <a:highlight>
                  <a:srgbClr val="FDFDFD"/>
                </a:highlight>
                <a:latin typeface="Courier New"/>
                <a:ea typeface="Courier New"/>
                <a:cs typeface="Courier New"/>
                <a:sym typeface="Courier New"/>
              </a:rPr>
              <a:t>mode</a:t>
            </a:r>
            <a:r>
              <a:rPr lang="pt-BR" sz="900">
                <a:solidFill>
                  <a:srgbClr val="006FE0"/>
                </a:solidFill>
                <a:highlight>
                  <a:srgbClr val="FDFDFD"/>
                </a:highlight>
                <a:latin typeface="Courier New"/>
                <a:ea typeface="Courier New"/>
                <a:cs typeface="Courier New"/>
                <a:sym typeface="Courier New"/>
              </a:rPr>
              <a:t>=</a:t>
            </a:r>
            <a:r>
              <a:rPr lang="pt-BR" sz="900">
                <a:solidFill>
                  <a:srgbClr val="008000"/>
                </a:solidFill>
                <a:highlight>
                  <a:srgbClr val="FDFDFD"/>
                </a:highlight>
                <a:latin typeface="Courier New"/>
                <a:ea typeface="Courier New"/>
                <a:cs typeface="Courier New"/>
                <a:sym typeface="Courier New"/>
              </a:rPr>
              <a:t>'max'</a:t>
            </a:r>
            <a:r>
              <a:rPr lang="pt-BR" sz="900">
                <a:solidFill>
                  <a:srgbClr val="333333"/>
                </a:solidFill>
                <a:highlight>
                  <a:srgbClr val="FDFDFD"/>
                </a:highlight>
                <a:latin typeface="Courier New"/>
                <a:ea typeface="Courier New"/>
                <a:cs typeface="Courier New"/>
                <a:sym typeface="Courier New"/>
              </a:rPr>
              <a:t>,</a:t>
            </a:r>
            <a:r>
              <a:rPr lang="pt-BR" sz="900">
                <a:solidFill>
                  <a:srgbClr val="002D7A"/>
                </a:solidFill>
                <a:highlight>
                  <a:srgbClr val="FDFDFD"/>
                </a:highlight>
                <a:latin typeface="Courier New"/>
                <a:ea typeface="Courier New"/>
                <a:cs typeface="Courier New"/>
                <a:sym typeface="Courier New"/>
              </a:rPr>
              <a:t>patience</a:t>
            </a:r>
            <a:r>
              <a:rPr lang="pt-BR" sz="900">
                <a:solidFill>
                  <a:srgbClr val="006FE0"/>
                </a:solidFill>
                <a:highlight>
                  <a:srgbClr val="FDFDFD"/>
                </a:highlight>
                <a:latin typeface="Courier New"/>
                <a:ea typeface="Courier New"/>
                <a:cs typeface="Courier New"/>
                <a:sym typeface="Courier New"/>
              </a:rPr>
              <a:t>=</a:t>
            </a:r>
            <a:r>
              <a:rPr lang="pt-BR" sz="900">
                <a:solidFill>
                  <a:srgbClr val="CE0000"/>
                </a:solidFill>
                <a:highlight>
                  <a:srgbClr val="FDFDFD"/>
                </a:highlight>
                <a:latin typeface="Courier New"/>
                <a:ea typeface="Courier New"/>
                <a:cs typeface="Courier New"/>
                <a:sym typeface="Courier New"/>
              </a:rPr>
              <a:t>5</a:t>
            </a:r>
            <a:r>
              <a:rPr lang="pt-BR" sz="900">
                <a:solidFill>
                  <a:srgbClr val="333333"/>
                </a:solidFill>
                <a:highlight>
                  <a:srgbClr val="FDFDFD"/>
                </a:highlight>
                <a:latin typeface="Courier New"/>
                <a:ea typeface="Courier New"/>
                <a:cs typeface="Courier New"/>
                <a:sym typeface="Courier New"/>
              </a:rPr>
              <a:t>)</a:t>
            </a:r>
            <a:endParaRPr sz="900">
              <a:solidFill>
                <a:srgbClr val="333333"/>
              </a:solidFill>
              <a:highlight>
                <a:srgbClr val="FDFDFD"/>
              </a:highlight>
              <a:latin typeface="Courier New"/>
              <a:ea typeface="Courier New"/>
              <a:cs typeface="Courier New"/>
              <a:sym typeface="Courier New"/>
            </a:endParaRPr>
          </a:p>
          <a:p>
            <a:pPr indent="0" lvl="0" marL="914400" rtl="0" algn="l">
              <a:spcBef>
                <a:spcPts val="900"/>
              </a:spcBef>
              <a:spcAft>
                <a:spcPts val="0"/>
              </a:spcAft>
              <a:buNone/>
            </a:pPr>
            <a:r>
              <a:t/>
            </a:r>
            <a:endParaRPr sz="900">
              <a:solidFill>
                <a:srgbClr val="333333"/>
              </a:solidFill>
              <a:highlight>
                <a:srgbClr val="FDFDFD"/>
              </a:highlight>
              <a:latin typeface="Courier New"/>
              <a:ea typeface="Courier New"/>
              <a:cs typeface="Courier New"/>
              <a:sym typeface="Courier New"/>
            </a:endParaRPr>
          </a:p>
          <a:p>
            <a:pPr indent="-317500" lvl="0" marL="457200" rtl="0" algn="l">
              <a:spcBef>
                <a:spcPts val="900"/>
              </a:spcBef>
              <a:spcAft>
                <a:spcPts val="0"/>
              </a:spcAft>
              <a:buSzPts val="1400"/>
              <a:buChar char="●"/>
            </a:pPr>
            <a:r>
              <a:rPr lang="pt-BR"/>
              <a:t>Executado com uma coleção de validação:</a:t>
            </a:r>
            <a:endParaRPr sz="900">
              <a:solidFill>
                <a:srgbClr val="333333"/>
              </a:solidFill>
              <a:highlight>
                <a:srgbClr val="FDFDFD"/>
              </a:highlight>
              <a:latin typeface="Courier New"/>
              <a:ea typeface="Courier New"/>
              <a:cs typeface="Courier New"/>
              <a:sym typeface="Courier New"/>
            </a:endParaRPr>
          </a:p>
          <a:p>
            <a:pPr indent="-317500" lvl="1" marL="914400" marR="50800" rtl="0" algn="l">
              <a:lnSpc>
                <a:spcPct val="125000"/>
              </a:lnSpc>
              <a:spcBef>
                <a:spcPts val="0"/>
              </a:spcBef>
              <a:spcAft>
                <a:spcPts val="0"/>
              </a:spcAft>
              <a:buSzPts val="1400"/>
              <a:buChar char="○"/>
            </a:pPr>
            <a:r>
              <a:rPr lang="pt-BR" sz="900">
                <a:solidFill>
                  <a:srgbClr val="002D7A"/>
                </a:solidFill>
                <a:highlight>
                  <a:srgbClr val="F7F7F7"/>
                </a:highlight>
                <a:latin typeface="Courier New"/>
                <a:ea typeface="Courier New"/>
                <a:cs typeface="Courier New"/>
                <a:sym typeface="Courier New"/>
              </a:rPr>
              <a:t>model</a:t>
            </a:r>
            <a:r>
              <a:rPr lang="pt-BR" sz="900">
                <a:solidFill>
                  <a:srgbClr val="333333"/>
                </a:solidFill>
                <a:highlight>
                  <a:srgbClr val="F7F7F7"/>
                </a:highlight>
                <a:latin typeface="Courier New"/>
                <a:ea typeface="Courier New"/>
                <a:cs typeface="Courier New"/>
                <a:sym typeface="Courier New"/>
              </a:rPr>
              <a:t>.</a:t>
            </a:r>
            <a:r>
              <a:rPr lang="pt-BR" sz="900">
                <a:solidFill>
                  <a:srgbClr val="004ED0"/>
                </a:solidFill>
                <a:highlight>
                  <a:srgbClr val="F7F7F7"/>
                </a:highlight>
                <a:latin typeface="Courier New"/>
                <a:ea typeface="Courier New"/>
                <a:cs typeface="Courier New"/>
                <a:sym typeface="Courier New"/>
              </a:rPr>
              <a:t>fit</a:t>
            </a:r>
            <a:r>
              <a:rPr lang="pt-BR" sz="900">
                <a:solidFill>
                  <a:srgbClr val="333333"/>
                </a:solidFill>
                <a:highlight>
                  <a:srgbClr val="F7F7F7"/>
                </a:highlight>
                <a:latin typeface="Courier New"/>
                <a:ea typeface="Courier New"/>
                <a:cs typeface="Courier New"/>
                <a:sym typeface="Courier New"/>
              </a:rPr>
              <a:t>(</a:t>
            </a:r>
            <a:r>
              <a:rPr lang="pt-BR" sz="900">
                <a:solidFill>
                  <a:srgbClr val="002D7A"/>
                </a:solidFill>
                <a:highlight>
                  <a:srgbClr val="F7F7F7"/>
                </a:highlight>
                <a:latin typeface="Courier New"/>
                <a:ea typeface="Courier New"/>
                <a:cs typeface="Courier New"/>
                <a:sym typeface="Courier New"/>
              </a:rPr>
              <a:t>train_X</a:t>
            </a:r>
            <a:r>
              <a:rPr lang="pt-BR" sz="900">
                <a:solidFill>
                  <a:srgbClr val="333333"/>
                </a:solidFill>
                <a:highlight>
                  <a:srgbClr val="F7F7F7"/>
                </a:highlight>
                <a:latin typeface="Courier New"/>
                <a:ea typeface="Courier New"/>
                <a:cs typeface="Courier New"/>
                <a:sym typeface="Courier New"/>
              </a:rPr>
              <a:t>,</a:t>
            </a:r>
            <a:r>
              <a:rPr lang="pt-BR" sz="900">
                <a:solidFill>
                  <a:srgbClr val="006FE0"/>
                </a:solidFill>
                <a:highlight>
                  <a:srgbClr val="F7F7F7"/>
                </a:highlight>
                <a:latin typeface="Courier New"/>
                <a:ea typeface="Courier New"/>
                <a:cs typeface="Courier New"/>
                <a:sym typeface="Courier New"/>
              </a:rPr>
              <a:t> </a:t>
            </a:r>
            <a:r>
              <a:rPr lang="pt-BR" sz="900">
                <a:solidFill>
                  <a:srgbClr val="002D7A"/>
                </a:solidFill>
                <a:highlight>
                  <a:srgbClr val="F7F7F7"/>
                </a:highlight>
                <a:latin typeface="Courier New"/>
                <a:ea typeface="Courier New"/>
                <a:cs typeface="Courier New"/>
                <a:sym typeface="Courier New"/>
              </a:rPr>
              <a:t>train_y</a:t>
            </a:r>
            <a:r>
              <a:rPr lang="pt-BR" sz="900">
                <a:solidFill>
                  <a:srgbClr val="333333"/>
                </a:solidFill>
                <a:highlight>
                  <a:srgbClr val="F7F7F7"/>
                </a:highlight>
                <a:latin typeface="Courier New"/>
                <a:ea typeface="Courier New"/>
                <a:cs typeface="Courier New"/>
                <a:sym typeface="Courier New"/>
              </a:rPr>
              <a:t>,</a:t>
            </a:r>
            <a:r>
              <a:rPr lang="pt-BR" sz="900">
                <a:solidFill>
                  <a:srgbClr val="006FE0"/>
                </a:solidFill>
                <a:highlight>
                  <a:srgbClr val="F7F7F7"/>
                </a:highlight>
                <a:latin typeface="Courier New"/>
                <a:ea typeface="Courier New"/>
                <a:cs typeface="Courier New"/>
                <a:sym typeface="Courier New"/>
              </a:rPr>
              <a:t> </a:t>
            </a:r>
            <a:r>
              <a:rPr lang="pt-BR" sz="900">
                <a:solidFill>
                  <a:srgbClr val="002D7A"/>
                </a:solidFill>
                <a:highlight>
                  <a:srgbClr val="F7F7F7"/>
                </a:highlight>
                <a:latin typeface="Courier New"/>
                <a:ea typeface="Courier New"/>
                <a:cs typeface="Courier New"/>
                <a:sym typeface="Courier New"/>
              </a:rPr>
              <a:t>validation_data</a:t>
            </a:r>
            <a:r>
              <a:rPr lang="pt-BR" sz="900">
                <a:solidFill>
                  <a:srgbClr val="006FE0"/>
                </a:solidFill>
                <a:highlight>
                  <a:srgbClr val="F7F7F7"/>
                </a:highlight>
                <a:latin typeface="Courier New"/>
                <a:ea typeface="Courier New"/>
                <a:cs typeface="Courier New"/>
                <a:sym typeface="Courier New"/>
              </a:rPr>
              <a:t>=</a:t>
            </a:r>
            <a:r>
              <a:rPr lang="pt-BR" sz="900">
                <a:solidFill>
                  <a:srgbClr val="333333"/>
                </a:solidFill>
                <a:highlight>
                  <a:srgbClr val="F7F7F7"/>
                </a:highlight>
                <a:latin typeface="Courier New"/>
                <a:ea typeface="Courier New"/>
                <a:cs typeface="Courier New"/>
                <a:sym typeface="Courier New"/>
              </a:rPr>
              <a:t>(</a:t>
            </a:r>
            <a:r>
              <a:rPr lang="pt-BR" sz="900">
                <a:solidFill>
                  <a:srgbClr val="002D7A"/>
                </a:solidFill>
                <a:highlight>
                  <a:srgbClr val="F7F7F7"/>
                </a:highlight>
                <a:latin typeface="Courier New"/>
                <a:ea typeface="Courier New"/>
                <a:cs typeface="Courier New"/>
                <a:sym typeface="Courier New"/>
              </a:rPr>
              <a:t>val_x</a:t>
            </a:r>
            <a:r>
              <a:rPr lang="pt-BR" sz="900">
                <a:solidFill>
                  <a:srgbClr val="333333"/>
                </a:solidFill>
                <a:highlight>
                  <a:srgbClr val="F7F7F7"/>
                </a:highlight>
                <a:latin typeface="Courier New"/>
                <a:ea typeface="Courier New"/>
                <a:cs typeface="Courier New"/>
                <a:sym typeface="Courier New"/>
              </a:rPr>
              <a:t>,</a:t>
            </a:r>
            <a:r>
              <a:rPr lang="pt-BR" sz="900">
                <a:solidFill>
                  <a:srgbClr val="006FE0"/>
                </a:solidFill>
                <a:highlight>
                  <a:srgbClr val="F7F7F7"/>
                </a:highlight>
                <a:latin typeface="Courier New"/>
                <a:ea typeface="Courier New"/>
                <a:cs typeface="Courier New"/>
                <a:sym typeface="Courier New"/>
              </a:rPr>
              <a:t> </a:t>
            </a:r>
            <a:r>
              <a:rPr lang="pt-BR" sz="900">
                <a:solidFill>
                  <a:srgbClr val="002D7A"/>
                </a:solidFill>
                <a:highlight>
                  <a:srgbClr val="F7F7F7"/>
                </a:highlight>
                <a:latin typeface="Courier New"/>
                <a:ea typeface="Courier New"/>
                <a:cs typeface="Courier New"/>
                <a:sym typeface="Courier New"/>
              </a:rPr>
              <a:t>val_y</a:t>
            </a:r>
            <a:r>
              <a:rPr lang="pt-BR" sz="900">
                <a:solidFill>
                  <a:srgbClr val="333333"/>
                </a:solidFill>
                <a:highlight>
                  <a:srgbClr val="F7F7F7"/>
                </a:highlight>
                <a:latin typeface="Courier New"/>
                <a:ea typeface="Courier New"/>
                <a:cs typeface="Courier New"/>
                <a:sym typeface="Courier New"/>
              </a:rPr>
              <a:t>), callbacks=[es]) ou</a:t>
            </a:r>
            <a:endParaRPr sz="900">
              <a:solidFill>
                <a:srgbClr val="333333"/>
              </a:solidFill>
              <a:highlight>
                <a:srgbClr val="FDFDFD"/>
              </a:highlight>
              <a:latin typeface="Courier New"/>
              <a:ea typeface="Courier New"/>
              <a:cs typeface="Courier New"/>
              <a:sym typeface="Courier New"/>
            </a:endParaRPr>
          </a:p>
          <a:p>
            <a:pPr indent="-317500" lvl="1" marL="914400" rtl="0" algn="l">
              <a:spcBef>
                <a:spcPts val="0"/>
              </a:spcBef>
              <a:spcAft>
                <a:spcPts val="0"/>
              </a:spcAft>
              <a:buSzPts val="1400"/>
              <a:buChar char="○"/>
            </a:pPr>
            <a:r>
              <a:rPr lang="pt-BR" sz="900">
                <a:solidFill>
                  <a:srgbClr val="002D7A"/>
                </a:solidFill>
                <a:latin typeface="Courier New"/>
                <a:ea typeface="Courier New"/>
                <a:cs typeface="Courier New"/>
                <a:sym typeface="Courier New"/>
              </a:rPr>
              <a:t>model</a:t>
            </a:r>
            <a:r>
              <a:rPr lang="pt-BR" sz="900">
                <a:solidFill>
                  <a:srgbClr val="333333"/>
                </a:solidFill>
                <a:latin typeface="Courier New"/>
                <a:ea typeface="Courier New"/>
                <a:cs typeface="Courier New"/>
                <a:sym typeface="Courier New"/>
              </a:rPr>
              <a:t>.</a:t>
            </a:r>
            <a:r>
              <a:rPr lang="pt-BR" sz="900">
                <a:solidFill>
                  <a:srgbClr val="004ED0"/>
                </a:solidFill>
                <a:latin typeface="Courier New"/>
                <a:ea typeface="Courier New"/>
                <a:cs typeface="Courier New"/>
                <a:sym typeface="Courier New"/>
              </a:rPr>
              <a:t>fit</a:t>
            </a:r>
            <a:r>
              <a:rPr lang="pt-BR" sz="900">
                <a:solidFill>
                  <a:srgbClr val="333333"/>
                </a:solidFill>
                <a:latin typeface="Courier New"/>
                <a:ea typeface="Courier New"/>
                <a:cs typeface="Courier New"/>
                <a:sym typeface="Courier New"/>
              </a:rPr>
              <a:t>(</a:t>
            </a:r>
            <a:r>
              <a:rPr lang="pt-BR" sz="900">
                <a:solidFill>
                  <a:srgbClr val="002D7A"/>
                </a:solidFill>
                <a:latin typeface="Courier New"/>
                <a:ea typeface="Courier New"/>
                <a:cs typeface="Courier New"/>
                <a:sym typeface="Courier New"/>
              </a:rPr>
              <a:t>train_X</a:t>
            </a:r>
            <a:r>
              <a:rPr lang="pt-BR" sz="900">
                <a:solidFill>
                  <a:srgbClr val="333333"/>
                </a:solidFill>
                <a:latin typeface="Courier New"/>
                <a:ea typeface="Courier New"/>
                <a:cs typeface="Courier New"/>
                <a:sym typeface="Courier New"/>
              </a:rPr>
              <a:t>,</a:t>
            </a:r>
            <a:r>
              <a:rPr lang="pt-BR" sz="900">
                <a:solidFill>
                  <a:srgbClr val="006FE0"/>
                </a:solidFill>
                <a:latin typeface="Courier New"/>
                <a:ea typeface="Courier New"/>
                <a:cs typeface="Courier New"/>
                <a:sym typeface="Courier New"/>
              </a:rPr>
              <a:t> </a:t>
            </a:r>
            <a:r>
              <a:rPr lang="pt-BR" sz="900">
                <a:solidFill>
                  <a:srgbClr val="002D7A"/>
                </a:solidFill>
                <a:latin typeface="Courier New"/>
                <a:ea typeface="Courier New"/>
                <a:cs typeface="Courier New"/>
                <a:sym typeface="Courier New"/>
              </a:rPr>
              <a:t>train_y</a:t>
            </a:r>
            <a:r>
              <a:rPr lang="pt-BR" sz="900">
                <a:solidFill>
                  <a:srgbClr val="333333"/>
                </a:solidFill>
                <a:latin typeface="Courier New"/>
                <a:ea typeface="Courier New"/>
                <a:cs typeface="Courier New"/>
                <a:sym typeface="Courier New"/>
              </a:rPr>
              <a:t>,</a:t>
            </a:r>
            <a:r>
              <a:rPr lang="pt-BR" sz="900">
                <a:solidFill>
                  <a:srgbClr val="006FE0"/>
                </a:solidFill>
                <a:latin typeface="Courier New"/>
                <a:ea typeface="Courier New"/>
                <a:cs typeface="Courier New"/>
                <a:sym typeface="Courier New"/>
              </a:rPr>
              <a:t> </a:t>
            </a:r>
            <a:r>
              <a:rPr lang="pt-BR" sz="900">
                <a:solidFill>
                  <a:srgbClr val="002D7A"/>
                </a:solidFill>
                <a:latin typeface="Courier New"/>
                <a:ea typeface="Courier New"/>
                <a:cs typeface="Courier New"/>
                <a:sym typeface="Courier New"/>
              </a:rPr>
              <a:t>validation_split</a:t>
            </a:r>
            <a:r>
              <a:rPr lang="pt-BR" sz="900">
                <a:solidFill>
                  <a:srgbClr val="006FE0"/>
                </a:solidFill>
                <a:latin typeface="Courier New"/>
                <a:ea typeface="Courier New"/>
                <a:cs typeface="Courier New"/>
                <a:sym typeface="Courier New"/>
              </a:rPr>
              <a:t>=</a:t>
            </a:r>
            <a:r>
              <a:rPr lang="pt-BR" sz="900">
                <a:solidFill>
                  <a:srgbClr val="CE0000"/>
                </a:solidFill>
                <a:latin typeface="Courier New"/>
                <a:ea typeface="Courier New"/>
                <a:cs typeface="Courier New"/>
                <a:sym typeface="Courier New"/>
              </a:rPr>
              <a:t>0.3</a:t>
            </a:r>
            <a:r>
              <a:rPr lang="pt-BR" sz="900">
                <a:solidFill>
                  <a:schemeClr val="dk1"/>
                </a:solidFill>
                <a:latin typeface="Courier New"/>
                <a:ea typeface="Courier New"/>
                <a:cs typeface="Courier New"/>
                <a:sym typeface="Courier New"/>
              </a:rPr>
              <a:t>, callbacks=[es]</a:t>
            </a:r>
            <a:r>
              <a:rPr lang="pt-BR" sz="900">
                <a:solidFill>
                  <a:srgbClr val="333333"/>
                </a:solidFill>
                <a:latin typeface="Courier New"/>
                <a:ea typeface="Courier New"/>
                <a:cs typeface="Courier New"/>
                <a:sym typeface="Courier New"/>
              </a:rPr>
              <a:t>)</a:t>
            </a:r>
            <a:endParaRPr sz="900">
              <a:solidFill>
                <a:srgbClr val="333333"/>
              </a:solidFill>
              <a:highlight>
                <a:srgbClr val="FDFDFD"/>
              </a:highlight>
              <a:latin typeface="Courier New"/>
              <a:ea typeface="Courier New"/>
              <a:cs typeface="Courier New"/>
              <a:sym typeface="Courier New"/>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71"/>
          <p:cNvSpPr txBox="1"/>
          <p:nvPr>
            <p:ph type="ctrTitle"/>
          </p:nvPr>
        </p:nvSpPr>
        <p:spPr>
          <a:xfrm>
            <a:off x="311708" y="1545450"/>
            <a:ext cx="8520600" cy="2052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pt-BR"/>
              <a:t>Deep Learning</a:t>
            </a:r>
            <a:endParaRPr/>
          </a:p>
          <a:p>
            <a:pPr indent="0" lvl="0" marL="0" rtl="0" algn="ctr">
              <a:spcBef>
                <a:spcPts val="0"/>
              </a:spcBef>
              <a:spcAft>
                <a:spcPts val="0"/>
              </a:spcAft>
              <a:buNone/>
            </a:pPr>
            <a:r>
              <a:rPr lang="pt-BR" sz="4200"/>
              <a:t>Lidando com (Hiper)parâmetros</a:t>
            </a:r>
            <a:endParaRPr sz="4200"/>
          </a:p>
          <a:p>
            <a:pPr indent="0" lvl="0" marL="0" rtl="0" algn="ctr">
              <a:spcBef>
                <a:spcPts val="0"/>
              </a:spcBef>
              <a:spcAft>
                <a:spcPts val="0"/>
              </a:spcAft>
              <a:buNone/>
            </a:pPr>
            <a:r>
              <a:t/>
            </a:r>
            <a:endParaRPr sz="4200"/>
          </a:p>
          <a:p>
            <a:pPr indent="0" lvl="0" marL="0" rtl="0" algn="ctr">
              <a:spcBef>
                <a:spcPts val="0"/>
              </a:spcBef>
              <a:spcAft>
                <a:spcPts val="0"/>
              </a:spcAft>
              <a:buNone/>
            </a:pPr>
            <a:r>
              <a:rPr lang="pt-BR" sz="4200"/>
              <a:t>Regulariza</a:t>
            </a:r>
            <a:r>
              <a:rPr lang="pt-BR" sz="4200"/>
              <a:t>ção</a:t>
            </a:r>
            <a:endParaRPr sz="4200"/>
          </a:p>
        </p:txBody>
      </p:sp>
      <p:pic>
        <p:nvPicPr>
          <p:cNvPr id="510" name="Google Shape;510;p71"/>
          <p:cNvPicPr preferRelativeResize="0"/>
          <p:nvPr/>
        </p:nvPicPr>
        <p:blipFill>
          <a:blip r:embed="rId3">
            <a:alphaModFix/>
          </a:blip>
          <a:stretch>
            <a:fillRect/>
          </a:stretch>
        </p:blipFill>
        <p:spPr>
          <a:xfrm>
            <a:off x="8050625" y="44817"/>
            <a:ext cx="1093375" cy="132230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72"/>
          <p:cNvSpPr txBox="1"/>
          <p:nvPr>
            <p:ph type="title"/>
          </p:nvPr>
        </p:nvSpPr>
        <p:spPr>
          <a:xfrm>
            <a:off x="617226" y="34575"/>
            <a:ext cx="7221300" cy="816000"/>
          </a:xfrm>
          <a:prstGeom prst="rect">
            <a:avLst/>
          </a:prstGeom>
          <a:noFill/>
          <a:ln>
            <a:noFill/>
          </a:ln>
        </p:spPr>
        <p:txBody>
          <a:bodyPr anchorCtr="0" anchor="b" bIns="34275" lIns="68575" spcFirstLastPara="1" rIns="68575" wrap="square" tIns="34275">
            <a:normAutofit/>
          </a:bodyPr>
          <a:lstStyle/>
          <a:p>
            <a:pPr indent="0" lvl="0" marL="0" rtl="0" algn="l">
              <a:lnSpc>
                <a:spcPct val="85000"/>
              </a:lnSpc>
              <a:spcBef>
                <a:spcPts val="0"/>
              </a:spcBef>
              <a:spcAft>
                <a:spcPts val="0"/>
              </a:spcAft>
              <a:buClr>
                <a:srgbClr val="3F3F3F"/>
              </a:buClr>
              <a:buSzPts val="3600"/>
              <a:buFont typeface="Calibri"/>
              <a:buNone/>
            </a:pPr>
            <a:r>
              <a:rPr lang="pt-BR"/>
              <a:t>Evitando Overfitting por Regularizaton</a:t>
            </a:r>
            <a:endParaRPr/>
          </a:p>
        </p:txBody>
      </p:sp>
      <p:sp>
        <p:nvSpPr>
          <p:cNvPr id="516" name="Google Shape;516;p72"/>
          <p:cNvSpPr txBox="1"/>
          <p:nvPr>
            <p:ph idx="1" type="body"/>
          </p:nvPr>
        </p:nvSpPr>
        <p:spPr>
          <a:xfrm>
            <a:off x="617227" y="1038225"/>
            <a:ext cx="8200200" cy="3232800"/>
          </a:xfrm>
          <a:prstGeom prst="rect">
            <a:avLst/>
          </a:prstGeom>
          <a:noFill/>
          <a:ln>
            <a:noFill/>
          </a:ln>
        </p:spPr>
        <p:txBody>
          <a:bodyPr anchorCtr="0" anchor="t" bIns="34275" lIns="0" spcFirstLastPara="1" rIns="0" wrap="square" tIns="34275">
            <a:normAutofit lnSpcReduction="10000"/>
          </a:bodyPr>
          <a:lstStyle/>
          <a:p>
            <a:pPr indent="-95250" lvl="0" marL="63500" rtl="0" algn="l">
              <a:lnSpc>
                <a:spcPct val="90000"/>
              </a:lnSpc>
              <a:spcBef>
                <a:spcPts val="0"/>
              </a:spcBef>
              <a:spcAft>
                <a:spcPts val="0"/>
              </a:spcAft>
              <a:buSzPts val="1500"/>
              <a:buChar char="●"/>
            </a:pPr>
            <a:r>
              <a:rPr lang="pt-BR">
                <a:latin typeface="Jim Nightshade"/>
                <a:ea typeface="Jim Nightshade"/>
                <a:cs typeface="Jim Nightshade"/>
                <a:sym typeface="Jim Nightshade"/>
              </a:rPr>
              <a:t>With four parameters I can fit an elephant and with five I can make him wiggle his trunk</a:t>
            </a:r>
            <a:r>
              <a:rPr lang="pt-BR">
                <a:latin typeface="Bodoni"/>
                <a:ea typeface="Bodoni"/>
                <a:cs typeface="Bodoni"/>
                <a:sym typeface="Bodoni"/>
              </a:rPr>
              <a:t>. </a:t>
            </a:r>
            <a:r>
              <a:rPr lang="pt-BR"/>
              <a:t>(John von Neuman.)</a:t>
            </a:r>
            <a:endParaRPr/>
          </a:p>
          <a:p>
            <a:pPr indent="-95250" lvl="0" marL="63500" rtl="0" algn="l">
              <a:lnSpc>
                <a:spcPct val="90000"/>
              </a:lnSpc>
              <a:spcBef>
                <a:spcPts val="1100"/>
              </a:spcBef>
              <a:spcAft>
                <a:spcPts val="0"/>
              </a:spcAft>
              <a:buSzPts val="1500"/>
              <a:buChar char="●"/>
            </a:pPr>
            <a:r>
              <a:rPr lang="pt-BR"/>
              <a:t>Com centenas de parâmetros, você consegue modelar todo o zoológico!</a:t>
            </a:r>
            <a:endParaRPr/>
          </a:p>
          <a:p>
            <a:pPr indent="-95250" lvl="0" marL="63500" rtl="0" algn="l">
              <a:lnSpc>
                <a:spcPct val="90000"/>
              </a:lnSpc>
              <a:spcBef>
                <a:spcPts val="1100"/>
              </a:spcBef>
              <a:spcAft>
                <a:spcPts val="0"/>
              </a:spcAft>
              <a:buSzPts val="1500"/>
              <a:buChar char="●"/>
            </a:pPr>
            <a:r>
              <a:rPr lang="pt-BR"/>
              <a:t>Redes neurais usam centenas e até milhares de parâmetros, gerando uma grande liberdade para ajustar uma grande variedade de dados complexos;</a:t>
            </a:r>
            <a:endParaRPr/>
          </a:p>
          <a:p>
            <a:pPr indent="-95250" lvl="0" marL="63500" rtl="0" algn="l">
              <a:lnSpc>
                <a:spcPct val="90000"/>
              </a:lnSpc>
              <a:spcBef>
                <a:spcPts val="1100"/>
              </a:spcBef>
              <a:spcAft>
                <a:spcPts val="0"/>
              </a:spcAft>
              <a:buSzPts val="1500"/>
              <a:buChar char="●"/>
            </a:pPr>
            <a:r>
              <a:rPr lang="pt-BR"/>
              <a:t>A grande questão é adaptar o “sobre ajuste” desses parâmetros, ou overfitting. </a:t>
            </a:r>
            <a:endParaRPr/>
          </a:p>
          <a:p>
            <a:pPr indent="-139700" lvl="1" marL="292100" rtl="0" algn="l">
              <a:lnSpc>
                <a:spcPct val="90000"/>
              </a:lnSpc>
              <a:spcBef>
                <a:spcPts val="300"/>
              </a:spcBef>
              <a:spcAft>
                <a:spcPts val="0"/>
              </a:spcAft>
              <a:buSzPts val="1400"/>
              <a:buChar char="○"/>
            </a:pPr>
            <a:r>
              <a:rPr lang="pt-BR"/>
              <a:t>Quem ainda não viu, veja: </a:t>
            </a:r>
            <a:r>
              <a:rPr lang="pt-BR" u="sng">
                <a:solidFill>
                  <a:schemeClr val="hlink"/>
                </a:solidFill>
                <a:hlinkClick r:id="rId3"/>
              </a:rPr>
              <a:t>https://www.youtube.com/watch?v=DQWI1kvmwRg</a:t>
            </a:r>
            <a:r>
              <a:rPr lang="pt-BR"/>
              <a:t>  </a:t>
            </a:r>
            <a:endParaRPr/>
          </a:p>
          <a:p>
            <a:pPr indent="-95250" lvl="0" marL="63500" rtl="0" algn="l">
              <a:lnSpc>
                <a:spcPct val="90000"/>
              </a:lnSpc>
              <a:spcBef>
                <a:spcPts val="1200"/>
              </a:spcBef>
              <a:spcAft>
                <a:spcPts val="0"/>
              </a:spcAft>
              <a:buSzPts val="1500"/>
              <a:buChar char="●"/>
            </a:pPr>
            <a:r>
              <a:rPr lang="pt-BR"/>
              <a:t>Para tentar mitigar esse problema, temos:</a:t>
            </a:r>
            <a:endParaRPr/>
          </a:p>
          <a:p>
            <a:pPr indent="-139700" lvl="1" marL="292100" rtl="0" algn="l">
              <a:lnSpc>
                <a:spcPct val="90000"/>
              </a:lnSpc>
              <a:spcBef>
                <a:spcPts val="300"/>
              </a:spcBef>
              <a:spcAft>
                <a:spcPts val="0"/>
              </a:spcAft>
              <a:buSzPts val="1400"/>
              <a:buChar char="○"/>
            </a:pPr>
            <a:r>
              <a:rPr lang="pt-BR"/>
              <a:t>L1 e L2 regularization</a:t>
            </a:r>
            <a:endParaRPr/>
          </a:p>
          <a:p>
            <a:pPr indent="-139700" lvl="1" marL="292100" rtl="0" algn="l">
              <a:lnSpc>
                <a:spcPct val="90000"/>
              </a:lnSpc>
              <a:spcBef>
                <a:spcPts val="500"/>
              </a:spcBef>
              <a:spcAft>
                <a:spcPts val="0"/>
              </a:spcAft>
              <a:buSzPts val="1400"/>
              <a:buChar char="○"/>
            </a:pPr>
            <a:r>
              <a:rPr lang="pt-BR"/>
              <a:t>Dropout</a:t>
            </a:r>
            <a:endParaRPr/>
          </a:p>
          <a:p>
            <a:pPr indent="-139700" lvl="1" marL="292100" rtl="0" algn="l">
              <a:lnSpc>
                <a:spcPct val="90000"/>
              </a:lnSpc>
              <a:spcBef>
                <a:spcPts val="500"/>
              </a:spcBef>
              <a:spcAft>
                <a:spcPts val="0"/>
              </a:spcAft>
              <a:buSzPts val="1400"/>
              <a:buChar char="○"/>
            </a:pPr>
            <a:r>
              <a:rPr lang="pt-BR"/>
              <a:t>Max-Norm regularization</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73"/>
          <p:cNvSpPr txBox="1"/>
          <p:nvPr>
            <p:ph type="title"/>
          </p:nvPr>
        </p:nvSpPr>
        <p:spPr>
          <a:xfrm>
            <a:off x="617220" y="161214"/>
            <a:ext cx="5658000" cy="816000"/>
          </a:xfrm>
          <a:prstGeom prst="rect">
            <a:avLst/>
          </a:prstGeom>
          <a:noFill/>
          <a:ln>
            <a:noFill/>
          </a:ln>
        </p:spPr>
        <p:txBody>
          <a:bodyPr anchorCtr="0" anchor="b" bIns="34275" lIns="68575" spcFirstLastPara="1" rIns="68575" wrap="square" tIns="34275">
            <a:normAutofit/>
          </a:bodyPr>
          <a:lstStyle/>
          <a:p>
            <a:pPr indent="0" lvl="0" marL="0" rtl="0" algn="l">
              <a:lnSpc>
                <a:spcPct val="85000"/>
              </a:lnSpc>
              <a:spcBef>
                <a:spcPts val="0"/>
              </a:spcBef>
              <a:spcAft>
                <a:spcPts val="0"/>
              </a:spcAft>
              <a:buClr>
                <a:srgbClr val="3F3F3F"/>
              </a:buClr>
              <a:buSzPts val="3600"/>
              <a:buFont typeface="Calibri"/>
              <a:buNone/>
            </a:pPr>
            <a:r>
              <a:rPr lang="pt-BR"/>
              <a:t>L1 e L2 Regularization</a:t>
            </a:r>
            <a:endParaRPr/>
          </a:p>
        </p:txBody>
      </p:sp>
      <p:sp>
        <p:nvSpPr>
          <p:cNvPr id="522" name="Google Shape;522;p73"/>
          <p:cNvSpPr txBox="1"/>
          <p:nvPr>
            <p:ph idx="1" type="body"/>
          </p:nvPr>
        </p:nvSpPr>
        <p:spPr>
          <a:xfrm>
            <a:off x="617225" y="1038225"/>
            <a:ext cx="7852200" cy="2263200"/>
          </a:xfrm>
          <a:prstGeom prst="rect">
            <a:avLst/>
          </a:prstGeom>
          <a:noFill/>
          <a:ln>
            <a:noFill/>
          </a:ln>
        </p:spPr>
        <p:txBody>
          <a:bodyPr anchorCtr="0" anchor="t" bIns="34275" lIns="0" spcFirstLastPara="1" rIns="0" wrap="square" tIns="34275">
            <a:normAutofit/>
          </a:bodyPr>
          <a:lstStyle/>
          <a:p>
            <a:pPr indent="-95250" lvl="0" marL="63500" rtl="0" algn="l">
              <a:lnSpc>
                <a:spcPct val="90000"/>
              </a:lnSpc>
              <a:spcBef>
                <a:spcPts val="0"/>
              </a:spcBef>
              <a:spcAft>
                <a:spcPts val="0"/>
              </a:spcAft>
              <a:buSzPts val="1500"/>
              <a:buChar char="●"/>
            </a:pPr>
            <a:r>
              <a:rPr lang="pt-BR"/>
              <a:t>Quanto menos graus de liberdade (variações) os pesos podem ter mais difícil será cair no overfitting:</a:t>
            </a:r>
            <a:endParaRPr/>
          </a:p>
          <a:p>
            <a:pPr indent="-139700" lvl="1" marL="292100" rtl="0" algn="l">
              <a:lnSpc>
                <a:spcPct val="90000"/>
              </a:lnSpc>
              <a:spcBef>
                <a:spcPts val="0"/>
              </a:spcBef>
              <a:spcAft>
                <a:spcPts val="0"/>
              </a:spcAft>
              <a:buSzPts val="1400"/>
              <a:buChar char="○"/>
            </a:pPr>
            <a:r>
              <a:rPr lang="pt-BR"/>
              <a:t>Idéia: "minimizar" o módulo do valor dos pesos diretamente na função de custo.</a:t>
            </a:r>
            <a:endParaRPr/>
          </a:p>
          <a:p>
            <a:pPr indent="-139700" lvl="1" marL="292100" rtl="0" algn="l">
              <a:lnSpc>
                <a:spcPct val="90000"/>
              </a:lnSpc>
              <a:spcBef>
                <a:spcPts val="0"/>
              </a:spcBef>
              <a:spcAft>
                <a:spcPts val="0"/>
              </a:spcAft>
              <a:buSzPts val="1400"/>
              <a:buChar char="○"/>
            </a:pPr>
            <a:r>
              <a:rPr lang="pt-BR"/>
              <a:t>L1 - efeito de seleção de atributos (mais agressivo)</a:t>
            </a:r>
            <a:endParaRPr/>
          </a:p>
          <a:p>
            <a:pPr indent="-139700" lvl="1" marL="292100" rtl="0" algn="l">
              <a:lnSpc>
                <a:spcPct val="90000"/>
              </a:lnSpc>
              <a:spcBef>
                <a:spcPts val="0"/>
              </a:spcBef>
              <a:spcAft>
                <a:spcPts val="0"/>
              </a:spcAft>
              <a:buSzPts val="1400"/>
              <a:buChar char="○"/>
            </a:pPr>
            <a:r>
              <a:rPr lang="pt-BR"/>
              <a:t>L2 - Efeito de redução de importância de atributos</a:t>
            </a:r>
            <a:endParaRPr/>
          </a:p>
          <a:p>
            <a:pPr indent="-139700" lvl="1" marL="292100" rtl="0" algn="l">
              <a:lnSpc>
                <a:spcPct val="90000"/>
              </a:lnSpc>
              <a:spcBef>
                <a:spcPts val="0"/>
              </a:spcBef>
              <a:spcAft>
                <a:spcPts val="0"/>
              </a:spcAft>
              <a:buSzPts val="1400"/>
              <a:buChar char="○"/>
            </a:pPr>
            <a:r>
              <a:rPr lang="pt-BR"/>
              <a:t>Valores razoáveis variam entre 0 e 0.1  (</a:t>
            </a:r>
            <a:r>
              <a:rPr lang="pt-BR" sz="1150">
                <a:solidFill>
                  <a:srgbClr val="428BCA"/>
                </a:solidFill>
                <a:highlight>
                  <a:srgbClr val="FFFFFF"/>
                </a:highlight>
                <a:uFill>
                  <a:noFill/>
                </a:uFill>
                <a:hlinkClick r:id="rId3">
                  <a:extLst>
                    <a:ext uri="{A12FA001-AC4F-418D-AE19-62706E023703}">
                      <ahyp:hlinkClr val="tx"/>
                    </a:ext>
                  </a:extLst>
                </a:hlinkClick>
              </a:rPr>
              <a:t>Applied Predictive Modeling</a:t>
            </a:r>
            <a:r>
              <a:rPr lang="pt-BR"/>
              <a:t>)</a:t>
            </a:r>
            <a:endParaRPr/>
          </a:p>
        </p:txBody>
      </p:sp>
      <p:pic>
        <p:nvPicPr>
          <p:cNvPr id="523" name="Google Shape;523;p73"/>
          <p:cNvPicPr preferRelativeResize="0"/>
          <p:nvPr/>
        </p:nvPicPr>
        <p:blipFill rotWithShape="1">
          <a:blip r:embed="rId4">
            <a:alphaModFix/>
          </a:blip>
          <a:srcRect b="36375" l="18178" r="38125" t="26915"/>
          <a:stretch/>
        </p:blipFill>
        <p:spPr>
          <a:xfrm>
            <a:off x="78899" y="2403750"/>
            <a:ext cx="5193902" cy="2454476"/>
          </a:xfrm>
          <a:prstGeom prst="rect">
            <a:avLst/>
          </a:prstGeom>
          <a:noFill/>
          <a:ln>
            <a:noFill/>
          </a:ln>
        </p:spPr>
      </p:pic>
      <p:pic>
        <p:nvPicPr>
          <p:cNvPr id="524" name="Google Shape;524;p73"/>
          <p:cNvPicPr preferRelativeResize="0"/>
          <p:nvPr/>
        </p:nvPicPr>
        <p:blipFill>
          <a:blip r:embed="rId5">
            <a:alphaModFix/>
          </a:blip>
          <a:stretch>
            <a:fillRect/>
          </a:stretch>
        </p:blipFill>
        <p:spPr>
          <a:xfrm>
            <a:off x="5445825" y="2628500"/>
            <a:ext cx="3531101" cy="42360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74"/>
          <p:cNvSpPr txBox="1"/>
          <p:nvPr>
            <p:ph type="title"/>
          </p:nvPr>
        </p:nvSpPr>
        <p:spPr>
          <a:xfrm>
            <a:off x="617220" y="161214"/>
            <a:ext cx="5658000" cy="816000"/>
          </a:xfrm>
          <a:prstGeom prst="rect">
            <a:avLst/>
          </a:prstGeom>
          <a:noFill/>
          <a:ln>
            <a:noFill/>
          </a:ln>
        </p:spPr>
        <p:txBody>
          <a:bodyPr anchorCtr="0" anchor="b" bIns="34275" lIns="68575" spcFirstLastPara="1" rIns="68575" wrap="square" tIns="34275">
            <a:normAutofit/>
          </a:bodyPr>
          <a:lstStyle/>
          <a:p>
            <a:pPr indent="0" lvl="0" marL="0" rtl="0" algn="l">
              <a:lnSpc>
                <a:spcPct val="85000"/>
              </a:lnSpc>
              <a:spcBef>
                <a:spcPts val="0"/>
              </a:spcBef>
              <a:spcAft>
                <a:spcPts val="0"/>
              </a:spcAft>
              <a:buClr>
                <a:srgbClr val="3F3F3F"/>
              </a:buClr>
              <a:buSzPts val="3600"/>
              <a:buFont typeface="Calibri"/>
              <a:buNone/>
            </a:pPr>
            <a:r>
              <a:rPr lang="pt-BR"/>
              <a:t>Dropout</a:t>
            </a:r>
            <a:endParaRPr/>
          </a:p>
        </p:txBody>
      </p:sp>
      <p:sp>
        <p:nvSpPr>
          <p:cNvPr id="530" name="Google Shape;530;p74"/>
          <p:cNvSpPr txBox="1"/>
          <p:nvPr>
            <p:ph idx="1" type="body"/>
          </p:nvPr>
        </p:nvSpPr>
        <p:spPr>
          <a:xfrm>
            <a:off x="822948" y="1384300"/>
            <a:ext cx="6879300" cy="3656100"/>
          </a:xfrm>
          <a:prstGeom prst="rect">
            <a:avLst/>
          </a:prstGeom>
          <a:noFill/>
          <a:ln>
            <a:noFill/>
          </a:ln>
        </p:spPr>
        <p:txBody>
          <a:bodyPr anchorCtr="0" anchor="t" bIns="34275" lIns="0" spcFirstLastPara="1" rIns="0" wrap="square" tIns="34275">
            <a:normAutofit fontScale="85000" lnSpcReduction="20000"/>
          </a:bodyPr>
          <a:lstStyle/>
          <a:p>
            <a:pPr indent="-80963" lvl="0" marL="63500" rtl="0" algn="l">
              <a:lnSpc>
                <a:spcPct val="90000"/>
              </a:lnSpc>
              <a:spcBef>
                <a:spcPts val="0"/>
              </a:spcBef>
              <a:spcAft>
                <a:spcPts val="0"/>
              </a:spcAft>
              <a:buSzPct val="83333"/>
              <a:buChar char="●"/>
            </a:pPr>
            <a:r>
              <a:rPr lang="pt-BR"/>
              <a:t>Proposta de regularização feita em 2012, que mostra ganhos de 1% a 2% nos modelos de forma geral: algo útil quando se está com 95% de acurácia.</a:t>
            </a:r>
            <a:endParaRPr/>
          </a:p>
          <a:p>
            <a:pPr indent="-80963" lvl="0" marL="63500" rtl="0" algn="l">
              <a:lnSpc>
                <a:spcPct val="90000"/>
              </a:lnSpc>
              <a:spcBef>
                <a:spcPts val="1100"/>
              </a:spcBef>
              <a:spcAft>
                <a:spcPts val="0"/>
              </a:spcAft>
              <a:buSzPct val="83333"/>
              <a:buChar char="●"/>
            </a:pPr>
            <a:r>
              <a:rPr lang="pt-BR"/>
              <a:t>O algoritmo é: para cada passo de ajuste dos pesos no treinamento,  o neurônio terá probabilidade </a:t>
            </a:r>
            <a:r>
              <a:rPr b="1" i="1" lang="pt-BR"/>
              <a:t>p</a:t>
            </a:r>
            <a:r>
              <a:rPr lang="pt-BR"/>
              <a:t> de temporariamente não participar do treinamento, não o incluindo como neurônio de saída.</a:t>
            </a:r>
            <a:endParaRPr/>
          </a:p>
          <a:p>
            <a:pPr indent="-80963" lvl="0" marL="63500" rtl="0" algn="l">
              <a:lnSpc>
                <a:spcPct val="90000"/>
              </a:lnSpc>
              <a:spcBef>
                <a:spcPts val="1100"/>
              </a:spcBef>
              <a:spcAft>
                <a:spcPts val="0"/>
              </a:spcAft>
              <a:buSzPct val="83333"/>
              <a:buChar char="●"/>
            </a:pPr>
            <a:r>
              <a:rPr lang="pt-BR"/>
              <a:t>Hiperparâmetro: p ou dropout rate.</a:t>
            </a:r>
            <a:endParaRPr/>
          </a:p>
          <a:p>
            <a:pPr indent="-139065" lvl="1" marL="292100" rtl="0" algn="l">
              <a:lnSpc>
                <a:spcPct val="90000"/>
              </a:lnSpc>
              <a:spcBef>
                <a:spcPts val="300"/>
              </a:spcBef>
              <a:spcAft>
                <a:spcPts val="0"/>
              </a:spcAft>
              <a:buSzPct val="100000"/>
              <a:buChar char="○"/>
            </a:pPr>
            <a:r>
              <a:rPr lang="pt-BR"/>
              <a:t>Geralmente algo entre 10% e 50%</a:t>
            </a:r>
            <a:endParaRPr/>
          </a:p>
          <a:p>
            <a:pPr indent="-80963" lvl="0" marL="63500" rtl="0" algn="l">
              <a:lnSpc>
                <a:spcPct val="90000"/>
              </a:lnSpc>
              <a:spcBef>
                <a:spcPts val="1200"/>
              </a:spcBef>
              <a:spcAft>
                <a:spcPts val="0"/>
              </a:spcAft>
              <a:buSzPct val="83333"/>
              <a:buChar char="●"/>
            </a:pPr>
            <a:r>
              <a:rPr lang="pt-BR"/>
              <a:t>A ideia é fazer com que os neurônios não dependam excessivamente de outros neurônios;</a:t>
            </a:r>
            <a:endParaRPr/>
          </a:p>
          <a:p>
            <a:pPr indent="-80963" lvl="0" marL="63500" rtl="0" algn="l">
              <a:lnSpc>
                <a:spcPct val="90000"/>
              </a:lnSpc>
              <a:spcBef>
                <a:spcPts val="1100"/>
              </a:spcBef>
              <a:spcAft>
                <a:spcPts val="0"/>
              </a:spcAft>
              <a:buSzPct val="83333"/>
              <a:buChar char="●"/>
            </a:pPr>
            <a:r>
              <a:rPr lang="pt-BR"/>
              <a:t>Os neurônios precisam se adaptar com a ausência de outros;</a:t>
            </a:r>
            <a:endParaRPr/>
          </a:p>
          <a:p>
            <a:pPr indent="-80963" lvl="0" marL="63500" rtl="0" algn="l">
              <a:lnSpc>
                <a:spcPct val="90000"/>
              </a:lnSpc>
              <a:spcBef>
                <a:spcPts val="1100"/>
              </a:spcBef>
              <a:spcAft>
                <a:spcPts val="0"/>
              </a:spcAft>
              <a:buSzPct val="83333"/>
              <a:buChar char="●"/>
            </a:pPr>
            <a:r>
              <a:rPr lang="pt-BR"/>
              <a:t>Isso contribui a ser menos sensível a mudanças no treino.</a:t>
            </a:r>
            <a:endParaRPr/>
          </a:p>
          <a:p>
            <a:pPr indent="-80963" lvl="0" marL="63500" rtl="0" algn="l">
              <a:lnSpc>
                <a:spcPct val="90000"/>
              </a:lnSpc>
              <a:spcBef>
                <a:spcPts val="1100"/>
              </a:spcBef>
              <a:spcAft>
                <a:spcPts val="0"/>
              </a:spcAft>
              <a:buSzPct val="83333"/>
              <a:buChar char="●"/>
            </a:pPr>
            <a:r>
              <a:rPr lang="pt-BR"/>
              <a:t>Uma outra intuição: com dropout cada epoch treina uma rede diferente, e todas se juntariam para dar o resultado.</a:t>
            </a:r>
            <a:endParaRPr/>
          </a:p>
          <a:p>
            <a:pPr indent="0" lvl="0" marL="63500" rtl="0" algn="l">
              <a:lnSpc>
                <a:spcPct val="90000"/>
              </a:lnSpc>
              <a:spcBef>
                <a:spcPts val="1100"/>
              </a:spcBef>
              <a:spcAft>
                <a:spcPts val="0"/>
              </a:spcAft>
              <a:buSzPct val="83333"/>
              <a:buNone/>
            </a:pPr>
            <a:r>
              <a:t/>
            </a:r>
            <a:endParaRPr/>
          </a:p>
        </p:txBody>
      </p:sp>
      <p:pic>
        <p:nvPicPr>
          <p:cNvPr id="531" name="Google Shape;531;p74"/>
          <p:cNvPicPr preferRelativeResize="0"/>
          <p:nvPr/>
        </p:nvPicPr>
        <p:blipFill rotWithShape="1">
          <a:blip r:embed="rId3">
            <a:alphaModFix/>
          </a:blip>
          <a:srcRect b="0" l="0" r="0" t="0"/>
          <a:stretch/>
        </p:blipFill>
        <p:spPr>
          <a:xfrm>
            <a:off x="6731270" y="34290"/>
            <a:ext cx="1589771" cy="1268730"/>
          </a:xfrm>
          <a:prstGeom prst="rect">
            <a:avLst/>
          </a:prstGeom>
          <a:noFill/>
          <a:ln>
            <a:noFill/>
          </a:ln>
        </p:spPr>
      </p:pic>
      <p:pic>
        <p:nvPicPr>
          <p:cNvPr descr="Coding Neural Network — Dropout. Dropout is a regularization technique… |  by Imad Dabbura | Towards Data Science" id="532" name="Google Shape;532;p74"/>
          <p:cNvPicPr preferRelativeResize="0"/>
          <p:nvPr/>
        </p:nvPicPr>
        <p:blipFill rotWithShape="1">
          <a:blip r:embed="rId4">
            <a:alphaModFix/>
          </a:blip>
          <a:srcRect b="0" l="0" r="0" t="0"/>
          <a:stretch/>
        </p:blipFill>
        <p:spPr>
          <a:xfrm>
            <a:off x="4594860" y="76270"/>
            <a:ext cx="1591063" cy="1184768"/>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75"/>
          <p:cNvSpPr txBox="1"/>
          <p:nvPr>
            <p:ph type="title"/>
          </p:nvPr>
        </p:nvSpPr>
        <p:spPr>
          <a:xfrm>
            <a:off x="617220" y="161214"/>
            <a:ext cx="5658000" cy="816000"/>
          </a:xfrm>
          <a:prstGeom prst="rect">
            <a:avLst/>
          </a:prstGeom>
          <a:noFill/>
          <a:ln>
            <a:noFill/>
          </a:ln>
        </p:spPr>
        <p:txBody>
          <a:bodyPr anchorCtr="0" anchor="b" bIns="34275" lIns="68575" spcFirstLastPara="1" rIns="68575" wrap="square" tIns="34275">
            <a:normAutofit/>
          </a:bodyPr>
          <a:lstStyle/>
          <a:p>
            <a:pPr indent="0" lvl="0" marL="0" rtl="0" algn="l">
              <a:lnSpc>
                <a:spcPct val="85000"/>
              </a:lnSpc>
              <a:spcBef>
                <a:spcPts val="0"/>
              </a:spcBef>
              <a:spcAft>
                <a:spcPts val="0"/>
              </a:spcAft>
              <a:buClr>
                <a:srgbClr val="3F3F3F"/>
              </a:buClr>
              <a:buSzPts val="3600"/>
              <a:buFont typeface="Calibri"/>
              <a:buNone/>
            </a:pPr>
            <a:r>
              <a:rPr lang="pt-BR"/>
              <a:t>Implementando Dropout</a:t>
            </a:r>
            <a:endParaRPr/>
          </a:p>
        </p:txBody>
      </p:sp>
      <p:sp>
        <p:nvSpPr>
          <p:cNvPr id="538" name="Google Shape;538;p75"/>
          <p:cNvSpPr txBox="1"/>
          <p:nvPr>
            <p:ph idx="1" type="body"/>
          </p:nvPr>
        </p:nvSpPr>
        <p:spPr>
          <a:xfrm>
            <a:off x="617220" y="1038225"/>
            <a:ext cx="5658000" cy="2263200"/>
          </a:xfrm>
          <a:prstGeom prst="rect">
            <a:avLst/>
          </a:prstGeom>
          <a:noFill/>
          <a:ln>
            <a:noFill/>
          </a:ln>
        </p:spPr>
        <p:txBody>
          <a:bodyPr anchorCtr="0" anchor="t" bIns="34275" lIns="0" spcFirstLastPara="1" rIns="0" wrap="square" tIns="34275">
            <a:normAutofit/>
          </a:bodyPr>
          <a:lstStyle/>
          <a:p>
            <a:pPr indent="-95250" lvl="0" marL="63500" rtl="0" algn="l">
              <a:lnSpc>
                <a:spcPct val="90000"/>
              </a:lnSpc>
              <a:spcBef>
                <a:spcPts val="0"/>
              </a:spcBef>
              <a:spcAft>
                <a:spcPts val="0"/>
              </a:spcAft>
              <a:buSzPts val="1500"/>
              <a:buChar char="●"/>
            </a:pPr>
            <a:r>
              <a:rPr lang="pt-BR"/>
              <a:t>Tome cuidado ao avaliar training e validation loss, pois a análise ocorre com a ausência de alguns neurônios, algo que não irá ocorrer no teste.</a:t>
            </a:r>
            <a:endParaRPr/>
          </a:p>
          <a:p>
            <a:pPr indent="-95250" lvl="0" marL="63500" rtl="0" algn="l">
              <a:lnSpc>
                <a:spcPct val="90000"/>
              </a:lnSpc>
              <a:spcBef>
                <a:spcPts val="1100"/>
              </a:spcBef>
              <a:spcAft>
                <a:spcPts val="0"/>
              </a:spcAft>
              <a:buSzPts val="1500"/>
              <a:buChar char="●"/>
            </a:pPr>
            <a:r>
              <a:rPr lang="pt-BR"/>
              <a:t>Se o overfitting aumentar, devemos aumentar dropout rate, assim como em redes maiores.</a:t>
            </a:r>
            <a:endParaRPr/>
          </a:p>
        </p:txBody>
      </p:sp>
      <p:pic>
        <p:nvPicPr>
          <p:cNvPr id="539" name="Google Shape;539;p75"/>
          <p:cNvPicPr preferRelativeResize="0"/>
          <p:nvPr/>
        </p:nvPicPr>
        <p:blipFill rotWithShape="1">
          <a:blip r:embed="rId3">
            <a:alphaModFix/>
          </a:blip>
          <a:srcRect b="27705" l="22188" r="20045" t="36113"/>
          <a:stretch/>
        </p:blipFill>
        <p:spPr>
          <a:xfrm>
            <a:off x="134103" y="2193132"/>
            <a:ext cx="7066464" cy="2489694"/>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76"/>
          <p:cNvSpPr txBox="1"/>
          <p:nvPr>
            <p:ph type="title"/>
          </p:nvPr>
        </p:nvSpPr>
        <p:spPr>
          <a:xfrm>
            <a:off x="617220" y="161214"/>
            <a:ext cx="5658000" cy="816000"/>
          </a:xfrm>
          <a:prstGeom prst="rect">
            <a:avLst/>
          </a:prstGeom>
          <a:noFill/>
          <a:ln>
            <a:noFill/>
          </a:ln>
        </p:spPr>
        <p:txBody>
          <a:bodyPr anchorCtr="0" anchor="b" bIns="34275" lIns="68575" spcFirstLastPara="1" rIns="68575" wrap="square" tIns="34275">
            <a:normAutofit/>
          </a:bodyPr>
          <a:lstStyle/>
          <a:p>
            <a:pPr indent="0" lvl="0" marL="0" rtl="0" algn="l">
              <a:lnSpc>
                <a:spcPct val="85000"/>
              </a:lnSpc>
              <a:spcBef>
                <a:spcPts val="0"/>
              </a:spcBef>
              <a:spcAft>
                <a:spcPts val="0"/>
              </a:spcAft>
              <a:buClr>
                <a:srgbClr val="3F3F3F"/>
              </a:buClr>
              <a:buSzPts val="3600"/>
              <a:buFont typeface="Calibri"/>
              <a:buNone/>
            </a:pPr>
            <a:r>
              <a:rPr lang="pt-BR"/>
              <a:t>Max-Norm Regularization</a:t>
            </a:r>
            <a:endParaRPr/>
          </a:p>
        </p:txBody>
      </p:sp>
      <p:sp>
        <p:nvSpPr>
          <p:cNvPr id="545" name="Google Shape;545;p76"/>
          <p:cNvSpPr txBox="1"/>
          <p:nvPr>
            <p:ph idx="1" type="body"/>
          </p:nvPr>
        </p:nvSpPr>
        <p:spPr>
          <a:xfrm>
            <a:off x="617220" y="1038225"/>
            <a:ext cx="5658000" cy="2263200"/>
          </a:xfrm>
          <a:prstGeom prst="rect">
            <a:avLst/>
          </a:prstGeom>
          <a:blipFill rotWithShape="1">
            <a:blip r:embed="rId3">
              <a:alphaModFix/>
            </a:blip>
            <a:stretch>
              <a:fillRect b="0" l="-609" r="-300" t="-1670"/>
            </a:stretch>
          </a:blipFill>
          <a:ln>
            <a:noFill/>
          </a:ln>
        </p:spPr>
        <p:txBody>
          <a:bodyPr anchorCtr="0" anchor="t" bIns="34275" lIns="0" spcFirstLastPara="1" rIns="0" wrap="square" tIns="34275">
            <a:normAutofit/>
          </a:bodyPr>
          <a:lstStyle/>
          <a:p>
            <a:pPr indent="-95250" lvl="0" marL="63500" rtl="0" algn="l">
              <a:lnSpc>
                <a:spcPct val="90000"/>
              </a:lnSpc>
              <a:spcBef>
                <a:spcPts val="0"/>
              </a:spcBef>
              <a:spcAft>
                <a:spcPts val="0"/>
              </a:spcAft>
              <a:buSzPts val="1500"/>
              <a:buChar char="●"/>
            </a:pPr>
            <a:r>
              <a:rPr lang="pt-BR"/>
              <a:t> </a:t>
            </a:r>
            <a:endParaRPr/>
          </a:p>
        </p:txBody>
      </p:sp>
      <p:pic>
        <p:nvPicPr>
          <p:cNvPr id="546" name="Google Shape;546;p76"/>
          <p:cNvPicPr preferRelativeResize="0"/>
          <p:nvPr/>
        </p:nvPicPr>
        <p:blipFill rotWithShape="1">
          <a:blip r:embed="rId4">
            <a:alphaModFix/>
          </a:blip>
          <a:srcRect b="57361" l="22347" r="41482" t="37500"/>
          <a:stretch/>
        </p:blipFill>
        <p:spPr>
          <a:xfrm>
            <a:off x="978694" y="3064669"/>
            <a:ext cx="5631787" cy="450058"/>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77"/>
          <p:cNvSpPr txBox="1"/>
          <p:nvPr>
            <p:ph type="title"/>
          </p:nvPr>
        </p:nvSpPr>
        <p:spPr>
          <a:xfrm>
            <a:off x="822960" y="214952"/>
            <a:ext cx="8135400" cy="1088100"/>
          </a:xfrm>
          <a:prstGeom prst="rect">
            <a:avLst/>
          </a:prstGeom>
          <a:noFill/>
          <a:ln>
            <a:noFill/>
          </a:ln>
        </p:spPr>
        <p:txBody>
          <a:bodyPr anchorCtr="0" anchor="b" bIns="34275" lIns="68575" spcFirstLastPara="1" rIns="68575" wrap="square" tIns="34275">
            <a:normAutofit/>
          </a:bodyPr>
          <a:lstStyle/>
          <a:p>
            <a:pPr indent="0" lvl="0" marL="0" rtl="0" algn="l">
              <a:lnSpc>
                <a:spcPct val="85000"/>
              </a:lnSpc>
              <a:spcBef>
                <a:spcPts val="0"/>
              </a:spcBef>
              <a:spcAft>
                <a:spcPts val="0"/>
              </a:spcAft>
              <a:buClr>
                <a:srgbClr val="3F3F3F"/>
              </a:buClr>
              <a:buSzPts val="3600"/>
              <a:buFont typeface="Calibri"/>
              <a:buNone/>
            </a:pPr>
            <a:r>
              <a:rPr lang="pt-BR"/>
              <a:t>Fine-Tuning: Número de Camadas Ocultas</a:t>
            </a:r>
            <a:endParaRPr/>
          </a:p>
        </p:txBody>
      </p:sp>
      <p:sp>
        <p:nvSpPr>
          <p:cNvPr id="552" name="Google Shape;552;p77"/>
          <p:cNvSpPr txBox="1"/>
          <p:nvPr>
            <p:ph idx="1" type="body"/>
          </p:nvPr>
        </p:nvSpPr>
        <p:spPr>
          <a:xfrm>
            <a:off x="822960" y="1384300"/>
            <a:ext cx="6806400" cy="3017400"/>
          </a:xfrm>
          <a:prstGeom prst="rect">
            <a:avLst/>
          </a:prstGeom>
          <a:noFill/>
          <a:ln>
            <a:noFill/>
          </a:ln>
        </p:spPr>
        <p:txBody>
          <a:bodyPr anchorCtr="0" anchor="t" bIns="34275" lIns="0" spcFirstLastPara="1" rIns="0" wrap="square" tIns="34275">
            <a:noAutofit/>
          </a:bodyPr>
          <a:lstStyle/>
          <a:p>
            <a:pPr indent="-114300" lvl="0" marL="63500" rtl="0" algn="l">
              <a:lnSpc>
                <a:spcPct val="90000"/>
              </a:lnSpc>
              <a:spcBef>
                <a:spcPts val="0"/>
              </a:spcBef>
              <a:spcAft>
                <a:spcPts val="0"/>
              </a:spcAft>
              <a:buSzPts val="1800"/>
              <a:buChar char="●"/>
            </a:pPr>
            <a:r>
              <a:rPr lang="pt-BR" sz="1800"/>
              <a:t>Um MLP com uma camada oculta pode teoricamente aprender diversos padrões;</a:t>
            </a:r>
            <a:endParaRPr/>
          </a:p>
          <a:p>
            <a:pPr indent="-114300" lvl="0" marL="63500" rtl="0" algn="l">
              <a:lnSpc>
                <a:spcPct val="90000"/>
              </a:lnSpc>
              <a:spcBef>
                <a:spcPts val="1100"/>
              </a:spcBef>
              <a:spcAft>
                <a:spcPts val="0"/>
              </a:spcAft>
              <a:buSzPts val="1800"/>
              <a:buChar char="●"/>
            </a:pPr>
            <a:r>
              <a:rPr lang="pt-BR" sz="1800"/>
              <a:t>Contudo, para problemas complexos uma ampla avaliação dos hiperparâmetros é algo necessário.</a:t>
            </a:r>
            <a:endParaRPr/>
          </a:p>
          <a:p>
            <a:pPr indent="-114300" lvl="0" marL="63500" rtl="0" algn="l">
              <a:lnSpc>
                <a:spcPct val="90000"/>
              </a:lnSpc>
              <a:spcBef>
                <a:spcPts val="1100"/>
              </a:spcBef>
              <a:spcAft>
                <a:spcPts val="0"/>
              </a:spcAft>
              <a:buSzPts val="1800"/>
              <a:buChar char="●"/>
            </a:pPr>
            <a:r>
              <a:rPr lang="pt-BR" sz="1800"/>
              <a:t>Camadas baixas modelam estruturas de mais baixo nível:</a:t>
            </a:r>
            <a:endParaRPr/>
          </a:p>
          <a:p>
            <a:pPr indent="-139700" lvl="1" marL="292100" rtl="0" algn="l">
              <a:lnSpc>
                <a:spcPct val="90000"/>
              </a:lnSpc>
              <a:spcBef>
                <a:spcPts val="300"/>
              </a:spcBef>
              <a:spcAft>
                <a:spcPts val="0"/>
              </a:spcAft>
              <a:buSzPts val="1800"/>
              <a:buChar char="○"/>
            </a:pPr>
            <a:r>
              <a:rPr lang="pt-BR" sz="1800"/>
              <a:t>Formas de variação e orientação linear</a:t>
            </a:r>
            <a:endParaRPr/>
          </a:p>
          <a:p>
            <a:pPr indent="-114300" lvl="0" marL="63500" rtl="0" algn="l">
              <a:lnSpc>
                <a:spcPct val="90000"/>
              </a:lnSpc>
              <a:spcBef>
                <a:spcPts val="1200"/>
              </a:spcBef>
              <a:spcAft>
                <a:spcPts val="0"/>
              </a:spcAft>
              <a:buSzPts val="1800"/>
              <a:buChar char="●"/>
            </a:pPr>
            <a:r>
              <a:rPr lang="pt-BR" sz="1800"/>
              <a:t>Camadas intermediárias combinam estas para estruturas intermediárias</a:t>
            </a:r>
            <a:endParaRPr/>
          </a:p>
          <a:p>
            <a:pPr indent="-139700" lvl="1" marL="292100" rtl="0" algn="l">
              <a:lnSpc>
                <a:spcPct val="90000"/>
              </a:lnSpc>
              <a:spcBef>
                <a:spcPts val="300"/>
              </a:spcBef>
              <a:spcAft>
                <a:spcPts val="0"/>
              </a:spcAft>
              <a:buSzPts val="1800"/>
              <a:buChar char="○"/>
            </a:pPr>
            <a:r>
              <a:rPr lang="pt-BR" sz="1800"/>
              <a:t>Formas de variação quadráticas ou lineares</a:t>
            </a:r>
            <a:endParaRPr/>
          </a:p>
          <a:p>
            <a:pPr indent="-114300" lvl="0" marL="63500" rtl="0" algn="l">
              <a:lnSpc>
                <a:spcPct val="90000"/>
              </a:lnSpc>
              <a:spcBef>
                <a:spcPts val="1200"/>
              </a:spcBef>
              <a:spcAft>
                <a:spcPts val="0"/>
              </a:spcAft>
              <a:buSzPts val="1800"/>
              <a:buChar char="●"/>
            </a:pPr>
            <a:r>
              <a:rPr lang="pt-BR" sz="1800"/>
              <a:t>Camadas avançadas e de saída combina as estruturas anteriores para estruturas mais avançadas</a:t>
            </a:r>
            <a:endParaRPr/>
          </a:p>
          <a:p>
            <a:pPr indent="-139700" lvl="1" marL="292100" rtl="0" algn="l">
              <a:lnSpc>
                <a:spcPct val="90000"/>
              </a:lnSpc>
              <a:spcBef>
                <a:spcPts val="300"/>
              </a:spcBef>
              <a:spcAft>
                <a:spcPts val="0"/>
              </a:spcAft>
              <a:buSzPts val="1800"/>
              <a:buChar char="○"/>
            </a:pPr>
            <a:r>
              <a:rPr lang="pt-BR" sz="1800"/>
              <a:t>Faces de pessoas</a:t>
            </a:r>
            <a:endParaRPr/>
          </a:p>
        </p:txBody>
      </p:sp>
      <p:sp>
        <p:nvSpPr>
          <p:cNvPr id="553" name="Google Shape;553;p77"/>
          <p:cNvSpPr/>
          <p:nvPr/>
        </p:nvSpPr>
        <p:spPr>
          <a:xfrm>
            <a:off x="5757398" y="4677600"/>
            <a:ext cx="2187000" cy="465900"/>
          </a:xfrm>
          <a:prstGeom prst="wave">
            <a:avLst>
              <a:gd fmla="val 12500" name="adj1"/>
              <a:gd fmla="val 0" name="adj2"/>
            </a:avLst>
          </a:prstGeom>
          <a:solidFill>
            <a:schemeClr val="accent1"/>
          </a:solidFill>
          <a:ln cap="flat" cmpd="sng" w="15875">
            <a:solidFill>
              <a:srgbClr val="147EA6"/>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1" lang="pt-BR" sz="1800">
                <a:solidFill>
                  <a:schemeClr val="lt1"/>
                </a:solidFill>
                <a:latin typeface="Calibri"/>
                <a:ea typeface="Calibri"/>
                <a:cs typeface="Calibri"/>
                <a:sym typeface="Calibri"/>
              </a:rPr>
              <a:t>Transfer Learning</a:t>
            </a:r>
            <a:endParaRPr sz="1100"/>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pic>
        <p:nvPicPr>
          <p:cNvPr id="558" name="Google Shape;558;p78"/>
          <p:cNvPicPr preferRelativeResize="0"/>
          <p:nvPr/>
        </p:nvPicPr>
        <p:blipFill rotWithShape="1">
          <a:blip r:embed="rId3">
            <a:alphaModFix/>
          </a:blip>
          <a:srcRect b="0" l="0" r="0" t="0"/>
          <a:stretch/>
        </p:blipFill>
        <p:spPr>
          <a:xfrm>
            <a:off x="3600449" y="3559399"/>
            <a:ext cx="2905091" cy="1165319"/>
          </a:xfrm>
          <a:prstGeom prst="rect">
            <a:avLst/>
          </a:prstGeom>
          <a:noFill/>
          <a:ln>
            <a:noFill/>
          </a:ln>
        </p:spPr>
      </p:pic>
      <p:sp>
        <p:nvSpPr>
          <p:cNvPr id="559" name="Google Shape;559;p78"/>
          <p:cNvSpPr txBox="1"/>
          <p:nvPr>
            <p:ph type="title"/>
          </p:nvPr>
        </p:nvSpPr>
        <p:spPr>
          <a:xfrm>
            <a:off x="617220" y="161214"/>
            <a:ext cx="5658000" cy="816000"/>
          </a:xfrm>
          <a:prstGeom prst="rect">
            <a:avLst/>
          </a:prstGeom>
          <a:noFill/>
          <a:ln>
            <a:noFill/>
          </a:ln>
        </p:spPr>
        <p:txBody>
          <a:bodyPr anchorCtr="0" anchor="b" bIns="34275" lIns="68575" spcFirstLastPara="1" rIns="68575" wrap="square" tIns="34275">
            <a:normAutofit/>
          </a:bodyPr>
          <a:lstStyle/>
          <a:p>
            <a:pPr indent="0" lvl="0" marL="0" rtl="0" algn="l">
              <a:lnSpc>
                <a:spcPct val="85000"/>
              </a:lnSpc>
              <a:spcBef>
                <a:spcPts val="0"/>
              </a:spcBef>
              <a:spcAft>
                <a:spcPts val="0"/>
              </a:spcAft>
              <a:buClr>
                <a:srgbClr val="3F3F3F"/>
              </a:buClr>
              <a:buSzPts val="3600"/>
              <a:buFont typeface="Calibri"/>
              <a:buNone/>
            </a:pPr>
            <a:r>
              <a:rPr lang="pt-BR"/>
              <a:t>Fine-Tuning: Número de Neurônios por Camada Oculta</a:t>
            </a:r>
            <a:endParaRPr/>
          </a:p>
        </p:txBody>
      </p:sp>
      <p:sp>
        <p:nvSpPr>
          <p:cNvPr id="560" name="Google Shape;560;p78"/>
          <p:cNvSpPr txBox="1"/>
          <p:nvPr>
            <p:ph idx="1" type="body"/>
          </p:nvPr>
        </p:nvSpPr>
        <p:spPr>
          <a:xfrm>
            <a:off x="617220" y="1038225"/>
            <a:ext cx="5658000" cy="2263200"/>
          </a:xfrm>
          <a:prstGeom prst="rect">
            <a:avLst/>
          </a:prstGeom>
          <a:noFill/>
          <a:ln>
            <a:noFill/>
          </a:ln>
        </p:spPr>
        <p:txBody>
          <a:bodyPr anchorCtr="0" anchor="t" bIns="34275" lIns="0" spcFirstLastPara="1" rIns="0" wrap="square" tIns="34275">
            <a:normAutofit lnSpcReduction="20000"/>
          </a:bodyPr>
          <a:lstStyle/>
          <a:p>
            <a:pPr indent="-171450" lvl="0" marL="63500" rtl="0" algn="l">
              <a:lnSpc>
                <a:spcPct val="90000"/>
              </a:lnSpc>
              <a:spcBef>
                <a:spcPts val="0"/>
              </a:spcBef>
              <a:spcAft>
                <a:spcPts val="0"/>
              </a:spcAft>
              <a:buSzPts val="2700"/>
              <a:buChar char="●"/>
            </a:pPr>
            <a:r>
              <a:rPr lang="pt-BR" sz="2700"/>
              <a:t>Modelo Pirâmide</a:t>
            </a:r>
            <a:endParaRPr/>
          </a:p>
          <a:p>
            <a:pPr indent="0" lvl="0" marL="63500" rtl="0" algn="l">
              <a:lnSpc>
                <a:spcPct val="90000"/>
              </a:lnSpc>
              <a:spcBef>
                <a:spcPts val="1100"/>
              </a:spcBef>
              <a:spcAft>
                <a:spcPts val="0"/>
              </a:spcAft>
              <a:buSzPts val="1500"/>
              <a:buNone/>
            </a:pPr>
            <a:r>
              <a:t/>
            </a:r>
            <a:endParaRPr/>
          </a:p>
          <a:p>
            <a:pPr indent="0" lvl="0" marL="63500" rtl="0" algn="l">
              <a:lnSpc>
                <a:spcPct val="90000"/>
              </a:lnSpc>
              <a:spcBef>
                <a:spcPts val="1100"/>
              </a:spcBef>
              <a:spcAft>
                <a:spcPts val="0"/>
              </a:spcAft>
              <a:buSzPts val="1500"/>
              <a:buNone/>
            </a:pPr>
            <a:r>
              <a:t/>
            </a:r>
            <a:endParaRPr/>
          </a:p>
          <a:p>
            <a:pPr indent="0" lvl="0" marL="63500" rtl="0" algn="l">
              <a:lnSpc>
                <a:spcPct val="90000"/>
              </a:lnSpc>
              <a:spcBef>
                <a:spcPts val="1100"/>
              </a:spcBef>
              <a:spcAft>
                <a:spcPts val="0"/>
              </a:spcAft>
              <a:buSzPts val="1500"/>
              <a:buNone/>
            </a:pPr>
            <a:r>
              <a:t/>
            </a:r>
            <a:endParaRPr/>
          </a:p>
          <a:p>
            <a:pPr indent="0" lvl="0" marL="63500" rtl="0" algn="l">
              <a:lnSpc>
                <a:spcPct val="90000"/>
              </a:lnSpc>
              <a:spcBef>
                <a:spcPts val="1100"/>
              </a:spcBef>
              <a:spcAft>
                <a:spcPts val="0"/>
              </a:spcAft>
              <a:buSzPts val="1500"/>
              <a:buNone/>
            </a:pPr>
            <a:r>
              <a:t/>
            </a:r>
            <a:endParaRPr/>
          </a:p>
          <a:p>
            <a:pPr indent="-171450" lvl="0" marL="63500" rtl="0" algn="l">
              <a:lnSpc>
                <a:spcPct val="90000"/>
              </a:lnSpc>
              <a:spcBef>
                <a:spcPts val="1100"/>
              </a:spcBef>
              <a:spcAft>
                <a:spcPts val="0"/>
              </a:spcAft>
              <a:buSzPts val="2700"/>
              <a:buChar char="●"/>
            </a:pPr>
            <a:r>
              <a:rPr lang="pt-BR" sz="2700"/>
              <a:t>Mesma quantidade de neurônios</a:t>
            </a:r>
            <a:endParaRPr/>
          </a:p>
        </p:txBody>
      </p:sp>
      <p:pic>
        <p:nvPicPr>
          <p:cNvPr id="561" name="Google Shape;561;p78"/>
          <p:cNvPicPr preferRelativeResize="0"/>
          <p:nvPr/>
        </p:nvPicPr>
        <p:blipFill rotWithShape="1">
          <a:blip r:embed="rId4">
            <a:alphaModFix/>
          </a:blip>
          <a:srcRect b="0" l="0" r="0" t="0"/>
          <a:stretch/>
        </p:blipFill>
        <p:spPr>
          <a:xfrm>
            <a:off x="4374338" y="1128023"/>
            <a:ext cx="1357312" cy="1357312"/>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p79"/>
          <p:cNvSpPr txBox="1"/>
          <p:nvPr>
            <p:ph type="title"/>
          </p:nvPr>
        </p:nvSpPr>
        <p:spPr>
          <a:xfrm>
            <a:off x="617220" y="161214"/>
            <a:ext cx="5658000" cy="816000"/>
          </a:xfrm>
          <a:prstGeom prst="rect">
            <a:avLst/>
          </a:prstGeom>
          <a:noFill/>
          <a:ln>
            <a:noFill/>
          </a:ln>
        </p:spPr>
        <p:txBody>
          <a:bodyPr anchorCtr="0" anchor="b" bIns="34275" lIns="68575" spcFirstLastPara="1" rIns="68575" wrap="square" tIns="34275">
            <a:normAutofit/>
          </a:bodyPr>
          <a:lstStyle/>
          <a:p>
            <a:pPr indent="0" lvl="0" marL="0" rtl="0" algn="l">
              <a:lnSpc>
                <a:spcPct val="85000"/>
              </a:lnSpc>
              <a:spcBef>
                <a:spcPts val="0"/>
              </a:spcBef>
              <a:spcAft>
                <a:spcPts val="0"/>
              </a:spcAft>
              <a:buClr>
                <a:srgbClr val="3F3F3F"/>
              </a:buClr>
              <a:buSzPts val="3600"/>
              <a:buFont typeface="Calibri"/>
              <a:buNone/>
            </a:pPr>
            <a:r>
              <a:rPr lang="pt-BR"/>
              <a:t>Fine-Tuning NN Hyperparameters</a:t>
            </a:r>
            <a:endParaRPr/>
          </a:p>
        </p:txBody>
      </p:sp>
      <p:sp>
        <p:nvSpPr>
          <p:cNvPr id="567" name="Google Shape;567;p79"/>
          <p:cNvSpPr txBox="1"/>
          <p:nvPr>
            <p:ph idx="1" type="body"/>
          </p:nvPr>
        </p:nvSpPr>
        <p:spPr>
          <a:xfrm>
            <a:off x="617220" y="1038225"/>
            <a:ext cx="5658000" cy="2263200"/>
          </a:xfrm>
          <a:prstGeom prst="rect">
            <a:avLst/>
          </a:prstGeom>
          <a:noFill/>
          <a:ln>
            <a:noFill/>
          </a:ln>
        </p:spPr>
        <p:txBody>
          <a:bodyPr anchorCtr="0" anchor="t" bIns="34275" lIns="0" spcFirstLastPara="1" rIns="0" wrap="square" tIns="34275">
            <a:normAutofit/>
          </a:bodyPr>
          <a:lstStyle/>
          <a:p>
            <a:pPr indent="0" lvl="0" marL="63500" rtl="0" algn="l">
              <a:lnSpc>
                <a:spcPct val="90000"/>
              </a:lnSpc>
              <a:spcBef>
                <a:spcPts val="0"/>
              </a:spcBef>
              <a:spcAft>
                <a:spcPts val="0"/>
              </a:spcAft>
              <a:buSzPts val="1500"/>
              <a:buNone/>
            </a:pPr>
            <a:r>
              <a:t/>
            </a:r>
            <a:endParaRPr/>
          </a:p>
        </p:txBody>
      </p:sp>
      <p:pic>
        <p:nvPicPr>
          <p:cNvPr id="568" name="Google Shape;568;p79"/>
          <p:cNvPicPr preferRelativeResize="0"/>
          <p:nvPr/>
        </p:nvPicPr>
        <p:blipFill rotWithShape="1">
          <a:blip r:embed="rId3">
            <a:alphaModFix/>
          </a:blip>
          <a:srcRect b="0" l="0" r="0" t="0"/>
          <a:stretch/>
        </p:blipFill>
        <p:spPr>
          <a:xfrm>
            <a:off x="0" y="1908176"/>
            <a:ext cx="9144000" cy="3176588"/>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80"/>
          <p:cNvSpPr txBox="1"/>
          <p:nvPr>
            <p:ph type="title"/>
          </p:nvPr>
        </p:nvSpPr>
        <p:spPr>
          <a:xfrm>
            <a:off x="617220" y="161214"/>
            <a:ext cx="5658000" cy="816000"/>
          </a:xfrm>
          <a:prstGeom prst="rect">
            <a:avLst/>
          </a:prstGeom>
          <a:noFill/>
          <a:ln>
            <a:noFill/>
          </a:ln>
        </p:spPr>
        <p:txBody>
          <a:bodyPr anchorCtr="0" anchor="b" bIns="34275" lIns="68575" spcFirstLastPara="1" rIns="68575" wrap="square" tIns="34275">
            <a:normAutofit/>
          </a:bodyPr>
          <a:lstStyle/>
          <a:p>
            <a:pPr indent="0" lvl="0" marL="0" rtl="0" algn="l">
              <a:lnSpc>
                <a:spcPct val="85000"/>
              </a:lnSpc>
              <a:spcBef>
                <a:spcPts val="0"/>
              </a:spcBef>
              <a:spcAft>
                <a:spcPts val="0"/>
              </a:spcAft>
              <a:buClr>
                <a:srgbClr val="3F3F3F"/>
              </a:buClr>
              <a:buSzPts val="3600"/>
              <a:buFont typeface="Calibri"/>
              <a:buNone/>
            </a:pPr>
            <a:r>
              <a:rPr lang="pt-BR"/>
              <a:t>Fine-Tuning NN Hyperparameters</a:t>
            </a:r>
            <a:endParaRPr/>
          </a:p>
        </p:txBody>
      </p:sp>
      <p:sp>
        <p:nvSpPr>
          <p:cNvPr id="574" name="Google Shape;574;p80"/>
          <p:cNvSpPr txBox="1"/>
          <p:nvPr>
            <p:ph idx="1" type="body"/>
          </p:nvPr>
        </p:nvSpPr>
        <p:spPr>
          <a:xfrm>
            <a:off x="617220" y="1038225"/>
            <a:ext cx="5658000" cy="2263200"/>
          </a:xfrm>
          <a:prstGeom prst="rect">
            <a:avLst/>
          </a:prstGeom>
          <a:noFill/>
          <a:ln>
            <a:noFill/>
          </a:ln>
        </p:spPr>
        <p:txBody>
          <a:bodyPr anchorCtr="0" anchor="t" bIns="34275" lIns="0" spcFirstLastPara="1" rIns="0" wrap="square" tIns="34275">
            <a:normAutofit/>
          </a:bodyPr>
          <a:lstStyle/>
          <a:p>
            <a:pPr indent="0" lvl="0" marL="63500" rtl="0" algn="l">
              <a:lnSpc>
                <a:spcPct val="90000"/>
              </a:lnSpc>
              <a:spcBef>
                <a:spcPts val="0"/>
              </a:spcBef>
              <a:spcAft>
                <a:spcPts val="0"/>
              </a:spcAft>
              <a:buSzPts val="1500"/>
              <a:buNone/>
            </a:pPr>
            <a:r>
              <a:t/>
            </a:r>
            <a:endParaRPr/>
          </a:p>
        </p:txBody>
      </p:sp>
      <p:pic>
        <p:nvPicPr>
          <p:cNvPr descr="A closer look at AI: neural networks and deep learning" id="575" name="Google Shape;575;p80"/>
          <p:cNvPicPr preferRelativeResize="0"/>
          <p:nvPr/>
        </p:nvPicPr>
        <p:blipFill rotWithShape="1">
          <a:blip r:embed="rId3">
            <a:alphaModFix/>
          </a:blip>
          <a:srcRect b="19671" l="0" r="0" t="18722"/>
          <a:stretch/>
        </p:blipFill>
        <p:spPr>
          <a:xfrm>
            <a:off x="1343025" y="1578610"/>
            <a:ext cx="5929312" cy="2628898"/>
          </a:xfrm>
          <a:prstGeom prst="rect">
            <a:avLst/>
          </a:prstGeom>
          <a:noFill/>
          <a:ln>
            <a:noFill/>
          </a:ln>
        </p:spPr>
      </p:pic>
      <p:sp>
        <p:nvSpPr>
          <p:cNvPr id="576" name="Google Shape;576;p80"/>
          <p:cNvSpPr/>
          <p:nvPr/>
        </p:nvSpPr>
        <p:spPr>
          <a:xfrm>
            <a:off x="248602" y="2114550"/>
            <a:ext cx="1509000" cy="871800"/>
          </a:xfrm>
          <a:prstGeom prst="wedgeRoundRectCallout">
            <a:avLst>
              <a:gd fmla="val 169109" name="adj1"/>
              <a:gd fmla="val -84119" name="adj2"/>
              <a:gd fmla="val 16667" name="adj3"/>
            </a:avLst>
          </a:prstGeom>
          <a:solidFill>
            <a:schemeClr val="lt1"/>
          </a:solidFill>
          <a:ln cap="flat"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pt-BR" sz="2100">
                <a:solidFill>
                  <a:schemeClr val="dk1"/>
                </a:solidFill>
                <a:latin typeface="Calibri"/>
                <a:ea typeface="Calibri"/>
                <a:cs typeface="Calibri"/>
                <a:sym typeface="Calibri"/>
              </a:rPr>
              <a:t>Camadas Ocultas</a:t>
            </a:r>
            <a:endParaRPr sz="1100"/>
          </a:p>
        </p:txBody>
      </p:sp>
      <p:sp>
        <p:nvSpPr>
          <p:cNvPr id="577" name="Google Shape;577;p80"/>
          <p:cNvSpPr/>
          <p:nvPr/>
        </p:nvSpPr>
        <p:spPr>
          <a:xfrm>
            <a:off x="100013" y="3797618"/>
            <a:ext cx="1752900" cy="871800"/>
          </a:xfrm>
          <a:prstGeom prst="wedgeRoundRectCallout">
            <a:avLst>
              <a:gd fmla="val 214563" name="adj1"/>
              <a:gd fmla="val -75923" name="adj2"/>
              <a:gd fmla="val 16667" name="adj3"/>
            </a:avLst>
          </a:prstGeom>
          <a:solidFill>
            <a:schemeClr val="lt1"/>
          </a:solidFill>
          <a:ln cap="flat"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pt-BR" sz="2100">
                <a:solidFill>
                  <a:schemeClr val="dk1"/>
                </a:solidFill>
                <a:latin typeface="Calibri"/>
                <a:ea typeface="Calibri"/>
                <a:cs typeface="Calibri"/>
                <a:sym typeface="Calibri"/>
              </a:rPr>
              <a:t>Neurônios por Camada</a:t>
            </a:r>
            <a:endParaRPr sz="1100"/>
          </a:p>
        </p:txBody>
      </p:sp>
      <p:sp>
        <p:nvSpPr>
          <p:cNvPr id="578" name="Google Shape;578;p80"/>
          <p:cNvSpPr/>
          <p:nvPr/>
        </p:nvSpPr>
        <p:spPr>
          <a:xfrm>
            <a:off x="4692374" y="4266089"/>
            <a:ext cx="1752900" cy="871800"/>
          </a:xfrm>
          <a:prstGeom prst="wedgeRoundRectCallout">
            <a:avLst>
              <a:gd fmla="val -32381" name="adj1"/>
              <a:gd fmla="val -133300" name="adj2"/>
              <a:gd fmla="val 16667" name="adj3"/>
            </a:avLst>
          </a:prstGeom>
          <a:solidFill>
            <a:schemeClr val="lt1"/>
          </a:solidFill>
          <a:ln cap="flat"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pt-BR" sz="2100">
                <a:solidFill>
                  <a:schemeClr val="dk1"/>
                </a:solidFill>
                <a:latin typeface="Calibri"/>
                <a:ea typeface="Calibri"/>
                <a:cs typeface="Calibri"/>
                <a:sym typeface="Calibri"/>
              </a:rPr>
              <a:t>Taxa de aprendizado</a:t>
            </a:r>
            <a:endParaRPr sz="1100"/>
          </a:p>
        </p:txBody>
      </p:sp>
      <p:sp>
        <p:nvSpPr>
          <p:cNvPr id="579" name="Google Shape;579;p80"/>
          <p:cNvSpPr/>
          <p:nvPr/>
        </p:nvSpPr>
        <p:spPr>
          <a:xfrm>
            <a:off x="7133749" y="2658746"/>
            <a:ext cx="1752900" cy="871800"/>
          </a:xfrm>
          <a:prstGeom prst="wedgeRoundRectCallout">
            <a:avLst>
              <a:gd fmla="val -289104" name="adj1"/>
              <a:gd fmla="val -25103" name="adj2"/>
              <a:gd fmla="val 16667" name="adj3"/>
            </a:avLst>
          </a:prstGeom>
          <a:solidFill>
            <a:schemeClr val="lt1"/>
          </a:solidFill>
          <a:ln cap="flat"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pt-BR" sz="2100">
                <a:solidFill>
                  <a:schemeClr val="dk1"/>
                </a:solidFill>
                <a:latin typeface="Calibri"/>
                <a:ea typeface="Calibri"/>
                <a:cs typeface="Calibri"/>
                <a:sym typeface="Calibri"/>
              </a:rPr>
              <a:t>Tamanho do Batch </a:t>
            </a:r>
            <a:endParaRPr sz="1100"/>
          </a:p>
        </p:txBody>
      </p:sp>
      <p:sp>
        <p:nvSpPr>
          <p:cNvPr id="580" name="Google Shape;580;p80"/>
          <p:cNvSpPr/>
          <p:nvPr/>
        </p:nvSpPr>
        <p:spPr>
          <a:xfrm>
            <a:off x="7272338" y="1061561"/>
            <a:ext cx="1752900" cy="871800"/>
          </a:xfrm>
          <a:prstGeom prst="wedgeRoundRectCallout">
            <a:avLst>
              <a:gd fmla="val -182340" name="adj1"/>
              <a:gd fmla="val 71619" name="adj2"/>
              <a:gd fmla="val 16667" name="adj3"/>
            </a:avLst>
          </a:prstGeom>
          <a:solidFill>
            <a:schemeClr val="lt1"/>
          </a:solidFill>
          <a:ln cap="flat"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pt-BR" sz="2100">
                <a:solidFill>
                  <a:schemeClr val="dk1"/>
                </a:solidFill>
                <a:latin typeface="Calibri"/>
                <a:ea typeface="Calibri"/>
                <a:cs typeface="Calibri"/>
                <a:sym typeface="Calibri"/>
              </a:rPr>
              <a:t>Otimizador</a:t>
            </a:r>
            <a:endParaRPr sz="1100"/>
          </a:p>
        </p:txBody>
      </p:sp>
      <p:sp>
        <p:nvSpPr>
          <p:cNvPr id="581" name="Google Shape;581;p80"/>
          <p:cNvSpPr/>
          <p:nvPr/>
        </p:nvSpPr>
        <p:spPr>
          <a:xfrm>
            <a:off x="2645687" y="4233386"/>
            <a:ext cx="1752900" cy="871800"/>
          </a:xfrm>
          <a:prstGeom prst="wedgeRoundRectCallout">
            <a:avLst>
              <a:gd fmla="val 74384" name="adj1"/>
              <a:gd fmla="val -126742" name="adj2"/>
              <a:gd fmla="val 16667" name="adj3"/>
            </a:avLst>
          </a:prstGeom>
          <a:solidFill>
            <a:schemeClr val="lt1"/>
          </a:solidFill>
          <a:ln cap="flat" cmpd="sng" w="1587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pt-BR" sz="2100">
                <a:solidFill>
                  <a:schemeClr val="dk1"/>
                </a:solidFill>
                <a:latin typeface="Calibri"/>
                <a:ea typeface="Calibri"/>
                <a:cs typeface="Calibri"/>
                <a:sym typeface="Calibri"/>
              </a:rPr>
              <a:t>Função de Ativação</a:t>
            </a:r>
            <a:endParaRPr sz="11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81"/>
          <p:cNvSpPr txBox="1"/>
          <p:nvPr>
            <p:ph type="title"/>
          </p:nvPr>
        </p:nvSpPr>
        <p:spPr>
          <a:xfrm>
            <a:off x="617220" y="161214"/>
            <a:ext cx="5658000" cy="816000"/>
          </a:xfrm>
          <a:prstGeom prst="rect">
            <a:avLst/>
          </a:prstGeom>
          <a:noFill/>
          <a:ln>
            <a:noFill/>
          </a:ln>
        </p:spPr>
        <p:txBody>
          <a:bodyPr anchorCtr="0" anchor="b" bIns="34275" lIns="68575" spcFirstLastPara="1" rIns="68575" wrap="square" tIns="34275">
            <a:normAutofit/>
          </a:bodyPr>
          <a:lstStyle/>
          <a:p>
            <a:pPr indent="0" lvl="0" marL="0" rtl="0" algn="l">
              <a:lnSpc>
                <a:spcPct val="85000"/>
              </a:lnSpc>
              <a:spcBef>
                <a:spcPts val="0"/>
              </a:spcBef>
              <a:spcAft>
                <a:spcPts val="0"/>
              </a:spcAft>
              <a:buClr>
                <a:srgbClr val="3F3F3F"/>
              </a:buClr>
              <a:buSzPts val="3600"/>
              <a:buFont typeface="Calibri"/>
              <a:buNone/>
            </a:pPr>
            <a:r>
              <a:rPr lang="pt-BR"/>
              <a:t>Fine-Tuning: Teste</a:t>
            </a:r>
            <a:endParaRPr/>
          </a:p>
        </p:txBody>
      </p:sp>
      <p:sp>
        <p:nvSpPr>
          <p:cNvPr id="587" name="Google Shape;587;p81"/>
          <p:cNvSpPr/>
          <p:nvPr/>
        </p:nvSpPr>
        <p:spPr>
          <a:xfrm>
            <a:off x="1133475" y="1809750"/>
            <a:ext cx="1638300" cy="2391000"/>
          </a:xfrm>
          <a:prstGeom prst="can">
            <a:avLst>
              <a:gd fmla="val 25000" name="adj"/>
            </a:avLst>
          </a:prstGeom>
          <a:solidFill>
            <a:schemeClr val="accent1"/>
          </a:solidFill>
          <a:ln cap="flat" cmpd="sng" w="15875">
            <a:solidFill>
              <a:srgbClr val="147EA6"/>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pt-BR" sz="2100">
                <a:solidFill>
                  <a:schemeClr val="lt1"/>
                </a:solidFill>
                <a:latin typeface="Calibri"/>
                <a:ea typeface="Calibri"/>
                <a:cs typeface="Calibri"/>
                <a:sym typeface="Calibri"/>
              </a:rPr>
              <a:t>Dataset</a:t>
            </a:r>
            <a:endParaRPr sz="2100">
              <a:solidFill>
                <a:schemeClr val="lt1"/>
              </a:solidFill>
              <a:latin typeface="Calibri"/>
              <a:ea typeface="Calibri"/>
              <a:cs typeface="Calibri"/>
              <a:sym typeface="Calibri"/>
            </a:endParaRPr>
          </a:p>
        </p:txBody>
      </p:sp>
      <p:sp>
        <p:nvSpPr>
          <p:cNvPr id="588" name="Google Shape;588;p81"/>
          <p:cNvSpPr/>
          <p:nvPr/>
        </p:nvSpPr>
        <p:spPr>
          <a:xfrm>
            <a:off x="2956560" y="1828800"/>
            <a:ext cx="1638300" cy="1333500"/>
          </a:xfrm>
          <a:prstGeom prst="can">
            <a:avLst>
              <a:gd fmla="val 25000" name="adj"/>
            </a:avLst>
          </a:prstGeom>
          <a:solidFill>
            <a:schemeClr val="accent5"/>
          </a:solidFill>
          <a:ln cap="flat" cmpd="sng" w="15875">
            <a:solidFill>
              <a:srgbClr val="147EA6"/>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pt-BR" sz="2100">
                <a:solidFill>
                  <a:schemeClr val="lt1"/>
                </a:solidFill>
                <a:latin typeface="Calibri"/>
                <a:ea typeface="Calibri"/>
                <a:cs typeface="Calibri"/>
                <a:sym typeface="Calibri"/>
              </a:rPr>
              <a:t>60% Treino</a:t>
            </a:r>
            <a:endParaRPr sz="1100"/>
          </a:p>
        </p:txBody>
      </p:sp>
      <p:sp>
        <p:nvSpPr>
          <p:cNvPr id="589" name="Google Shape;589;p81"/>
          <p:cNvSpPr/>
          <p:nvPr/>
        </p:nvSpPr>
        <p:spPr>
          <a:xfrm>
            <a:off x="3023235" y="3248025"/>
            <a:ext cx="1638300" cy="592500"/>
          </a:xfrm>
          <a:prstGeom prst="can">
            <a:avLst>
              <a:gd fmla="val 25000" name="adj"/>
            </a:avLst>
          </a:prstGeom>
          <a:solidFill>
            <a:srgbClr val="A5A5A5"/>
          </a:solidFill>
          <a:ln cap="flat" cmpd="sng" w="15875">
            <a:solidFill>
              <a:srgbClr val="147EA6"/>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pt-BR" sz="2000">
                <a:solidFill>
                  <a:schemeClr val="lt1"/>
                </a:solidFill>
                <a:latin typeface="Calibri"/>
                <a:ea typeface="Calibri"/>
                <a:cs typeface="Calibri"/>
                <a:sym typeface="Calibri"/>
              </a:rPr>
              <a:t>20% Validação</a:t>
            </a:r>
            <a:endParaRPr sz="1000"/>
          </a:p>
        </p:txBody>
      </p:sp>
      <p:sp>
        <p:nvSpPr>
          <p:cNvPr id="590" name="Google Shape;590;p81"/>
          <p:cNvSpPr/>
          <p:nvPr/>
        </p:nvSpPr>
        <p:spPr>
          <a:xfrm>
            <a:off x="3023235" y="4038600"/>
            <a:ext cx="1638300" cy="592500"/>
          </a:xfrm>
          <a:prstGeom prst="can">
            <a:avLst>
              <a:gd fmla="val 25000" name="adj"/>
            </a:avLst>
          </a:prstGeom>
          <a:solidFill>
            <a:srgbClr val="FF0000"/>
          </a:solidFill>
          <a:ln cap="flat" cmpd="sng" w="15875">
            <a:solidFill>
              <a:srgbClr val="147EA6"/>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pt-BR" sz="2100">
                <a:solidFill>
                  <a:schemeClr val="lt1"/>
                </a:solidFill>
                <a:latin typeface="Calibri"/>
                <a:ea typeface="Calibri"/>
                <a:cs typeface="Calibri"/>
                <a:sym typeface="Calibri"/>
              </a:rPr>
              <a:t>20% Teste</a:t>
            </a:r>
            <a:endParaRPr sz="11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9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p82"/>
          <p:cNvSpPr txBox="1"/>
          <p:nvPr>
            <p:ph type="title"/>
          </p:nvPr>
        </p:nvSpPr>
        <p:spPr>
          <a:xfrm>
            <a:off x="617220" y="161214"/>
            <a:ext cx="5658000" cy="816000"/>
          </a:xfrm>
          <a:prstGeom prst="rect">
            <a:avLst/>
          </a:prstGeom>
          <a:noFill/>
          <a:ln>
            <a:noFill/>
          </a:ln>
        </p:spPr>
        <p:txBody>
          <a:bodyPr anchorCtr="0" anchor="b" bIns="34275" lIns="68575" spcFirstLastPara="1" rIns="68575" wrap="square" tIns="34275">
            <a:normAutofit/>
          </a:bodyPr>
          <a:lstStyle/>
          <a:p>
            <a:pPr indent="0" lvl="0" marL="0" rtl="0" algn="l">
              <a:lnSpc>
                <a:spcPct val="85000"/>
              </a:lnSpc>
              <a:spcBef>
                <a:spcPts val="0"/>
              </a:spcBef>
              <a:spcAft>
                <a:spcPts val="0"/>
              </a:spcAft>
              <a:buClr>
                <a:srgbClr val="3F3F3F"/>
              </a:buClr>
              <a:buSzPts val="3600"/>
              <a:buFont typeface="Calibri"/>
              <a:buNone/>
            </a:pPr>
            <a:r>
              <a:rPr lang="pt-BR"/>
              <a:t>Fine-Tuning: 5-Fold CrossValidation</a:t>
            </a:r>
            <a:endParaRPr/>
          </a:p>
        </p:txBody>
      </p:sp>
      <p:sp>
        <p:nvSpPr>
          <p:cNvPr id="596" name="Google Shape;596;p82"/>
          <p:cNvSpPr/>
          <p:nvPr/>
        </p:nvSpPr>
        <p:spPr>
          <a:xfrm>
            <a:off x="-10715" y="1752600"/>
            <a:ext cx="1638300" cy="2391000"/>
          </a:xfrm>
          <a:prstGeom prst="can">
            <a:avLst>
              <a:gd fmla="val 25000" name="adj"/>
            </a:avLst>
          </a:prstGeom>
          <a:solidFill>
            <a:schemeClr val="accent1"/>
          </a:solidFill>
          <a:ln cap="flat" cmpd="sng" w="15875">
            <a:solidFill>
              <a:srgbClr val="147EA6"/>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pt-BR" sz="2100">
                <a:solidFill>
                  <a:schemeClr val="lt1"/>
                </a:solidFill>
                <a:latin typeface="Calibri"/>
                <a:ea typeface="Calibri"/>
                <a:cs typeface="Calibri"/>
                <a:sym typeface="Calibri"/>
              </a:rPr>
              <a:t>Dataset</a:t>
            </a:r>
            <a:endParaRPr sz="2100">
              <a:solidFill>
                <a:schemeClr val="lt1"/>
              </a:solidFill>
              <a:latin typeface="Calibri"/>
              <a:ea typeface="Calibri"/>
              <a:cs typeface="Calibri"/>
              <a:sym typeface="Calibri"/>
            </a:endParaRPr>
          </a:p>
        </p:txBody>
      </p:sp>
      <p:sp>
        <p:nvSpPr>
          <p:cNvPr id="597" name="Google Shape;597;p82"/>
          <p:cNvSpPr/>
          <p:nvPr/>
        </p:nvSpPr>
        <p:spPr>
          <a:xfrm>
            <a:off x="1789510" y="1522094"/>
            <a:ext cx="1727700" cy="592500"/>
          </a:xfrm>
          <a:prstGeom prst="can">
            <a:avLst>
              <a:gd fmla="val 25000" name="adj"/>
            </a:avLst>
          </a:prstGeom>
          <a:solidFill>
            <a:srgbClr val="A5A5A5"/>
          </a:solidFill>
          <a:ln cap="flat" cmpd="sng" w="15875">
            <a:solidFill>
              <a:srgbClr val="147EA6"/>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pt-BR" sz="2100">
                <a:solidFill>
                  <a:schemeClr val="lt1"/>
                </a:solidFill>
                <a:latin typeface="Calibri"/>
                <a:ea typeface="Calibri"/>
                <a:cs typeface="Calibri"/>
                <a:sym typeface="Calibri"/>
              </a:rPr>
              <a:t>Parte 1 -20%</a:t>
            </a:r>
            <a:endParaRPr sz="1100"/>
          </a:p>
        </p:txBody>
      </p:sp>
      <p:sp>
        <p:nvSpPr>
          <p:cNvPr id="598" name="Google Shape;598;p82"/>
          <p:cNvSpPr/>
          <p:nvPr/>
        </p:nvSpPr>
        <p:spPr>
          <a:xfrm>
            <a:off x="1789510" y="2204084"/>
            <a:ext cx="1727700" cy="592500"/>
          </a:xfrm>
          <a:prstGeom prst="can">
            <a:avLst>
              <a:gd fmla="val 25000" name="adj"/>
            </a:avLst>
          </a:prstGeom>
          <a:solidFill>
            <a:srgbClr val="A5A5A5"/>
          </a:solidFill>
          <a:ln cap="flat" cmpd="sng" w="15875">
            <a:solidFill>
              <a:srgbClr val="147EA6"/>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pt-BR" sz="2100">
                <a:solidFill>
                  <a:schemeClr val="lt1"/>
                </a:solidFill>
                <a:latin typeface="Calibri"/>
                <a:ea typeface="Calibri"/>
                <a:cs typeface="Calibri"/>
                <a:sym typeface="Calibri"/>
              </a:rPr>
              <a:t>Parte 2 -20%</a:t>
            </a:r>
            <a:endParaRPr sz="1100"/>
          </a:p>
        </p:txBody>
      </p:sp>
      <p:sp>
        <p:nvSpPr>
          <p:cNvPr id="599" name="Google Shape;599;p82"/>
          <p:cNvSpPr/>
          <p:nvPr/>
        </p:nvSpPr>
        <p:spPr>
          <a:xfrm>
            <a:off x="1789510" y="2853689"/>
            <a:ext cx="1727700" cy="592500"/>
          </a:xfrm>
          <a:prstGeom prst="can">
            <a:avLst>
              <a:gd fmla="val 25000" name="adj"/>
            </a:avLst>
          </a:prstGeom>
          <a:solidFill>
            <a:srgbClr val="A5A5A5"/>
          </a:solidFill>
          <a:ln cap="flat" cmpd="sng" w="15875">
            <a:solidFill>
              <a:srgbClr val="147EA6"/>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pt-BR" sz="2100">
                <a:solidFill>
                  <a:schemeClr val="lt1"/>
                </a:solidFill>
                <a:latin typeface="Calibri"/>
                <a:ea typeface="Calibri"/>
                <a:cs typeface="Calibri"/>
                <a:sym typeface="Calibri"/>
              </a:rPr>
              <a:t>Parte 3 -20%</a:t>
            </a:r>
            <a:endParaRPr sz="1100"/>
          </a:p>
        </p:txBody>
      </p:sp>
      <p:sp>
        <p:nvSpPr>
          <p:cNvPr id="600" name="Google Shape;600;p82"/>
          <p:cNvSpPr/>
          <p:nvPr/>
        </p:nvSpPr>
        <p:spPr>
          <a:xfrm>
            <a:off x="1789510" y="3509009"/>
            <a:ext cx="1727700" cy="592500"/>
          </a:xfrm>
          <a:prstGeom prst="can">
            <a:avLst>
              <a:gd fmla="val 25000" name="adj"/>
            </a:avLst>
          </a:prstGeom>
          <a:solidFill>
            <a:srgbClr val="A5A5A5"/>
          </a:solidFill>
          <a:ln cap="flat" cmpd="sng" w="15875">
            <a:solidFill>
              <a:srgbClr val="147EA6"/>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pt-BR" sz="2100">
                <a:solidFill>
                  <a:schemeClr val="lt1"/>
                </a:solidFill>
                <a:latin typeface="Calibri"/>
                <a:ea typeface="Calibri"/>
                <a:cs typeface="Calibri"/>
                <a:sym typeface="Calibri"/>
              </a:rPr>
              <a:t>Parte 4 -20%</a:t>
            </a:r>
            <a:endParaRPr sz="1100"/>
          </a:p>
        </p:txBody>
      </p:sp>
      <p:sp>
        <p:nvSpPr>
          <p:cNvPr id="601" name="Google Shape;601;p82"/>
          <p:cNvSpPr/>
          <p:nvPr/>
        </p:nvSpPr>
        <p:spPr>
          <a:xfrm>
            <a:off x="1789510" y="4143375"/>
            <a:ext cx="1727700" cy="592500"/>
          </a:xfrm>
          <a:prstGeom prst="can">
            <a:avLst>
              <a:gd fmla="val 25000" name="adj"/>
            </a:avLst>
          </a:prstGeom>
          <a:solidFill>
            <a:srgbClr val="A5A5A5"/>
          </a:solidFill>
          <a:ln cap="flat" cmpd="sng" w="15875">
            <a:solidFill>
              <a:srgbClr val="147EA6"/>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pt-BR" sz="2100">
                <a:solidFill>
                  <a:schemeClr val="lt1"/>
                </a:solidFill>
                <a:latin typeface="Calibri"/>
                <a:ea typeface="Calibri"/>
                <a:cs typeface="Calibri"/>
                <a:sym typeface="Calibri"/>
              </a:rPr>
              <a:t>Parte 5 -20%</a:t>
            </a:r>
            <a:endParaRPr sz="1100"/>
          </a:p>
        </p:txBody>
      </p:sp>
      <p:sp>
        <p:nvSpPr>
          <p:cNvPr id="602" name="Google Shape;602;p82"/>
          <p:cNvSpPr txBox="1"/>
          <p:nvPr/>
        </p:nvSpPr>
        <p:spPr>
          <a:xfrm>
            <a:off x="4276725" y="1522094"/>
            <a:ext cx="6666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pt-BR" sz="1400">
                <a:solidFill>
                  <a:schemeClr val="dk1"/>
                </a:solidFill>
                <a:latin typeface="Calibri"/>
                <a:ea typeface="Calibri"/>
                <a:cs typeface="Calibri"/>
                <a:sym typeface="Calibri"/>
              </a:rPr>
              <a:t>FOLD 1</a:t>
            </a:r>
            <a:endParaRPr sz="1100"/>
          </a:p>
        </p:txBody>
      </p:sp>
      <p:sp>
        <p:nvSpPr>
          <p:cNvPr id="603" name="Google Shape;603;p82"/>
          <p:cNvSpPr txBox="1"/>
          <p:nvPr/>
        </p:nvSpPr>
        <p:spPr>
          <a:xfrm>
            <a:off x="5284946" y="1513701"/>
            <a:ext cx="6666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pt-BR" sz="1400">
                <a:solidFill>
                  <a:schemeClr val="dk1"/>
                </a:solidFill>
                <a:latin typeface="Calibri"/>
                <a:ea typeface="Calibri"/>
                <a:cs typeface="Calibri"/>
                <a:sym typeface="Calibri"/>
              </a:rPr>
              <a:t>FOLD 2</a:t>
            </a:r>
            <a:endParaRPr sz="1100"/>
          </a:p>
        </p:txBody>
      </p:sp>
      <p:sp>
        <p:nvSpPr>
          <p:cNvPr id="604" name="Google Shape;604;p82"/>
          <p:cNvSpPr txBox="1"/>
          <p:nvPr/>
        </p:nvSpPr>
        <p:spPr>
          <a:xfrm>
            <a:off x="6293168" y="1513701"/>
            <a:ext cx="6666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pt-BR" sz="1400">
                <a:solidFill>
                  <a:schemeClr val="dk1"/>
                </a:solidFill>
                <a:latin typeface="Calibri"/>
                <a:ea typeface="Calibri"/>
                <a:cs typeface="Calibri"/>
                <a:sym typeface="Calibri"/>
              </a:rPr>
              <a:t>FOLD 3</a:t>
            </a:r>
            <a:endParaRPr sz="1100"/>
          </a:p>
        </p:txBody>
      </p:sp>
      <p:sp>
        <p:nvSpPr>
          <p:cNvPr id="605" name="Google Shape;605;p82"/>
          <p:cNvSpPr txBox="1"/>
          <p:nvPr/>
        </p:nvSpPr>
        <p:spPr>
          <a:xfrm>
            <a:off x="7301389" y="1513701"/>
            <a:ext cx="6666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pt-BR" sz="1400">
                <a:solidFill>
                  <a:schemeClr val="dk1"/>
                </a:solidFill>
                <a:latin typeface="Calibri"/>
                <a:ea typeface="Calibri"/>
                <a:cs typeface="Calibri"/>
                <a:sym typeface="Calibri"/>
              </a:rPr>
              <a:t>FOLD 4</a:t>
            </a:r>
            <a:endParaRPr sz="1100"/>
          </a:p>
        </p:txBody>
      </p:sp>
      <p:sp>
        <p:nvSpPr>
          <p:cNvPr id="606" name="Google Shape;606;p82"/>
          <p:cNvSpPr txBox="1"/>
          <p:nvPr/>
        </p:nvSpPr>
        <p:spPr>
          <a:xfrm>
            <a:off x="8296275" y="1513701"/>
            <a:ext cx="6666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pt-BR" sz="1400">
                <a:solidFill>
                  <a:schemeClr val="dk1"/>
                </a:solidFill>
                <a:latin typeface="Calibri"/>
                <a:ea typeface="Calibri"/>
                <a:cs typeface="Calibri"/>
                <a:sym typeface="Calibri"/>
              </a:rPr>
              <a:t>FOLD 5</a:t>
            </a:r>
            <a:endParaRPr sz="1100"/>
          </a:p>
        </p:txBody>
      </p:sp>
      <p:sp>
        <p:nvSpPr>
          <p:cNvPr id="607" name="Google Shape;607;p82"/>
          <p:cNvSpPr/>
          <p:nvPr/>
        </p:nvSpPr>
        <p:spPr>
          <a:xfrm>
            <a:off x="4278154" y="3359963"/>
            <a:ext cx="587700" cy="399300"/>
          </a:xfrm>
          <a:prstGeom prst="can">
            <a:avLst>
              <a:gd fmla="val 25000" name="adj"/>
            </a:avLst>
          </a:prstGeom>
          <a:solidFill>
            <a:srgbClr val="A5A5A5"/>
          </a:solidFill>
          <a:ln cap="flat" cmpd="sng" w="15875">
            <a:solidFill>
              <a:srgbClr val="147EA6"/>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pt-BR" sz="1100">
                <a:solidFill>
                  <a:schemeClr val="lt1"/>
                </a:solidFill>
                <a:latin typeface="Calibri"/>
                <a:ea typeface="Calibri"/>
                <a:cs typeface="Calibri"/>
                <a:sym typeface="Calibri"/>
              </a:rPr>
              <a:t>Parte 1- 20%</a:t>
            </a:r>
            <a:endParaRPr sz="1100"/>
          </a:p>
        </p:txBody>
      </p:sp>
      <p:sp>
        <p:nvSpPr>
          <p:cNvPr id="608" name="Google Shape;608;p82"/>
          <p:cNvSpPr txBox="1"/>
          <p:nvPr/>
        </p:nvSpPr>
        <p:spPr>
          <a:xfrm>
            <a:off x="3679270" y="2169303"/>
            <a:ext cx="6666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pt-BR" sz="1400">
                <a:solidFill>
                  <a:schemeClr val="dk1"/>
                </a:solidFill>
                <a:latin typeface="Calibri"/>
                <a:ea typeface="Calibri"/>
                <a:cs typeface="Calibri"/>
                <a:sym typeface="Calibri"/>
              </a:rPr>
              <a:t>Treino</a:t>
            </a:r>
            <a:endParaRPr sz="1100"/>
          </a:p>
        </p:txBody>
      </p:sp>
      <p:sp>
        <p:nvSpPr>
          <p:cNvPr id="609" name="Google Shape;609;p82"/>
          <p:cNvSpPr txBox="1"/>
          <p:nvPr/>
        </p:nvSpPr>
        <p:spPr>
          <a:xfrm>
            <a:off x="3698320" y="3397180"/>
            <a:ext cx="6666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pt-BR" sz="1400">
                <a:solidFill>
                  <a:schemeClr val="dk1"/>
                </a:solidFill>
                <a:latin typeface="Calibri"/>
                <a:ea typeface="Calibri"/>
                <a:cs typeface="Calibri"/>
                <a:sym typeface="Calibri"/>
              </a:rPr>
              <a:t>Teste</a:t>
            </a:r>
            <a:endParaRPr sz="1100"/>
          </a:p>
        </p:txBody>
      </p:sp>
      <p:sp>
        <p:nvSpPr>
          <p:cNvPr id="610" name="Google Shape;610;p82"/>
          <p:cNvSpPr txBox="1"/>
          <p:nvPr/>
        </p:nvSpPr>
        <p:spPr>
          <a:xfrm>
            <a:off x="3517345" y="4147661"/>
            <a:ext cx="8478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pt-BR" sz="1400">
                <a:solidFill>
                  <a:schemeClr val="dk1"/>
                </a:solidFill>
                <a:latin typeface="Calibri"/>
                <a:ea typeface="Calibri"/>
                <a:cs typeface="Calibri"/>
                <a:sym typeface="Calibri"/>
              </a:rPr>
              <a:t>Validação</a:t>
            </a:r>
            <a:endParaRPr sz="1100"/>
          </a:p>
        </p:txBody>
      </p:sp>
      <p:cxnSp>
        <p:nvCxnSpPr>
          <p:cNvPr id="611" name="Google Shape;611;p82"/>
          <p:cNvCxnSpPr/>
          <p:nvPr/>
        </p:nvCxnSpPr>
        <p:spPr>
          <a:xfrm>
            <a:off x="4152900" y="3149917"/>
            <a:ext cx="4809900" cy="0"/>
          </a:xfrm>
          <a:prstGeom prst="straightConnector1">
            <a:avLst/>
          </a:prstGeom>
          <a:noFill/>
          <a:ln cap="flat" cmpd="sng" w="12700">
            <a:solidFill>
              <a:schemeClr val="accent1"/>
            </a:solidFill>
            <a:prstDash val="solid"/>
            <a:round/>
            <a:headEnd len="sm" w="sm" type="none"/>
            <a:tailEnd len="sm" w="sm" type="none"/>
          </a:ln>
        </p:spPr>
      </p:cxnSp>
      <p:cxnSp>
        <p:nvCxnSpPr>
          <p:cNvPr id="612" name="Google Shape;612;p82"/>
          <p:cNvCxnSpPr/>
          <p:nvPr/>
        </p:nvCxnSpPr>
        <p:spPr>
          <a:xfrm>
            <a:off x="4152900" y="3921442"/>
            <a:ext cx="4809900" cy="0"/>
          </a:xfrm>
          <a:prstGeom prst="straightConnector1">
            <a:avLst/>
          </a:prstGeom>
          <a:noFill/>
          <a:ln cap="flat" cmpd="sng" w="12700">
            <a:solidFill>
              <a:schemeClr val="accent1"/>
            </a:solidFill>
            <a:prstDash val="solid"/>
            <a:round/>
            <a:headEnd len="sm" w="sm" type="none"/>
            <a:tailEnd len="sm" w="sm" type="none"/>
          </a:ln>
        </p:spPr>
      </p:cxnSp>
      <p:cxnSp>
        <p:nvCxnSpPr>
          <p:cNvPr id="613" name="Google Shape;613;p82"/>
          <p:cNvCxnSpPr/>
          <p:nvPr/>
        </p:nvCxnSpPr>
        <p:spPr>
          <a:xfrm>
            <a:off x="4152900" y="4645342"/>
            <a:ext cx="4809900" cy="0"/>
          </a:xfrm>
          <a:prstGeom prst="straightConnector1">
            <a:avLst/>
          </a:prstGeom>
          <a:noFill/>
          <a:ln cap="flat" cmpd="sng" w="12700">
            <a:solidFill>
              <a:schemeClr val="accent1"/>
            </a:solidFill>
            <a:prstDash val="solid"/>
            <a:round/>
            <a:headEnd len="sm" w="sm" type="none"/>
            <a:tailEnd len="sm" w="sm" type="none"/>
          </a:ln>
        </p:spPr>
      </p:cxnSp>
      <p:sp>
        <p:nvSpPr>
          <p:cNvPr id="614" name="Google Shape;614;p82"/>
          <p:cNvSpPr/>
          <p:nvPr/>
        </p:nvSpPr>
        <p:spPr>
          <a:xfrm>
            <a:off x="4316254" y="4163466"/>
            <a:ext cx="587700" cy="399300"/>
          </a:xfrm>
          <a:prstGeom prst="can">
            <a:avLst>
              <a:gd fmla="val 25000" name="adj"/>
            </a:avLst>
          </a:prstGeom>
          <a:solidFill>
            <a:srgbClr val="A5A5A5"/>
          </a:solidFill>
          <a:ln cap="flat" cmpd="sng" w="15875">
            <a:solidFill>
              <a:srgbClr val="147EA6"/>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pt-BR" sz="1100">
                <a:solidFill>
                  <a:schemeClr val="lt1"/>
                </a:solidFill>
                <a:latin typeface="Calibri"/>
                <a:ea typeface="Calibri"/>
                <a:cs typeface="Calibri"/>
                <a:sym typeface="Calibri"/>
              </a:rPr>
              <a:t>Parte 2- 20%</a:t>
            </a:r>
            <a:endParaRPr sz="1100"/>
          </a:p>
        </p:txBody>
      </p:sp>
      <p:sp>
        <p:nvSpPr>
          <p:cNvPr id="615" name="Google Shape;615;p82"/>
          <p:cNvSpPr/>
          <p:nvPr/>
        </p:nvSpPr>
        <p:spPr>
          <a:xfrm>
            <a:off x="4278154" y="1827479"/>
            <a:ext cx="587700" cy="399300"/>
          </a:xfrm>
          <a:prstGeom prst="can">
            <a:avLst>
              <a:gd fmla="val 25000" name="adj"/>
            </a:avLst>
          </a:prstGeom>
          <a:solidFill>
            <a:srgbClr val="A5A5A5"/>
          </a:solidFill>
          <a:ln cap="flat" cmpd="sng" w="15875">
            <a:solidFill>
              <a:srgbClr val="147EA6"/>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pt-BR" sz="1100">
                <a:solidFill>
                  <a:schemeClr val="lt1"/>
                </a:solidFill>
                <a:latin typeface="Calibri"/>
                <a:ea typeface="Calibri"/>
                <a:cs typeface="Calibri"/>
                <a:sym typeface="Calibri"/>
              </a:rPr>
              <a:t>Parte 5- 20%</a:t>
            </a:r>
            <a:endParaRPr sz="1100"/>
          </a:p>
        </p:txBody>
      </p:sp>
      <p:sp>
        <p:nvSpPr>
          <p:cNvPr id="616" name="Google Shape;616;p82"/>
          <p:cNvSpPr/>
          <p:nvPr/>
        </p:nvSpPr>
        <p:spPr>
          <a:xfrm>
            <a:off x="4298396" y="2257135"/>
            <a:ext cx="587700" cy="399300"/>
          </a:xfrm>
          <a:prstGeom prst="can">
            <a:avLst>
              <a:gd fmla="val 25000" name="adj"/>
            </a:avLst>
          </a:prstGeom>
          <a:solidFill>
            <a:srgbClr val="A5A5A5"/>
          </a:solidFill>
          <a:ln cap="flat" cmpd="sng" w="15875">
            <a:solidFill>
              <a:srgbClr val="147EA6"/>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pt-BR" sz="1100">
                <a:solidFill>
                  <a:schemeClr val="lt1"/>
                </a:solidFill>
                <a:latin typeface="Calibri"/>
                <a:ea typeface="Calibri"/>
                <a:cs typeface="Calibri"/>
                <a:sym typeface="Calibri"/>
              </a:rPr>
              <a:t>Parte 4- 20%</a:t>
            </a:r>
            <a:endParaRPr sz="1100"/>
          </a:p>
        </p:txBody>
      </p:sp>
      <p:sp>
        <p:nvSpPr>
          <p:cNvPr id="617" name="Google Shape;617;p82"/>
          <p:cNvSpPr/>
          <p:nvPr/>
        </p:nvSpPr>
        <p:spPr>
          <a:xfrm>
            <a:off x="4301014" y="2701584"/>
            <a:ext cx="587700" cy="399300"/>
          </a:xfrm>
          <a:prstGeom prst="can">
            <a:avLst>
              <a:gd fmla="val 25000" name="adj"/>
            </a:avLst>
          </a:prstGeom>
          <a:solidFill>
            <a:srgbClr val="A5A5A5"/>
          </a:solidFill>
          <a:ln cap="flat" cmpd="sng" w="15875">
            <a:solidFill>
              <a:srgbClr val="147EA6"/>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pt-BR" sz="1100">
                <a:solidFill>
                  <a:schemeClr val="lt1"/>
                </a:solidFill>
                <a:latin typeface="Calibri"/>
                <a:ea typeface="Calibri"/>
                <a:cs typeface="Calibri"/>
                <a:sym typeface="Calibri"/>
              </a:rPr>
              <a:t>Parte 3- 20%</a:t>
            </a:r>
            <a:endParaRPr sz="1100"/>
          </a:p>
        </p:txBody>
      </p:sp>
      <p:sp>
        <p:nvSpPr>
          <p:cNvPr id="618" name="Google Shape;618;p82"/>
          <p:cNvSpPr/>
          <p:nvPr/>
        </p:nvSpPr>
        <p:spPr>
          <a:xfrm>
            <a:off x="5309237" y="3359963"/>
            <a:ext cx="587700" cy="399300"/>
          </a:xfrm>
          <a:prstGeom prst="can">
            <a:avLst>
              <a:gd fmla="val 25000" name="adj"/>
            </a:avLst>
          </a:prstGeom>
          <a:solidFill>
            <a:srgbClr val="A5A5A5"/>
          </a:solidFill>
          <a:ln cap="flat" cmpd="sng" w="15875">
            <a:solidFill>
              <a:srgbClr val="147EA6"/>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pt-BR" sz="1100">
                <a:solidFill>
                  <a:schemeClr val="lt1"/>
                </a:solidFill>
                <a:latin typeface="Calibri"/>
                <a:ea typeface="Calibri"/>
                <a:cs typeface="Calibri"/>
                <a:sym typeface="Calibri"/>
              </a:rPr>
              <a:t>Parte 2- 20%</a:t>
            </a:r>
            <a:endParaRPr sz="1100"/>
          </a:p>
        </p:txBody>
      </p:sp>
      <p:sp>
        <p:nvSpPr>
          <p:cNvPr id="619" name="Google Shape;619;p82"/>
          <p:cNvSpPr/>
          <p:nvPr/>
        </p:nvSpPr>
        <p:spPr>
          <a:xfrm>
            <a:off x="5347337" y="4163466"/>
            <a:ext cx="587700" cy="399300"/>
          </a:xfrm>
          <a:prstGeom prst="can">
            <a:avLst>
              <a:gd fmla="val 25000" name="adj"/>
            </a:avLst>
          </a:prstGeom>
          <a:solidFill>
            <a:srgbClr val="A5A5A5"/>
          </a:solidFill>
          <a:ln cap="flat" cmpd="sng" w="15875">
            <a:solidFill>
              <a:srgbClr val="147EA6"/>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pt-BR" sz="1100">
                <a:solidFill>
                  <a:schemeClr val="lt1"/>
                </a:solidFill>
                <a:latin typeface="Calibri"/>
                <a:ea typeface="Calibri"/>
                <a:cs typeface="Calibri"/>
                <a:sym typeface="Calibri"/>
              </a:rPr>
              <a:t>Parte 3- 20%</a:t>
            </a:r>
            <a:endParaRPr sz="1100"/>
          </a:p>
        </p:txBody>
      </p:sp>
      <p:sp>
        <p:nvSpPr>
          <p:cNvPr id="620" name="Google Shape;620;p82"/>
          <p:cNvSpPr/>
          <p:nvPr/>
        </p:nvSpPr>
        <p:spPr>
          <a:xfrm>
            <a:off x="5309237" y="1827479"/>
            <a:ext cx="587700" cy="399300"/>
          </a:xfrm>
          <a:prstGeom prst="can">
            <a:avLst>
              <a:gd fmla="val 25000" name="adj"/>
            </a:avLst>
          </a:prstGeom>
          <a:solidFill>
            <a:srgbClr val="A5A5A5"/>
          </a:solidFill>
          <a:ln cap="flat" cmpd="sng" w="15875">
            <a:solidFill>
              <a:srgbClr val="147EA6"/>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pt-BR" sz="1100">
                <a:solidFill>
                  <a:schemeClr val="lt1"/>
                </a:solidFill>
                <a:latin typeface="Calibri"/>
                <a:ea typeface="Calibri"/>
                <a:cs typeface="Calibri"/>
                <a:sym typeface="Calibri"/>
              </a:rPr>
              <a:t>Parte 1- 20%</a:t>
            </a:r>
            <a:endParaRPr sz="1100"/>
          </a:p>
        </p:txBody>
      </p:sp>
      <p:sp>
        <p:nvSpPr>
          <p:cNvPr id="621" name="Google Shape;621;p82"/>
          <p:cNvSpPr/>
          <p:nvPr/>
        </p:nvSpPr>
        <p:spPr>
          <a:xfrm>
            <a:off x="5329478" y="2257135"/>
            <a:ext cx="587700" cy="399300"/>
          </a:xfrm>
          <a:prstGeom prst="can">
            <a:avLst>
              <a:gd fmla="val 25000" name="adj"/>
            </a:avLst>
          </a:prstGeom>
          <a:solidFill>
            <a:srgbClr val="A5A5A5"/>
          </a:solidFill>
          <a:ln cap="flat" cmpd="sng" w="15875">
            <a:solidFill>
              <a:srgbClr val="147EA6"/>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pt-BR" sz="1100">
                <a:solidFill>
                  <a:schemeClr val="lt1"/>
                </a:solidFill>
                <a:latin typeface="Calibri"/>
                <a:ea typeface="Calibri"/>
                <a:cs typeface="Calibri"/>
                <a:sym typeface="Calibri"/>
              </a:rPr>
              <a:t>Parte 5- 20%</a:t>
            </a:r>
            <a:endParaRPr sz="1100"/>
          </a:p>
        </p:txBody>
      </p:sp>
      <p:sp>
        <p:nvSpPr>
          <p:cNvPr id="622" name="Google Shape;622;p82"/>
          <p:cNvSpPr/>
          <p:nvPr/>
        </p:nvSpPr>
        <p:spPr>
          <a:xfrm>
            <a:off x="5332097" y="2701584"/>
            <a:ext cx="587700" cy="399300"/>
          </a:xfrm>
          <a:prstGeom prst="can">
            <a:avLst>
              <a:gd fmla="val 25000" name="adj"/>
            </a:avLst>
          </a:prstGeom>
          <a:solidFill>
            <a:srgbClr val="A5A5A5"/>
          </a:solidFill>
          <a:ln cap="flat" cmpd="sng" w="15875">
            <a:solidFill>
              <a:srgbClr val="147EA6"/>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pt-BR" sz="1100">
                <a:solidFill>
                  <a:schemeClr val="lt1"/>
                </a:solidFill>
                <a:latin typeface="Calibri"/>
                <a:ea typeface="Calibri"/>
                <a:cs typeface="Calibri"/>
                <a:sym typeface="Calibri"/>
              </a:rPr>
              <a:t>Parte 4- 20%</a:t>
            </a:r>
            <a:endParaRPr sz="1100"/>
          </a:p>
        </p:txBody>
      </p:sp>
      <p:sp>
        <p:nvSpPr>
          <p:cNvPr id="623" name="Google Shape;623;p82"/>
          <p:cNvSpPr/>
          <p:nvPr/>
        </p:nvSpPr>
        <p:spPr>
          <a:xfrm>
            <a:off x="6293168" y="3359963"/>
            <a:ext cx="587700" cy="399300"/>
          </a:xfrm>
          <a:prstGeom prst="can">
            <a:avLst>
              <a:gd fmla="val 25000" name="adj"/>
            </a:avLst>
          </a:prstGeom>
          <a:solidFill>
            <a:srgbClr val="A5A5A5"/>
          </a:solidFill>
          <a:ln cap="flat" cmpd="sng" w="15875">
            <a:solidFill>
              <a:srgbClr val="147EA6"/>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pt-BR" sz="1100">
                <a:solidFill>
                  <a:schemeClr val="lt1"/>
                </a:solidFill>
                <a:latin typeface="Calibri"/>
                <a:ea typeface="Calibri"/>
                <a:cs typeface="Calibri"/>
                <a:sym typeface="Calibri"/>
              </a:rPr>
              <a:t>Parte 3- 20%</a:t>
            </a:r>
            <a:endParaRPr sz="1100"/>
          </a:p>
        </p:txBody>
      </p:sp>
      <p:sp>
        <p:nvSpPr>
          <p:cNvPr id="624" name="Google Shape;624;p82"/>
          <p:cNvSpPr/>
          <p:nvPr/>
        </p:nvSpPr>
        <p:spPr>
          <a:xfrm>
            <a:off x="6331268" y="4163466"/>
            <a:ext cx="587700" cy="399300"/>
          </a:xfrm>
          <a:prstGeom prst="can">
            <a:avLst>
              <a:gd fmla="val 25000" name="adj"/>
            </a:avLst>
          </a:prstGeom>
          <a:solidFill>
            <a:srgbClr val="A5A5A5"/>
          </a:solidFill>
          <a:ln cap="flat" cmpd="sng" w="15875">
            <a:solidFill>
              <a:srgbClr val="147EA6"/>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pt-BR" sz="1100">
                <a:solidFill>
                  <a:schemeClr val="lt1"/>
                </a:solidFill>
                <a:latin typeface="Calibri"/>
                <a:ea typeface="Calibri"/>
                <a:cs typeface="Calibri"/>
                <a:sym typeface="Calibri"/>
              </a:rPr>
              <a:t>Parte 4- 20%</a:t>
            </a:r>
            <a:endParaRPr sz="1100"/>
          </a:p>
        </p:txBody>
      </p:sp>
      <p:sp>
        <p:nvSpPr>
          <p:cNvPr id="625" name="Google Shape;625;p82"/>
          <p:cNvSpPr/>
          <p:nvPr/>
        </p:nvSpPr>
        <p:spPr>
          <a:xfrm>
            <a:off x="6293168" y="1827479"/>
            <a:ext cx="587700" cy="399300"/>
          </a:xfrm>
          <a:prstGeom prst="can">
            <a:avLst>
              <a:gd fmla="val 25000" name="adj"/>
            </a:avLst>
          </a:prstGeom>
          <a:solidFill>
            <a:srgbClr val="A5A5A5"/>
          </a:solidFill>
          <a:ln cap="flat" cmpd="sng" w="15875">
            <a:solidFill>
              <a:srgbClr val="147EA6"/>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pt-BR" sz="1100">
                <a:solidFill>
                  <a:schemeClr val="lt1"/>
                </a:solidFill>
                <a:latin typeface="Calibri"/>
                <a:ea typeface="Calibri"/>
                <a:cs typeface="Calibri"/>
                <a:sym typeface="Calibri"/>
              </a:rPr>
              <a:t>Parte 2- 20%</a:t>
            </a:r>
            <a:endParaRPr sz="1100"/>
          </a:p>
        </p:txBody>
      </p:sp>
      <p:sp>
        <p:nvSpPr>
          <p:cNvPr id="626" name="Google Shape;626;p82"/>
          <p:cNvSpPr/>
          <p:nvPr/>
        </p:nvSpPr>
        <p:spPr>
          <a:xfrm>
            <a:off x="6313409" y="2257135"/>
            <a:ext cx="587700" cy="399300"/>
          </a:xfrm>
          <a:prstGeom prst="can">
            <a:avLst>
              <a:gd fmla="val 25000" name="adj"/>
            </a:avLst>
          </a:prstGeom>
          <a:solidFill>
            <a:srgbClr val="A5A5A5"/>
          </a:solidFill>
          <a:ln cap="flat" cmpd="sng" w="15875">
            <a:solidFill>
              <a:srgbClr val="147EA6"/>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pt-BR" sz="1100">
                <a:solidFill>
                  <a:schemeClr val="lt1"/>
                </a:solidFill>
                <a:latin typeface="Calibri"/>
                <a:ea typeface="Calibri"/>
                <a:cs typeface="Calibri"/>
                <a:sym typeface="Calibri"/>
              </a:rPr>
              <a:t>Parte 1- 20%</a:t>
            </a:r>
            <a:endParaRPr sz="1100"/>
          </a:p>
        </p:txBody>
      </p:sp>
      <p:sp>
        <p:nvSpPr>
          <p:cNvPr id="627" name="Google Shape;627;p82"/>
          <p:cNvSpPr/>
          <p:nvPr/>
        </p:nvSpPr>
        <p:spPr>
          <a:xfrm>
            <a:off x="6316027" y="2701584"/>
            <a:ext cx="587700" cy="399300"/>
          </a:xfrm>
          <a:prstGeom prst="can">
            <a:avLst>
              <a:gd fmla="val 25000" name="adj"/>
            </a:avLst>
          </a:prstGeom>
          <a:solidFill>
            <a:srgbClr val="A5A5A5"/>
          </a:solidFill>
          <a:ln cap="flat" cmpd="sng" w="15875">
            <a:solidFill>
              <a:srgbClr val="147EA6"/>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pt-BR" sz="1100">
                <a:solidFill>
                  <a:schemeClr val="lt1"/>
                </a:solidFill>
                <a:latin typeface="Calibri"/>
                <a:ea typeface="Calibri"/>
                <a:cs typeface="Calibri"/>
                <a:sym typeface="Calibri"/>
              </a:rPr>
              <a:t>Parte 5- 20%</a:t>
            </a:r>
            <a:endParaRPr sz="1100"/>
          </a:p>
        </p:txBody>
      </p:sp>
      <p:sp>
        <p:nvSpPr>
          <p:cNvPr id="628" name="Google Shape;628;p82"/>
          <p:cNvSpPr/>
          <p:nvPr/>
        </p:nvSpPr>
        <p:spPr>
          <a:xfrm>
            <a:off x="7339251" y="3359963"/>
            <a:ext cx="587700" cy="399300"/>
          </a:xfrm>
          <a:prstGeom prst="can">
            <a:avLst>
              <a:gd fmla="val 25000" name="adj"/>
            </a:avLst>
          </a:prstGeom>
          <a:solidFill>
            <a:srgbClr val="A5A5A5"/>
          </a:solidFill>
          <a:ln cap="flat" cmpd="sng" w="15875">
            <a:solidFill>
              <a:srgbClr val="147EA6"/>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pt-BR" sz="1100">
                <a:solidFill>
                  <a:schemeClr val="lt1"/>
                </a:solidFill>
                <a:latin typeface="Calibri"/>
                <a:ea typeface="Calibri"/>
                <a:cs typeface="Calibri"/>
                <a:sym typeface="Calibri"/>
              </a:rPr>
              <a:t>Parte 4- 20%</a:t>
            </a:r>
            <a:endParaRPr sz="1100"/>
          </a:p>
        </p:txBody>
      </p:sp>
      <p:sp>
        <p:nvSpPr>
          <p:cNvPr id="629" name="Google Shape;629;p82"/>
          <p:cNvSpPr/>
          <p:nvPr/>
        </p:nvSpPr>
        <p:spPr>
          <a:xfrm>
            <a:off x="7377351" y="4163466"/>
            <a:ext cx="587700" cy="399300"/>
          </a:xfrm>
          <a:prstGeom prst="can">
            <a:avLst>
              <a:gd fmla="val 25000" name="adj"/>
            </a:avLst>
          </a:prstGeom>
          <a:solidFill>
            <a:srgbClr val="A5A5A5"/>
          </a:solidFill>
          <a:ln cap="flat" cmpd="sng" w="15875">
            <a:solidFill>
              <a:srgbClr val="147EA6"/>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pt-BR" sz="1100">
                <a:solidFill>
                  <a:schemeClr val="lt1"/>
                </a:solidFill>
                <a:latin typeface="Calibri"/>
                <a:ea typeface="Calibri"/>
                <a:cs typeface="Calibri"/>
                <a:sym typeface="Calibri"/>
              </a:rPr>
              <a:t>Parte 5- 20%</a:t>
            </a:r>
            <a:endParaRPr sz="1100"/>
          </a:p>
        </p:txBody>
      </p:sp>
      <p:sp>
        <p:nvSpPr>
          <p:cNvPr id="630" name="Google Shape;630;p82"/>
          <p:cNvSpPr/>
          <p:nvPr/>
        </p:nvSpPr>
        <p:spPr>
          <a:xfrm>
            <a:off x="7339251" y="1827479"/>
            <a:ext cx="587700" cy="399300"/>
          </a:xfrm>
          <a:prstGeom prst="can">
            <a:avLst>
              <a:gd fmla="val 25000" name="adj"/>
            </a:avLst>
          </a:prstGeom>
          <a:solidFill>
            <a:srgbClr val="A5A5A5"/>
          </a:solidFill>
          <a:ln cap="flat" cmpd="sng" w="15875">
            <a:solidFill>
              <a:srgbClr val="147EA6"/>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pt-BR" sz="1100">
                <a:solidFill>
                  <a:schemeClr val="lt1"/>
                </a:solidFill>
                <a:latin typeface="Calibri"/>
                <a:ea typeface="Calibri"/>
                <a:cs typeface="Calibri"/>
                <a:sym typeface="Calibri"/>
              </a:rPr>
              <a:t>Parte 3- 20%</a:t>
            </a:r>
            <a:endParaRPr sz="1100"/>
          </a:p>
        </p:txBody>
      </p:sp>
      <p:sp>
        <p:nvSpPr>
          <p:cNvPr id="631" name="Google Shape;631;p82"/>
          <p:cNvSpPr/>
          <p:nvPr/>
        </p:nvSpPr>
        <p:spPr>
          <a:xfrm>
            <a:off x="7359493" y="2257135"/>
            <a:ext cx="587700" cy="399300"/>
          </a:xfrm>
          <a:prstGeom prst="can">
            <a:avLst>
              <a:gd fmla="val 25000" name="adj"/>
            </a:avLst>
          </a:prstGeom>
          <a:solidFill>
            <a:srgbClr val="A5A5A5"/>
          </a:solidFill>
          <a:ln cap="flat" cmpd="sng" w="15875">
            <a:solidFill>
              <a:srgbClr val="147EA6"/>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pt-BR" sz="1100">
                <a:solidFill>
                  <a:schemeClr val="lt1"/>
                </a:solidFill>
                <a:latin typeface="Calibri"/>
                <a:ea typeface="Calibri"/>
                <a:cs typeface="Calibri"/>
                <a:sym typeface="Calibri"/>
              </a:rPr>
              <a:t>Parte 2- 20%</a:t>
            </a:r>
            <a:endParaRPr sz="1100"/>
          </a:p>
        </p:txBody>
      </p:sp>
      <p:sp>
        <p:nvSpPr>
          <p:cNvPr id="632" name="Google Shape;632;p82"/>
          <p:cNvSpPr/>
          <p:nvPr/>
        </p:nvSpPr>
        <p:spPr>
          <a:xfrm>
            <a:off x="7362111" y="2701584"/>
            <a:ext cx="587700" cy="399300"/>
          </a:xfrm>
          <a:prstGeom prst="can">
            <a:avLst>
              <a:gd fmla="val 25000" name="adj"/>
            </a:avLst>
          </a:prstGeom>
          <a:solidFill>
            <a:srgbClr val="A5A5A5"/>
          </a:solidFill>
          <a:ln cap="flat" cmpd="sng" w="15875">
            <a:solidFill>
              <a:srgbClr val="147EA6"/>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pt-BR" sz="1100">
                <a:solidFill>
                  <a:schemeClr val="lt1"/>
                </a:solidFill>
                <a:latin typeface="Calibri"/>
                <a:ea typeface="Calibri"/>
                <a:cs typeface="Calibri"/>
                <a:sym typeface="Calibri"/>
              </a:rPr>
              <a:t>Parte 1- 20%</a:t>
            </a:r>
            <a:endParaRPr sz="1100"/>
          </a:p>
        </p:txBody>
      </p:sp>
      <p:sp>
        <p:nvSpPr>
          <p:cNvPr id="633" name="Google Shape;633;p82"/>
          <p:cNvSpPr/>
          <p:nvPr/>
        </p:nvSpPr>
        <p:spPr>
          <a:xfrm>
            <a:off x="8296275" y="3359963"/>
            <a:ext cx="587700" cy="399300"/>
          </a:xfrm>
          <a:prstGeom prst="can">
            <a:avLst>
              <a:gd fmla="val 25000" name="adj"/>
            </a:avLst>
          </a:prstGeom>
          <a:solidFill>
            <a:srgbClr val="A5A5A5"/>
          </a:solidFill>
          <a:ln cap="flat" cmpd="sng" w="15875">
            <a:solidFill>
              <a:srgbClr val="147EA6"/>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pt-BR" sz="1100">
                <a:solidFill>
                  <a:schemeClr val="lt1"/>
                </a:solidFill>
                <a:latin typeface="Calibri"/>
                <a:ea typeface="Calibri"/>
                <a:cs typeface="Calibri"/>
                <a:sym typeface="Calibri"/>
              </a:rPr>
              <a:t>Parte 5- 20%</a:t>
            </a:r>
            <a:endParaRPr sz="1100"/>
          </a:p>
        </p:txBody>
      </p:sp>
      <p:sp>
        <p:nvSpPr>
          <p:cNvPr id="634" name="Google Shape;634;p82"/>
          <p:cNvSpPr/>
          <p:nvPr/>
        </p:nvSpPr>
        <p:spPr>
          <a:xfrm>
            <a:off x="8334375" y="4163466"/>
            <a:ext cx="587700" cy="399300"/>
          </a:xfrm>
          <a:prstGeom prst="can">
            <a:avLst>
              <a:gd fmla="val 25000" name="adj"/>
            </a:avLst>
          </a:prstGeom>
          <a:solidFill>
            <a:srgbClr val="A5A5A5"/>
          </a:solidFill>
          <a:ln cap="flat" cmpd="sng" w="15875">
            <a:solidFill>
              <a:srgbClr val="147EA6"/>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pt-BR" sz="1100">
                <a:solidFill>
                  <a:schemeClr val="lt1"/>
                </a:solidFill>
                <a:latin typeface="Calibri"/>
                <a:ea typeface="Calibri"/>
                <a:cs typeface="Calibri"/>
                <a:sym typeface="Calibri"/>
              </a:rPr>
              <a:t>Parte 1- 20%</a:t>
            </a:r>
            <a:endParaRPr sz="1100"/>
          </a:p>
        </p:txBody>
      </p:sp>
      <p:sp>
        <p:nvSpPr>
          <p:cNvPr id="635" name="Google Shape;635;p82"/>
          <p:cNvSpPr/>
          <p:nvPr/>
        </p:nvSpPr>
        <p:spPr>
          <a:xfrm>
            <a:off x="8296275" y="1827479"/>
            <a:ext cx="587700" cy="399300"/>
          </a:xfrm>
          <a:prstGeom prst="can">
            <a:avLst>
              <a:gd fmla="val 25000" name="adj"/>
            </a:avLst>
          </a:prstGeom>
          <a:solidFill>
            <a:srgbClr val="A5A5A5"/>
          </a:solidFill>
          <a:ln cap="flat" cmpd="sng" w="15875">
            <a:solidFill>
              <a:srgbClr val="147EA6"/>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pt-BR" sz="1100">
                <a:solidFill>
                  <a:schemeClr val="lt1"/>
                </a:solidFill>
                <a:latin typeface="Calibri"/>
                <a:ea typeface="Calibri"/>
                <a:cs typeface="Calibri"/>
                <a:sym typeface="Calibri"/>
              </a:rPr>
              <a:t>Parte 4- 20%</a:t>
            </a:r>
            <a:endParaRPr sz="1100"/>
          </a:p>
        </p:txBody>
      </p:sp>
      <p:sp>
        <p:nvSpPr>
          <p:cNvPr id="636" name="Google Shape;636;p82"/>
          <p:cNvSpPr/>
          <p:nvPr/>
        </p:nvSpPr>
        <p:spPr>
          <a:xfrm>
            <a:off x="8316517" y="2257135"/>
            <a:ext cx="587700" cy="399300"/>
          </a:xfrm>
          <a:prstGeom prst="can">
            <a:avLst>
              <a:gd fmla="val 25000" name="adj"/>
            </a:avLst>
          </a:prstGeom>
          <a:solidFill>
            <a:srgbClr val="A5A5A5"/>
          </a:solidFill>
          <a:ln cap="flat" cmpd="sng" w="15875">
            <a:solidFill>
              <a:srgbClr val="147EA6"/>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pt-BR" sz="1100">
                <a:solidFill>
                  <a:schemeClr val="lt1"/>
                </a:solidFill>
                <a:latin typeface="Calibri"/>
                <a:ea typeface="Calibri"/>
                <a:cs typeface="Calibri"/>
                <a:sym typeface="Calibri"/>
              </a:rPr>
              <a:t>Parte 3- 20%</a:t>
            </a:r>
            <a:endParaRPr sz="1100"/>
          </a:p>
        </p:txBody>
      </p:sp>
      <p:sp>
        <p:nvSpPr>
          <p:cNvPr id="637" name="Google Shape;637;p82"/>
          <p:cNvSpPr/>
          <p:nvPr/>
        </p:nvSpPr>
        <p:spPr>
          <a:xfrm>
            <a:off x="8319135" y="2701584"/>
            <a:ext cx="587700" cy="399300"/>
          </a:xfrm>
          <a:prstGeom prst="can">
            <a:avLst>
              <a:gd fmla="val 25000" name="adj"/>
            </a:avLst>
          </a:prstGeom>
          <a:solidFill>
            <a:srgbClr val="A5A5A5"/>
          </a:solidFill>
          <a:ln cap="flat" cmpd="sng" w="15875">
            <a:solidFill>
              <a:srgbClr val="147EA6"/>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pt-BR" sz="1100">
                <a:solidFill>
                  <a:schemeClr val="lt1"/>
                </a:solidFill>
                <a:latin typeface="Calibri"/>
                <a:ea typeface="Calibri"/>
                <a:cs typeface="Calibri"/>
                <a:sym typeface="Calibri"/>
              </a:rPr>
              <a:t>Parte 2- 20%</a:t>
            </a:r>
            <a:endParaRPr sz="11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3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p83"/>
          <p:cNvSpPr txBox="1"/>
          <p:nvPr>
            <p:ph type="title"/>
          </p:nvPr>
        </p:nvSpPr>
        <p:spPr>
          <a:xfrm>
            <a:off x="617220" y="161214"/>
            <a:ext cx="5658000" cy="816000"/>
          </a:xfrm>
          <a:prstGeom prst="rect">
            <a:avLst/>
          </a:prstGeom>
          <a:noFill/>
          <a:ln>
            <a:noFill/>
          </a:ln>
        </p:spPr>
        <p:txBody>
          <a:bodyPr anchorCtr="0" anchor="b" bIns="34275" lIns="68575" spcFirstLastPara="1" rIns="68575" wrap="square" tIns="34275">
            <a:normAutofit/>
          </a:bodyPr>
          <a:lstStyle/>
          <a:p>
            <a:pPr indent="0" lvl="0" marL="0" rtl="0" algn="l">
              <a:lnSpc>
                <a:spcPct val="85000"/>
              </a:lnSpc>
              <a:spcBef>
                <a:spcPts val="0"/>
              </a:spcBef>
              <a:spcAft>
                <a:spcPts val="0"/>
              </a:spcAft>
              <a:buClr>
                <a:srgbClr val="3F3F3F"/>
              </a:buClr>
              <a:buSzPts val="3600"/>
              <a:buFont typeface="Calibri"/>
              <a:buNone/>
            </a:pPr>
            <a:r>
              <a:rPr lang="pt-BR"/>
              <a:t>Importância do Cross-Validation</a:t>
            </a:r>
            <a:endParaRPr/>
          </a:p>
        </p:txBody>
      </p:sp>
      <p:sp>
        <p:nvSpPr>
          <p:cNvPr id="643" name="Google Shape;643;p83"/>
          <p:cNvSpPr txBox="1"/>
          <p:nvPr>
            <p:ph idx="1" type="body"/>
          </p:nvPr>
        </p:nvSpPr>
        <p:spPr>
          <a:xfrm>
            <a:off x="617228" y="1038225"/>
            <a:ext cx="8485800" cy="3916800"/>
          </a:xfrm>
          <a:prstGeom prst="rect">
            <a:avLst/>
          </a:prstGeom>
          <a:noFill/>
          <a:ln>
            <a:noFill/>
          </a:ln>
        </p:spPr>
        <p:txBody>
          <a:bodyPr anchorCtr="0" anchor="t" bIns="34275" lIns="0" spcFirstLastPara="1" rIns="0" wrap="square" tIns="34275">
            <a:normAutofit/>
          </a:bodyPr>
          <a:lstStyle/>
          <a:p>
            <a:pPr indent="-349250" lvl="0" marL="457200" rtl="0" algn="l">
              <a:lnSpc>
                <a:spcPct val="90000"/>
              </a:lnSpc>
              <a:spcBef>
                <a:spcPts val="0"/>
              </a:spcBef>
              <a:spcAft>
                <a:spcPts val="0"/>
              </a:spcAft>
              <a:buSzPts val="1900"/>
              <a:buChar char="●"/>
            </a:pPr>
            <a:r>
              <a:rPr lang="pt-BR" sz="2300"/>
              <a:t>Execução de </a:t>
            </a:r>
            <a:r>
              <a:rPr lang="pt-BR" sz="2300"/>
              <a:t>múltiplos</a:t>
            </a:r>
            <a:r>
              <a:rPr lang="pt-BR" sz="2300"/>
              <a:t> experimentos com um mesmo conjunto de dados.</a:t>
            </a:r>
            <a:endParaRPr sz="2300"/>
          </a:p>
          <a:p>
            <a:pPr indent="-349250" lvl="0" marL="457200" rtl="0" algn="l">
              <a:lnSpc>
                <a:spcPct val="90000"/>
              </a:lnSpc>
              <a:spcBef>
                <a:spcPts val="0"/>
              </a:spcBef>
              <a:spcAft>
                <a:spcPts val="0"/>
              </a:spcAft>
              <a:buSzPts val="1900"/>
              <a:buChar char="●"/>
            </a:pPr>
            <a:r>
              <a:rPr lang="pt-BR" sz="2300"/>
              <a:t>Viabiliza análise de dispersão dos resultados</a:t>
            </a:r>
            <a:endParaRPr sz="2300"/>
          </a:p>
          <a:p>
            <a:pPr indent="-349250" lvl="1" marL="914400" rtl="0" algn="l">
              <a:lnSpc>
                <a:spcPct val="90000"/>
              </a:lnSpc>
              <a:spcBef>
                <a:spcPts val="0"/>
              </a:spcBef>
              <a:spcAft>
                <a:spcPts val="0"/>
              </a:spcAft>
              <a:buSzPts val="1900"/>
              <a:buChar char="○"/>
            </a:pPr>
            <a:r>
              <a:rPr lang="pt-BR" sz="1900"/>
              <a:t>… com execuções treinamento distintas.</a:t>
            </a:r>
            <a:endParaRPr sz="1900"/>
          </a:p>
          <a:p>
            <a:pPr indent="-349250" lvl="1" marL="914400" rtl="0" algn="l">
              <a:lnSpc>
                <a:spcPct val="90000"/>
              </a:lnSpc>
              <a:spcBef>
                <a:spcPts val="0"/>
              </a:spcBef>
              <a:spcAft>
                <a:spcPts val="0"/>
              </a:spcAft>
              <a:buSzPts val="1900"/>
              <a:buChar char="○"/>
            </a:pPr>
            <a:r>
              <a:rPr lang="pt-BR" sz="1900"/>
              <a:t>… testados em partições diferentes do conjunto de dados.</a:t>
            </a:r>
            <a:endParaRPr sz="1900"/>
          </a:p>
          <a:p>
            <a:pPr indent="-349250" lvl="0" marL="457200" rtl="0" algn="l">
              <a:lnSpc>
                <a:spcPct val="90000"/>
              </a:lnSpc>
              <a:spcBef>
                <a:spcPts val="0"/>
              </a:spcBef>
              <a:spcAft>
                <a:spcPts val="0"/>
              </a:spcAft>
              <a:buSzPts val="1900"/>
              <a:buChar char="●"/>
            </a:pPr>
            <a:r>
              <a:rPr lang="pt-BR" sz="2300"/>
              <a:t>Evita o "azar" ou "sorte" de escolher um conjunto de teste fácil/difícil.</a:t>
            </a:r>
            <a:endParaRPr sz="2300"/>
          </a:p>
          <a:p>
            <a:pPr indent="-349250" lvl="0" marL="457200" rtl="0" algn="l">
              <a:lnSpc>
                <a:spcPct val="90000"/>
              </a:lnSpc>
              <a:spcBef>
                <a:spcPts val="0"/>
              </a:spcBef>
              <a:spcAft>
                <a:spcPts val="0"/>
              </a:spcAft>
              <a:buSzPts val="1900"/>
              <a:buChar char="●"/>
            </a:pPr>
            <a:r>
              <a:rPr lang="pt-BR" sz="2300"/>
              <a:t>Viabiliza análises estatísticas sobre as métricas utilizadas para obtenção dos resultados.</a:t>
            </a:r>
            <a:endParaRPr sz="2300"/>
          </a:p>
          <a:p>
            <a:pPr indent="-349250" lvl="1" marL="914400" rtl="0" algn="l">
              <a:lnSpc>
                <a:spcPct val="90000"/>
              </a:lnSpc>
              <a:spcBef>
                <a:spcPts val="0"/>
              </a:spcBef>
              <a:spcAft>
                <a:spcPts val="0"/>
              </a:spcAft>
              <a:buSzPts val="1900"/>
              <a:buChar char="○"/>
            </a:pPr>
            <a:r>
              <a:rPr lang="pt-BR" sz="1900"/>
              <a:t>Intervalo de confiança.</a:t>
            </a:r>
            <a:endParaRPr sz="1900"/>
          </a:p>
          <a:p>
            <a:pPr indent="-349250" lvl="1" marL="914400" rtl="0" algn="l">
              <a:lnSpc>
                <a:spcPct val="90000"/>
              </a:lnSpc>
              <a:spcBef>
                <a:spcPts val="0"/>
              </a:spcBef>
              <a:spcAft>
                <a:spcPts val="0"/>
              </a:spcAft>
              <a:buSzPts val="1900"/>
              <a:buChar char="○"/>
            </a:pPr>
            <a:r>
              <a:rPr lang="pt-BR" sz="1900"/>
              <a:t>Testes pareados.</a:t>
            </a:r>
            <a:endParaRPr sz="1900"/>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84"/>
          <p:cNvSpPr txBox="1"/>
          <p:nvPr>
            <p:ph type="title"/>
          </p:nvPr>
        </p:nvSpPr>
        <p:spPr>
          <a:xfrm>
            <a:off x="90500" y="161225"/>
            <a:ext cx="8537400" cy="816000"/>
          </a:xfrm>
          <a:prstGeom prst="rect">
            <a:avLst/>
          </a:prstGeom>
          <a:noFill/>
          <a:ln>
            <a:noFill/>
          </a:ln>
        </p:spPr>
        <p:txBody>
          <a:bodyPr anchorCtr="0" anchor="b" bIns="34275" lIns="68575" spcFirstLastPara="1" rIns="68575" wrap="square" tIns="34275">
            <a:normAutofit/>
          </a:bodyPr>
          <a:lstStyle/>
          <a:p>
            <a:pPr indent="0" lvl="0" marL="0" rtl="0" algn="l">
              <a:lnSpc>
                <a:spcPct val="85000"/>
              </a:lnSpc>
              <a:spcBef>
                <a:spcPts val="0"/>
              </a:spcBef>
              <a:spcAft>
                <a:spcPts val="0"/>
              </a:spcAft>
              <a:buClr>
                <a:srgbClr val="3F3F3F"/>
              </a:buClr>
              <a:buSzPts val="3600"/>
              <a:buFont typeface="Calibri"/>
              <a:buNone/>
            </a:pPr>
            <a:r>
              <a:rPr lang="pt-BR"/>
              <a:t>Grid Search vs Random Search vs Bayesian Search</a:t>
            </a:r>
            <a:endParaRPr/>
          </a:p>
        </p:txBody>
      </p:sp>
      <p:sp>
        <p:nvSpPr>
          <p:cNvPr id="649" name="Google Shape;649;p84"/>
          <p:cNvSpPr txBox="1"/>
          <p:nvPr>
            <p:ph idx="1" type="body"/>
          </p:nvPr>
        </p:nvSpPr>
        <p:spPr>
          <a:xfrm>
            <a:off x="617220" y="1038225"/>
            <a:ext cx="5658000" cy="2263200"/>
          </a:xfrm>
          <a:prstGeom prst="rect">
            <a:avLst/>
          </a:prstGeom>
          <a:noFill/>
          <a:ln>
            <a:noFill/>
          </a:ln>
        </p:spPr>
        <p:txBody>
          <a:bodyPr anchorCtr="0" anchor="t" bIns="34275" lIns="0" spcFirstLastPara="1" rIns="0" wrap="square" tIns="34275">
            <a:normAutofit/>
          </a:bodyPr>
          <a:lstStyle/>
          <a:p>
            <a:pPr indent="0" lvl="0" marL="63500" rtl="0" algn="l">
              <a:lnSpc>
                <a:spcPct val="90000"/>
              </a:lnSpc>
              <a:spcBef>
                <a:spcPts val="0"/>
              </a:spcBef>
              <a:spcAft>
                <a:spcPts val="0"/>
              </a:spcAft>
              <a:buSzPts val="1500"/>
              <a:buNone/>
            </a:pPr>
            <a:r>
              <a:t/>
            </a:r>
            <a:endParaRPr/>
          </a:p>
        </p:txBody>
      </p:sp>
      <p:pic>
        <p:nvPicPr>
          <p:cNvPr descr="image" id="650" name="Google Shape;650;p84"/>
          <p:cNvPicPr preferRelativeResize="0"/>
          <p:nvPr/>
        </p:nvPicPr>
        <p:blipFill rotWithShape="1">
          <a:blip r:embed="rId3">
            <a:alphaModFix/>
          </a:blip>
          <a:srcRect b="4003" l="19067" r="23066" t="4606"/>
          <a:stretch/>
        </p:blipFill>
        <p:spPr>
          <a:xfrm>
            <a:off x="3465551" y="1303024"/>
            <a:ext cx="2658375" cy="2829850"/>
          </a:xfrm>
          <a:prstGeom prst="rect">
            <a:avLst/>
          </a:prstGeom>
          <a:noFill/>
          <a:ln>
            <a:noFill/>
          </a:ln>
        </p:spPr>
      </p:pic>
      <p:pic>
        <p:nvPicPr>
          <p:cNvPr descr="image" id="651" name="Google Shape;651;p84"/>
          <p:cNvPicPr preferRelativeResize="0"/>
          <p:nvPr/>
        </p:nvPicPr>
        <p:blipFill rotWithShape="1">
          <a:blip r:embed="rId4">
            <a:alphaModFix/>
          </a:blip>
          <a:srcRect b="0" l="22530" r="23337" t="4644"/>
          <a:stretch/>
        </p:blipFill>
        <p:spPr>
          <a:xfrm>
            <a:off x="6404750" y="1303025"/>
            <a:ext cx="2612850" cy="2973175"/>
          </a:xfrm>
          <a:prstGeom prst="rect">
            <a:avLst/>
          </a:prstGeom>
          <a:noFill/>
          <a:ln>
            <a:noFill/>
          </a:ln>
        </p:spPr>
      </p:pic>
      <p:pic>
        <p:nvPicPr>
          <p:cNvPr id="652" name="Google Shape;652;p84"/>
          <p:cNvPicPr preferRelativeResize="0"/>
          <p:nvPr/>
        </p:nvPicPr>
        <p:blipFill rotWithShape="1">
          <a:blip r:embed="rId5">
            <a:alphaModFix/>
          </a:blip>
          <a:srcRect b="54723" l="32734" r="49141" t="30555"/>
          <a:stretch/>
        </p:blipFill>
        <p:spPr>
          <a:xfrm>
            <a:off x="617218" y="1303013"/>
            <a:ext cx="2381434" cy="1088068"/>
          </a:xfrm>
          <a:prstGeom prst="rect">
            <a:avLst/>
          </a:prstGeom>
          <a:noFill/>
          <a:ln>
            <a:noFill/>
          </a:ln>
        </p:spPr>
      </p:pic>
      <p:sp>
        <p:nvSpPr>
          <p:cNvPr id="653" name="Google Shape;653;p84"/>
          <p:cNvSpPr txBox="1"/>
          <p:nvPr/>
        </p:nvSpPr>
        <p:spPr>
          <a:xfrm>
            <a:off x="3874525" y="4323525"/>
            <a:ext cx="5059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chemeClr val="dk2"/>
                </a:solidFill>
              </a:rPr>
              <a:t>Para dois parâmetros, variando de 0 a 9:</a:t>
            </a:r>
            <a:endParaRPr sz="1800">
              <a:solidFill>
                <a:schemeClr val="dk2"/>
              </a:solidFill>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pic>
        <p:nvPicPr>
          <p:cNvPr id="658" name="Google Shape;658;p85"/>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659" name="Google Shape;659;p85"/>
          <p:cNvSpPr txBox="1"/>
          <p:nvPr/>
        </p:nvSpPr>
        <p:spPr>
          <a:xfrm>
            <a:off x="476250" y="428625"/>
            <a:ext cx="81915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pt-BR" sz="2600">
                <a:solidFill>
                  <a:srgbClr val="FFFFFF"/>
                </a:solidFill>
                <a:latin typeface="Inter ExtraBold"/>
                <a:ea typeface="Inter ExtraBold"/>
                <a:cs typeface="Inter ExtraBold"/>
                <a:sym typeface="Inter ExtraBold"/>
              </a:rPr>
              <a:t>Entendendo a Busca Bayesiana (Bayesian Search)</a:t>
            </a:r>
            <a:endParaRPr b="0" sz="2600">
              <a:solidFill>
                <a:srgbClr val="FFFFFF"/>
              </a:solidFill>
              <a:latin typeface="Inter ExtraBold"/>
              <a:ea typeface="Inter ExtraBold"/>
              <a:cs typeface="Inter ExtraBold"/>
              <a:sym typeface="Inter ExtraBold"/>
            </a:endParaRPr>
          </a:p>
          <a:p>
            <a:pPr indent="0" lvl="0" marL="0" rtl="0" algn="l">
              <a:spcBef>
                <a:spcPts val="375"/>
              </a:spcBef>
              <a:spcAft>
                <a:spcPts val="0"/>
              </a:spcAft>
              <a:buNone/>
            </a:pPr>
            <a:r>
              <a:rPr b="0" lang="pt-BR" sz="1200">
                <a:solidFill>
                  <a:srgbClr val="94A3B8"/>
                </a:solidFill>
                <a:latin typeface="Inter"/>
                <a:ea typeface="Inter"/>
                <a:cs typeface="Inter"/>
                <a:sym typeface="Inter"/>
              </a:rPr>
              <a:t>Estratégia inteligente baseada em probabilidade para otimização de hiperparâmetros</a:t>
            </a:r>
            <a:endParaRPr b="0" sz="1200">
              <a:solidFill>
                <a:srgbClr val="94A3B8"/>
              </a:solidFill>
              <a:latin typeface="Inter"/>
              <a:ea typeface="Inter"/>
              <a:cs typeface="Inter"/>
              <a:sym typeface="Inter"/>
            </a:endParaRPr>
          </a:p>
        </p:txBody>
      </p:sp>
      <p:grpSp>
        <p:nvGrpSpPr>
          <p:cNvPr id="660" name="Google Shape;660;p85"/>
          <p:cNvGrpSpPr/>
          <p:nvPr/>
        </p:nvGrpSpPr>
        <p:grpSpPr>
          <a:xfrm>
            <a:off x="560696" y="1323975"/>
            <a:ext cx="8116672" cy="1543200"/>
            <a:chOff x="-9525" y="-9525"/>
            <a:chExt cx="4686300" cy="1543200"/>
          </a:xfrm>
        </p:grpSpPr>
        <p:pic>
          <p:nvPicPr>
            <p:cNvPr id="661" name="Google Shape;661;p85"/>
            <p:cNvPicPr preferRelativeResize="0"/>
            <p:nvPr/>
          </p:nvPicPr>
          <p:blipFill rotWithShape="1">
            <a:blip r:embed="rId4">
              <a:alphaModFix/>
            </a:blip>
            <a:srcRect b="0" l="0" r="0" t="0"/>
            <a:stretch/>
          </p:blipFill>
          <p:spPr>
            <a:xfrm>
              <a:off x="-9525" y="-9525"/>
              <a:ext cx="4686300" cy="1543200"/>
            </a:xfrm>
            <a:prstGeom prst="rect">
              <a:avLst/>
            </a:prstGeom>
            <a:noFill/>
            <a:ln>
              <a:noFill/>
            </a:ln>
          </p:spPr>
        </p:pic>
        <p:sp>
          <p:nvSpPr>
            <p:cNvPr id="662" name="Google Shape;662;p85"/>
            <p:cNvSpPr txBox="1"/>
            <p:nvPr/>
          </p:nvSpPr>
          <p:spPr>
            <a:xfrm>
              <a:off x="228600" y="190500"/>
              <a:ext cx="42102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pt-BR" sz="970">
                  <a:solidFill>
                    <a:srgbClr val="38BDF8"/>
                  </a:solidFill>
                  <a:latin typeface="Inter"/>
                  <a:ea typeface="Inter"/>
                  <a:cs typeface="Inter"/>
                  <a:sym typeface="Inter"/>
                </a:rPr>
                <a:t>Como Funciona?</a:t>
              </a:r>
              <a:endParaRPr b="1" sz="970">
                <a:solidFill>
                  <a:srgbClr val="38BDF8"/>
                </a:solidFill>
                <a:latin typeface="Inter"/>
                <a:ea typeface="Inter"/>
                <a:cs typeface="Inter"/>
                <a:sym typeface="Inter"/>
              </a:endParaRPr>
            </a:p>
            <a:p>
              <a:pPr indent="0" lvl="0" marL="0" rtl="0" algn="l">
                <a:spcBef>
                  <a:spcPts val="600"/>
                </a:spcBef>
                <a:spcAft>
                  <a:spcPts val="0"/>
                </a:spcAft>
                <a:buNone/>
              </a:pPr>
              <a:r>
                <a:rPr b="0" lang="pt-BR" sz="888">
                  <a:solidFill>
                    <a:srgbClr val="CBD5E1"/>
                  </a:solidFill>
                  <a:latin typeface="Inter"/>
                  <a:ea typeface="Inter"/>
                  <a:cs typeface="Inter"/>
                  <a:sym typeface="Inter"/>
                </a:rPr>
                <a:t>Diferente do Grid ou Random Search, a Busca Bayesiana analisa os resultados de testes anteriores para decidir de forma lógica qual será a próxima tentativa.</a:t>
              </a:r>
              <a:endParaRPr b="0" sz="888">
                <a:solidFill>
                  <a:srgbClr val="CBD5E1"/>
                </a:solidFill>
                <a:latin typeface="Inter"/>
                <a:ea typeface="Inter"/>
                <a:cs typeface="Inter"/>
                <a:sym typeface="Inter"/>
              </a:endParaRPr>
            </a:p>
            <a:p>
              <a:pPr indent="-290195" lvl="0" marL="457200" rtl="0" algn="l">
                <a:spcBef>
                  <a:spcPts val="750"/>
                </a:spcBef>
                <a:spcAft>
                  <a:spcPts val="0"/>
                </a:spcAft>
                <a:buClr>
                  <a:srgbClr val="94A3B8"/>
                </a:buClr>
                <a:buSzPts val="970"/>
                <a:buChar char="●"/>
              </a:pPr>
              <a:r>
                <a:rPr lang="pt-BR" sz="970">
                  <a:solidFill>
                    <a:srgbClr val="CBD5E1"/>
                  </a:solidFill>
                </a:rPr>
                <a:t>Cria um </a:t>
              </a:r>
              <a:r>
                <a:rPr b="1" lang="pt-BR" sz="970">
                  <a:solidFill>
                    <a:srgbClr val="CBD5E1"/>
                  </a:solidFill>
                </a:rPr>
                <a:t>Modelo Substituto</a:t>
              </a:r>
              <a:r>
                <a:rPr lang="pt-BR" sz="970">
                  <a:solidFill>
                    <a:srgbClr val="CBD5E1"/>
                  </a:solidFill>
                </a:rPr>
                <a:t> (ex: Processo Gaussiano) para mapear os hiperparâmetros.</a:t>
              </a:r>
              <a:endParaRPr sz="970">
                <a:solidFill>
                  <a:srgbClr val="94A3B8"/>
                </a:solidFill>
              </a:endParaRPr>
            </a:p>
            <a:p>
              <a:pPr indent="-290195" lvl="0" marL="457200" rtl="0" algn="l">
                <a:spcBef>
                  <a:spcPts val="600"/>
                </a:spcBef>
                <a:spcAft>
                  <a:spcPts val="600"/>
                </a:spcAft>
                <a:buClr>
                  <a:srgbClr val="94A3B8"/>
                </a:buClr>
                <a:buSzPts val="970"/>
                <a:buChar char="●"/>
              </a:pPr>
              <a:r>
                <a:rPr lang="pt-BR" sz="970">
                  <a:solidFill>
                    <a:srgbClr val="CBD5E1"/>
                  </a:solidFill>
                </a:rPr>
                <a:t>Usa uma </a:t>
              </a:r>
              <a:r>
                <a:rPr b="1" lang="pt-BR" sz="970">
                  <a:solidFill>
                    <a:srgbClr val="CBD5E1"/>
                  </a:solidFill>
                </a:rPr>
                <a:t>Função de Aquisição</a:t>
              </a:r>
              <a:r>
                <a:rPr lang="pt-BR" sz="970">
                  <a:solidFill>
                    <a:srgbClr val="CBD5E1"/>
                  </a:solidFill>
                </a:rPr>
                <a:t> para balancear exploração e aproveitamento.</a:t>
              </a:r>
              <a:endParaRPr sz="970">
                <a:solidFill>
                  <a:srgbClr val="94A3B8"/>
                </a:solidFill>
              </a:endParaRPr>
            </a:p>
          </p:txBody>
        </p:sp>
      </p:grpSp>
      <p:grpSp>
        <p:nvGrpSpPr>
          <p:cNvPr id="663" name="Google Shape;663;p85"/>
          <p:cNvGrpSpPr/>
          <p:nvPr/>
        </p:nvGrpSpPr>
        <p:grpSpPr>
          <a:xfrm>
            <a:off x="560600" y="3038475"/>
            <a:ext cx="8116672" cy="1543200"/>
            <a:chOff x="-9525" y="-9525"/>
            <a:chExt cx="4686300" cy="1543200"/>
          </a:xfrm>
        </p:grpSpPr>
        <p:pic>
          <p:nvPicPr>
            <p:cNvPr id="664" name="Google Shape;664;p85"/>
            <p:cNvPicPr preferRelativeResize="0"/>
            <p:nvPr/>
          </p:nvPicPr>
          <p:blipFill rotWithShape="1">
            <a:blip r:embed="rId4">
              <a:alphaModFix/>
            </a:blip>
            <a:srcRect b="0" l="0" r="0" t="0"/>
            <a:stretch/>
          </p:blipFill>
          <p:spPr>
            <a:xfrm>
              <a:off x="-9525" y="-9525"/>
              <a:ext cx="4686300" cy="1543200"/>
            </a:xfrm>
            <a:prstGeom prst="rect">
              <a:avLst/>
            </a:prstGeom>
            <a:noFill/>
            <a:ln>
              <a:noFill/>
            </a:ln>
          </p:spPr>
        </p:pic>
        <p:sp>
          <p:nvSpPr>
            <p:cNvPr id="665" name="Google Shape;665;p85"/>
            <p:cNvSpPr txBox="1"/>
            <p:nvPr/>
          </p:nvSpPr>
          <p:spPr>
            <a:xfrm>
              <a:off x="228600" y="190500"/>
              <a:ext cx="42102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pt-BR" sz="1070">
                  <a:solidFill>
                    <a:srgbClr val="38BDF8"/>
                  </a:solidFill>
                  <a:latin typeface="Inter"/>
                  <a:ea typeface="Inter"/>
                  <a:cs typeface="Inter"/>
                  <a:sym typeface="Inter"/>
                </a:rPr>
                <a:t>Vantagens </a:t>
              </a:r>
              <a:endParaRPr b="1" sz="1070">
                <a:solidFill>
                  <a:srgbClr val="38BDF8"/>
                </a:solidFill>
                <a:latin typeface="Inter"/>
                <a:ea typeface="Inter"/>
                <a:cs typeface="Inter"/>
                <a:sym typeface="Inter"/>
              </a:endParaRPr>
            </a:p>
            <a:p>
              <a:pPr indent="-296545" lvl="0" marL="457200" rtl="0" algn="l">
                <a:spcBef>
                  <a:spcPts val="600"/>
                </a:spcBef>
                <a:spcAft>
                  <a:spcPts val="0"/>
                </a:spcAft>
                <a:buClr>
                  <a:srgbClr val="94A3B8"/>
                </a:buClr>
                <a:buSzPts val="1070"/>
                <a:buChar char="●"/>
              </a:pPr>
              <a:r>
                <a:rPr b="1" lang="pt-BR" sz="1070">
                  <a:solidFill>
                    <a:srgbClr val="CBD5E1"/>
                  </a:solidFill>
                </a:rPr>
                <a:t>Maior Eficiência:</a:t>
              </a:r>
              <a:r>
                <a:rPr lang="pt-BR" sz="1070">
                  <a:solidFill>
                    <a:srgbClr val="CBD5E1"/>
                  </a:solidFill>
                </a:rPr>
                <a:t> Busca os melhores parâmetros com muito menos interações e tempo computacional.</a:t>
              </a:r>
              <a:endParaRPr sz="1070">
                <a:solidFill>
                  <a:srgbClr val="94A3B8"/>
                </a:solidFill>
              </a:endParaRPr>
            </a:p>
            <a:p>
              <a:pPr indent="-296545" lvl="0" marL="457200" rtl="0" algn="l">
                <a:spcBef>
                  <a:spcPts val="750"/>
                </a:spcBef>
                <a:spcAft>
                  <a:spcPts val="0"/>
                </a:spcAft>
                <a:buClr>
                  <a:srgbClr val="94A3B8"/>
                </a:buClr>
                <a:buSzPts val="1070"/>
                <a:buChar char="●"/>
              </a:pPr>
              <a:r>
                <a:rPr b="1" lang="pt-BR" sz="1070">
                  <a:solidFill>
                    <a:srgbClr val="CBD5E1"/>
                  </a:solidFill>
                </a:rPr>
                <a:t>Ideal para Modelos Pesados:</a:t>
              </a:r>
              <a:r>
                <a:rPr lang="pt-BR" sz="1070">
                  <a:solidFill>
                    <a:srgbClr val="CBD5E1"/>
                  </a:solidFill>
                </a:rPr>
                <a:t> Excelente quando o treino de cada modelo é extremamente demorado ou custoso.</a:t>
              </a:r>
              <a:endParaRPr sz="1070">
                <a:solidFill>
                  <a:srgbClr val="94A3B8"/>
                </a:solidFill>
              </a:endParaRPr>
            </a:p>
            <a:p>
              <a:pPr indent="-296545" lvl="0" marL="457200" rtl="0" algn="l">
                <a:spcBef>
                  <a:spcPts val="750"/>
                </a:spcBef>
                <a:spcAft>
                  <a:spcPts val="600"/>
                </a:spcAft>
                <a:buClr>
                  <a:srgbClr val="94A3B8"/>
                </a:buClr>
                <a:buSzPts val="1070"/>
                <a:buChar char="●"/>
              </a:pPr>
              <a:r>
                <a:rPr b="1" lang="pt-BR" sz="1070">
                  <a:solidFill>
                    <a:srgbClr val="CBD5E1"/>
                  </a:solidFill>
                </a:rPr>
                <a:t>Decisões Inteligentes:</a:t>
              </a:r>
              <a:r>
                <a:rPr lang="pt-BR" sz="1070">
                  <a:solidFill>
                    <a:srgbClr val="CBD5E1"/>
                  </a:solidFill>
                </a:rPr>
                <a:t> Evita testar regiões do espaço de busca que sabidamente produzem métricas ruins.</a:t>
              </a:r>
              <a:endParaRPr sz="1070">
                <a:solidFill>
                  <a:srgbClr val="94A3B8"/>
                </a:solidFill>
              </a:endParaRPr>
            </a:p>
          </p:txBody>
        </p:sp>
      </p:gr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9" name="Shape 669"/>
        <p:cNvGrpSpPr/>
        <p:nvPr/>
      </p:nvGrpSpPr>
      <p:grpSpPr>
        <a:xfrm>
          <a:off x="0" y="0"/>
          <a:ext cx="0" cy="0"/>
          <a:chOff x="0" y="0"/>
          <a:chExt cx="0" cy="0"/>
        </a:xfrm>
      </p:grpSpPr>
      <p:pic>
        <p:nvPicPr>
          <p:cNvPr id="670" name="Google Shape;670;p86"/>
          <p:cNvPicPr preferRelativeResize="0"/>
          <p:nvPr/>
        </p:nvPicPr>
        <p:blipFill rotWithShape="1">
          <a:blip r:embed="rId3">
            <a:alphaModFix/>
          </a:blip>
          <a:srcRect b="0" l="0" r="0" t="0"/>
          <a:stretch/>
        </p:blipFill>
        <p:spPr>
          <a:xfrm>
            <a:off x="0" y="0"/>
            <a:ext cx="9144000" cy="5143500"/>
          </a:xfrm>
          <a:prstGeom prst="rect">
            <a:avLst/>
          </a:prstGeom>
          <a:noFill/>
          <a:ln>
            <a:noFill/>
          </a:ln>
        </p:spPr>
      </p:pic>
      <p:grpSp>
        <p:nvGrpSpPr>
          <p:cNvPr id="671" name="Google Shape;671;p86"/>
          <p:cNvGrpSpPr/>
          <p:nvPr/>
        </p:nvGrpSpPr>
        <p:grpSpPr>
          <a:xfrm>
            <a:off x="476250" y="381000"/>
            <a:ext cx="8191500" cy="619200"/>
            <a:chOff x="476250" y="381000"/>
            <a:chExt cx="8191500" cy="619200"/>
          </a:xfrm>
        </p:grpSpPr>
        <p:sp>
          <p:nvSpPr>
            <p:cNvPr id="672" name="Google Shape;672;p86"/>
            <p:cNvSpPr txBox="1"/>
            <p:nvPr/>
          </p:nvSpPr>
          <p:spPr>
            <a:xfrm>
              <a:off x="476250" y="381000"/>
              <a:ext cx="8191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pt-BR" sz="2400">
                  <a:solidFill>
                    <a:srgbClr val="FFFFFF"/>
                  </a:solidFill>
                  <a:latin typeface="Arial"/>
                  <a:ea typeface="Arial"/>
                  <a:cs typeface="Arial"/>
                  <a:sym typeface="Arial"/>
                </a:rPr>
                <a:t>Otimização de Hiperparâmetros com Optuna</a:t>
              </a:r>
              <a:endParaRPr b="1" sz="2400">
                <a:solidFill>
                  <a:srgbClr val="FFFFFF"/>
                </a:solidFill>
                <a:latin typeface="Arial"/>
                <a:ea typeface="Arial"/>
                <a:cs typeface="Arial"/>
                <a:sym typeface="Arial"/>
              </a:endParaRPr>
            </a:p>
          </p:txBody>
        </p:sp>
        <p:sp>
          <p:nvSpPr>
            <p:cNvPr id="673" name="Google Shape;673;p86"/>
            <p:cNvSpPr txBox="1"/>
            <p:nvPr/>
          </p:nvSpPr>
          <p:spPr>
            <a:xfrm>
              <a:off x="476250" y="762000"/>
              <a:ext cx="8191500" cy="238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pt-BR" sz="1300">
                  <a:solidFill>
                    <a:srgbClr val="8B949E"/>
                  </a:solidFill>
                  <a:latin typeface="Arial"/>
                  <a:ea typeface="Arial"/>
                  <a:cs typeface="Arial"/>
                  <a:sym typeface="Arial"/>
                </a:rPr>
                <a:t>Parametrização moderna e eficiente baseada em algoritmos Bayesianos (TPE)</a:t>
              </a:r>
              <a:endParaRPr b="0" sz="1300">
                <a:solidFill>
                  <a:srgbClr val="8B949E"/>
                </a:solidFill>
                <a:latin typeface="Arial"/>
                <a:ea typeface="Arial"/>
                <a:cs typeface="Arial"/>
                <a:sym typeface="Arial"/>
              </a:endParaRPr>
            </a:p>
          </p:txBody>
        </p:sp>
      </p:grpSp>
      <p:grpSp>
        <p:nvGrpSpPr>
          <p:cNvPr id="674" name="Google Shape;674;p86"/>
          <p:cNvGrpSpPr/>
          <p:nvPr/>
        </p:nvGrpSpPr>
        <p:grpSpPr>
          <a:xfrm>
            <a:off x="438875" y="1073075"/>
            <a:ext cx="4734600" cy="3673500"/>
            <a:chOff x="-37375" y="-165175"/>
            <a:chExt cx="4734600" cy="3673500"/>
          </a:xfrm>
        </p:grpSpPr>
        <p:sp>
          <p:nvSpPr>
            <p:cNvPr id="675" name="Google Shape;675;p86"/>
            <p:cNvSpPr/>
            <p:nvPr/>
          </p:nvSpPr>
          <p:spPr>
            <a:xfrm>
              <a:off x="0" y="0"/>
              <a:ext cx="4381500" cy="3238500"/>
            </a:xfrm>
            <a:prstGeom prst="roundRect">
              <a:avLst>
                <a:gd fmla="val 2352" name="adj"/>
              </a:avLst>
            </a:prstGeom>
            <a:solidFill>
              <a:srgbClr val="161B22"/>
            </a:solidFill>
            <a:ln cap="flat" cmpd="sng" w="9525">
              <a:solidFill>
                <a:srgbClr val="30363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6" name="Google Shape;676;p86"/>
            <p:cNvSpPr txBox="1"/>
            <p:nvPr/>
          </p:nvSpPr>
          <p:spPr>
            <a:xfrm>
              <a:off x="-37375" y="-165175"/>
              <a:ext cx="4734600" cy="36735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lang="pt-BR" sz="750">
                  <a:solidFill>
                    <a:srgbClr val="FF7B72"/>
                  </a:solidFill>
                  <a:latin typeface="Courier New"/>
                  <a:ea typeface="Courier New"/>
                  <a:cs typeface="Courier New"/>
                  <a:sym typeface="Courier New"/>
                </a:rPr>
                <a:t>import</a:t>
              </a:r>
              <a:r>
                <a:rPr lang="pt-BR" sz="750">
                  <a:solidFill>
                    <a:srgbClr val="E6EDF3"/>
                  </a:solidFill>
                  <a:latin typeface="Courier New"/>
                  <a:ea typeface="Courier New"/>
                  <a:cs typeface="Courier New"/>
                  <a:sym typeface="Courier New"/>
                </a:rPr>
                <a:t> optuna</a:t>
              </a:r>
              <a:endParaRPr sz="750">
                <a:solidFill>
                  <a:srgbClr val="E6EDF3"/>
                </a:solidFill>
                <a:latin typeface="Courier New"/>
                <a:ea typeface="Courier New"/>
                <a:cs typeface="Courier New"/>
                <a:sym typeface="Courier New"/>
              </a:endParaRPr>
            </a:p>
            <a:p>
              <a:pPr indent="0" lvl="0" marL="0" rtl="0" algn="l">
                <a:spcBef>
                  <a:spcPts val="600"/>
                </a:spcBef>
                <a:spcAft>
                  <a:spcPts val="0"/>
                </a:spcAft>
                <a:buNone/>
              </a:pPr>
              <a:r>
                <a:rPr lang="pt-BR" sz="750">
                  <a:solidFill>
                    <a:srgbClr val="FF7B72"/>
                  </a:solidFill>
                  <a:latin typeface="Courier New"/>
                  <a:ea typeface="Courier New"/>
                  <a:cs typeface="Courier New"/>
                  <a:sym typeface="Courier New"/>
                </a:rPr>
                <a:t>import</a:t>
              </a:r>
              <a:r>
                <a:rPr lang="pt-BR" sz="750">
                  <a:solidFill>
                    <a:srgbClr val="E6EDF3"/>
                  </a:solidFill>
                  <a:latin typeface="Courier New"/>
                  <a:ea typeface="Courier New"/>
                  <a:cs typeface="Courier New"/>
                  <a:sym typeface="Courier New"/>
                </a:rPr>
                <a:t> keras</a:t>
              </a:r>
              <a:endParaRPr sz="750">
                <a:solidFill>
                  <a:srgbClr val="E6EDF3"/>
                </a:solidFill>
                <a:latin typeface="Courier New"/>
                <a:ea typeface="Courier New"/>
                <a:cs typeface="Courier New"/>
                <a:sym typeface="Courier New"/>
              </a:endParaRPr>
            </a:p>
            <a:p>
              <a:pPr indent="0" lvl="0" marL="0" rtl="0" algn="l">
                <a:spcBef>
                  <a:spcPts val="900"/>
                </a:spcBef>
                <a:spcAft>
                  <a:spcPts val="0"/>
                </a:spcAft>
                <a:buNone/>
              </a:pPr>
              <a:r>
                <a:rPr lang="pt-BR" sz="750">
                  <a:solidFill>
                    <a:srgbClr val="FF7B72"/>
                  </a:solidFill>
                  <a:latin typeface="Courier New"/>
                  <a:ea typeface="Courier New"/>
                  <a:cs typeface="Courier New"/>
                  <a:sym typeface="Courier New"/>
                </a:rPr>
                <a:t>def</a:t>
              </a:r>
              <a:r>
                <a:rPr lang="pt-BR" sz="750">
                  <a:solidFill>
                    <a:srgbClr val="E6EDF3"/>
                  </a:solidFill>
                  <a:latin typeface="Courier New"/>
                  <a:ea typeface="Courier New"/>
                  <a:cs typeface="Courier New"/>
                  <a:sym typeface="Courier New"/>
                </a:rPr>
                <a:t> </a:t>
              </a:r>
              <a:r>
                <a:rPr lang="pt-BR" sz="750">
                  <a:solidFill>
                    <a:srgbClr val="D2A8FF"/>
                  </a:solidFill>
                  <a:latin typeface="Courier New"/>
                  <a:ea typeface="Courier New"/>
                  <a:cs typeface="Courier New"/>
                  <a:sym typeface="Courier New"/>
                </a:rPr>
                <a:t>objective</a:t>
              </a:r>
              <a:r>
                <a:rPr lang="pt-BR" sz="750">
                  <a:solidFill>
                    <a:srgbClr val="E6EDF3"/>
                  </a:solidFill>
                  <a:latin typeface="Courier New"/>
                  <a:ea typeface="Courier New"/>
                  <a:cs typeface="Courier New"/>
                  <a:sym typeface="Courier New"/>
                </a:rPr>
                <a:t>(trial):</a:t>
              </a:r>
              <a:endParaRPr sz="750">
                <a:solidFill>
                  <a:srgbClr val="E6EDF3"/>
                </a:solidFill>
                <a:latin typeface="Courier New"/>
                <a:ea typeface="Courier New"/>
                <a:cs typeface="Courier New"/>
                <a:sym typeface="Courier New"/>
              </a:endParaRPr>
            </a:p>
            <a:p>
              <a:pPr indent="0" lvl="0" marL="190500" marR="0" rtl="0" algn="l">
                <a:spcBef>
                  <a:spcPts val="300"/>
                </a:spcBef>
                <a:spcAft>
                  <a:spcPts val="0"/>
                </a:spcAft>
                <a:buNone/>
              </a:pPr>
              <a:r>
                <a:rPr i="1" lang="pt-BR" sz="750">
                  <a:solidFill>
                    <a:srgbClr val="8B949E"/>
                  </a:solidFill>
                  <a:latin typeface="Courier New"/>
                  <a:ea typeface="Courier New"/>
                  <a:cs typeface="Courier New"/>
                  <a:sym typeface="Courier New"/>
                </a:rPr>
                <a:t># Definir o espaço de busca de hiperparâmetros</a:t>
              </a:r>
              <a:endParaRPr sz="750">
                <a:solidFill>
                  <a:srgbClr val="E6EDF3"/>
                </a:solidFill>
                <a:latin typeface="Courier New"/>
                <a:ea typeface="Courier New"/>
                <a:cs typeface="Courier New"/>
                <a:sym typeface="Courier New"/>
              </a:endParaRPr>
            </a:p>
            <a:p>
              <a:pPr indent="0" lvl="0" marL="190500" marR="0" rtl="0" algn="l">
                <a:spcBef>
                  <a:spcPts val="300"/>
                </a:spcBef>
                <a:spcAft>
                  <a:spcPts val="0"/>
                </a:spcAft>
                <a:buNone/>
              </a:pPr>
              <a:r>
                <a:rPr lang="pt-BR" sz="750">
                  <a:solidFill>
                    <a:srgbClr val="E6EDF3"/>
                  </a:solidFill>
                  <a:latin typeface="Courier New"/>
                  <a:ea typeface="Courier New"/>
                  <a:cs typeface="Courier New"/>
                  <a:sym typeface="Courier New"/>
                </a:rPr>
                <a:t>n_layers = trial.suggest_int(</a:t>
              </a:r>
              <a:r>
                <a:rPr lang="pt-BR" sz="750">
                  <a:solidFill>
                    <a:srgbClr val="A5D6FF"/>
                  </a:solidFill>
                  <a:latin typeface="Courier New"/>
                  <a:ea typeface="Courier New"/>
                  <a:cs typeface="Courier New"/>
                  <a:sym typeface="Courier New"/>
                </a:rPr>
                <a:t>"n_layers"</a:t>
              </a:r>
              <a:r>
                <a:rPr lang="pt-BR" sz="750">
                  <a:solidFill>
                    <a:srgbClr val="E6EDF3"/>
                  </a:solidFill>
                  <a:latin typeface="Courier New"/>
                  <a:ea typeface="Courier New"/>
                  <a:cs typeface="Courier New"/>
                  <a:sym typeface="Courier New"/>
                </a:rPr>
                <a:t>, </a:t>
              </a:r>
              <a:r>
                <a:rPr lang="pt-BR" sz="750">
                  <a:solidFill>
                    <a:srgbClr val="79C0FF"/>
                  </a:solidFill>
                  <a:latin typeface="Courier New"/>
                  <a:ea typeface="Courier New"/>
                  <a:cs typeface="Courier New"/>
                  <a:sym typeface="Courier New"/>
                </a:rPr>
                <a:t>1</a:t>
              </a:r>
              <a:r>
                <a:rPr lang="pt-BR" sz="750">
                  <a:solidFill>
                    <a:srgbClr val="E6EDF3"/>
                  </a:solidFill>
                  <a:latin typeface="Courier New"/>
                  <a:ea typeface="Courier New"/>
                  <a:cs typeface="Courier New"/>
                  <a:sym typeface="Courier New"/>
                </a:rPr>
                <a:t>, </a:t>
              </a:r>
              <a:r>
                <a:rPr lang="pt-BR" sz="750">
                  <a:solidFill>
                    <a:srgbClr val="79C0FF"/>
                  </a:solidFill>
                  <a:latin typeface="Courier New"/>
                  <a:ea typeface="Courier New"/>
                  <a:cs typeface="Courier New"/>
                  <a:sym typeface="Courier New"/>
                </a:rPr>
                <a:t>3</a:t>
              </a:r>
              <a:r>
                <a:rPr lang="pt-BR" sz="750">
                  <a:solidFill>
                    <a:srgbClr val="E6EDF3"/>
                  </a:solidFill>
                  <a:latin typeface="Courier New"/>
                  <a:ea typeface="Courier New"/>
                  <a:cs typeface="Courier New"/>
                  <a:sym typeface="Courier New"/>
                </a:rPr>
                <a:t>)</a:t>
              </a:r>
              <a:endParaRPr sz="750">
                <a:solidFill>
                  <a:srgbClr val="E6EDF3"/>
                </a:solidFill>
                <a:latin typeface="Courier New"/>
                <a:ea typeface="Courier New"/>
                <a:cs typeface="Courier New"/>
                <a:sym typeface="Courier New"/>
              </a:endParaRPr>
            </a:p>
            <a:p>
              <a:pPr indent="0" lvl="0" marL="190500" marR="0" rtl="0" algn="l">
                <a:spcBef>
                  <a:spcPts val="300"/>
                </a:spcBef>
                <a:spcAft>
                  <a:spcPts val="0"/>
                </a:spcAft>
                <a:buNone/>
              </a:pPr>
              <a:r>
                <a:rPr lang="pt-BR" sz="750">
                  <a:solidFill>
                    <a:srgbClr val="E6EDF3"/>
                  </a:solidFill>
                  <a:latin typeface="Courier New"/>
                  <a:ea typeface="Courier New"/>
                  <a:cs typeface="Courier New"/>
                  <a:sym typeface="Courier New"/>
                </a:rPr>
                <a:t>lr = trial.suggest_float(</a:t>
              </a:r>
              <a:r>
                <a:rPr lang="pt-BR" sz="750">
                  <a:solidFill>
                    <a:srgbClr val="A5D6FF"/>
                  </a:solidFill>
                  <a:latin typeface="Courier New"/>
                  <a:ea typeface="Courier New"/>
                  <a:cs typeface="Courier New"/>
                  <a:sym typeface="Courier New"/>
                </a:rPr>
                <a:t>"lr"</a:t>
              </a:r>
              <a:r>
                <a:rPr lang="pt-BR" sz="750">
                  <a:solidFill>
                    <a:srgbClr val="E6EDF3"/>
                  </a:solidFill>
                  <a:latin typeface="Courier New"/>
                  <a:ea typeface="Courier New"/>
                  <a:cs typeface="Courier New"/>
                  <a:sym typeface="Courier New"/>
                </a:rPr>
                <a:t>, </a:t>
              </a:r>
              <a:r>
                <a:rPr lang="pt-BR" sz="750">
                  <a:solidFill>
                    <a:srgbClr val="79C0FF"/>
                  </a:solidFill>
                  <a:latin typeface="Courier New"/>
                  <a:ea typeface="Courier New"/>
                  <a:cs typeface="Courier New"/>
                  <a:sym typeface="Courier New"/>
                </a:rPr>
                <a:t>1e-4</a:t>
              </a:r>
              <a:r>
                <a:rPr lang="pt-BR" sz="750">
                  <a:solidFill>
                    <a:srgbClr val="E6EDF3"/>
                  </a:solidFill>
                  <a:latin typeface="Courier New"/>
                  <a:ea typeface="Courier New"/>
                  <a:cs typeface="Courier New"/>
                  <a:sym typeface="Courier New"/>
                </a:rPr>
                <a:t>, </a:t>
              </a:r>
              <a:r>
                <a:rPr lang="pt-BR" sz="750">
                  <a:solidFill>
                    <a:srgbClr val="79C0FF"/>
                  </a:solidFill>
                  <a:latin typeface="Courier New"/>
                  <a:ea typeface="Courier New"/>
                  <a:cs typeface="Courier New"/>
                  <a:sym typeface="Courier New"/>
                </a:rPr>
                <a:t>1e-2</a:t>
              </a:r>
              <a:r>
                <a:rPr lang="pt-BR" sz="750">
                  <a:solidFill>
                    <a:srgbClr val="E6EDF3"/>
                  </a:solidFill>
                  <a:latin typeface="Courier New"/>
                  <a:ea typeface="Courier New"/>
                  <a:cs typeface="Courier New"/>
                  <a:sym typeface="Courier New"/>
                </a:rPr>
                <a:t>, log=</a:t>
              </a:r>
              <a:r>
                <a:rPr lang="pt-BR" sz="750">
                  <a:solidFill>
                    <a:srgbClr val="FF7B72"/>
                  </a:solidFill>
                  <a:latin typeface="Courier New"/>
                  <a:ea typeface="Courier New"/>
                  <a:cs typeface="Courier New"/>
                  <a:sym typeface="Courier New"/>
                </a:rPr>
                <a:t>True</a:t>
              </a:r>
              <a:r>
                <a:rPr lang="pt-BR" sz="750">
                  <a:solidFill>
                    <a:srgbClr val="E6EDF3"/>
                  </a:solidFill>
                  <a:latin typeface="Courier New"/>
                  <a:ea typeface="Courier New"/>
                  <a:cs typeface="Courier New"/>
                  <a:sym typeface="Courier New"/>
                </a:rPr>
                <a:t>)</a:t>
              </a:r>
              <a:endParaRPr sz="750">
                <a:solidFill>
                  <a:srgbClr val="E6EDF3"/>
                </a:solidFill>
                <a:latin typeface="Courier New"/>
                <a:ea typeface="Courier New"/>
                <a:cs typeface="Courier New"/>
                <a:sym typeface="Courier New"/>
              </a:endParaRPr>
            </a:p>
            <a:p>
              <a:pPr indent="0" lvl="0" marL="190500" marR="0" rtl="0" algn="l">
                <a:spcBef>
                  <a:spcPts val="300"/>
                </a:spcBef>
                <a:spcAft>
                  <a:spcPts val="0"/>
                </a:spcAft>
                <a:buNone/>
              </a:pPr>
              <a:r>
                <a:rPr lang="pt-BR" sz="750">
                  <a:solidFill>
                    <a:schemeClr val="dk2"/>
                  </a:solidFill>
                  <a:latin typeface="Courier New"/>
                  <a:ea typeface="Courier New"/>
                  <a:cs typeface="Courier New"/>
                  <a:sym typeface="Courier New"/>
                </a:rPr>
                <a:t>#se for par</a:t>
              </a:r>
              <a:r>
                <a:rPr lang="pt-BR" sz="750">
                  <a:solidFill>
                    <a:schemeClr val="dk2"/>
                  </a:solidFill>
                  <a:latin typeface="Courier New"/>
                  <a:ea typeface="Courier New"/>
                  <a:cs typeface="Courier New"/>
                  <a:sym typeface="Courier New"/>
                </a:rPr>
                <a:t>âmetro com limite superior/inferior:</a:t>
              </a:r>
              <a:endParaRPr sz="750">
                <a:solidFill>
                  <a:schemeClr val="dk2"/>
                </a:solidFill>
                <a:latin typeface="Courier New"/>
                <a:ea typeface="Courier New"/>
                <a:cs typeface="Courier New"/>
                <a:sym typeface="Courier New"/>
              </a:endParaRPr>
            </a:p>
            <a:p>
              <a:pPr indent="0" lvl="0" marL="190500" marR="0" rtl="0" algn="l">
                <a:spcBef>
                  <a:spcPts val="300"/>
                </a:spcBef>
                <a:spcAft>
                  <a:spcPts val="0"/>
                </a:spcAft>
                <a:buNone/>
              </a:pPr>
              <a:r>
                <a:rPr lang="pt-BR" sz="750">
                  <a:solidFill>
                    <a:srgbClr val="E6EDF3"/>
                  </a:solidFill>
                  <a:latin typeface="Courier New"/>
                  <a:ea typeface="Courier New"/>
                  <a:cs typeface="Courier New"/>
                  <a:sym typeface="Courier New"/>
                </a:rPr>
                <a:t>neurons = trial.suggest_int(</a:t>
              </a:r>
              <a:r>
                <a:rPr lang="pt-BR" sz="750">
                  <a:solidFill>
                    <a:srgbClr val="A5D6FF"/>
                  </a:solidFill>
                  <a:latin typeface="Courier New"/>
                  <a:ea typeface="Courier New"/>
                  <a:cs typeface="Courier New"/>
                  <a:sym typeface="Courier New"/>
                </a:rPr>
                <a:t>"neurons"</a:t>
              </a:r>
              <a:r>
                <a:rPr lang="pt-BR" sz="750">
                  <a:solidFill>
                    <a:srgbClr val="E6EDF3"/>
                  </a:solidFill>
                  <a:latin typeface="Courier New"/>
                  <a:ea typeface="Courier New"/>
                  <a:cs typeface="Courier New"/>
                  <a:sym typeface="Courier New"/>
                </a:rPr>
                <a:t>, </a:t>
              </a:r>
              <a:r>
                <a:rPr lang="pt-BR" sz="750">
                  <a:solidFill>
                    <a:srgbClr val="79C0FF"/>
                  </a:solidFill>
                  <a:latin typeface="Courier New"/>
                  <a:ea typeface="Courier New"/>
                  <a:cs typeface="Courier New"/>
                  <a:sym typeface="Courier New"/>
                </a:rPr>
                <a:t>10</a:t>
              </a:r>
              <a:r>
                <a:rPr lang="pt-BR" sz="750">
                  <a:solidFill>
                    <a:srgbClr val="E6EDF3"/>
                  </a:solidFill>
                  <a:latin typeface="Courier New"/>
                  <a:ea typeface="Courier New"/>
                  <a:cs typeface="Courier New"/>
                  <a:sym typeface="Courier New"/>
                </a:rPr>
                <a:t>, </a:t>
              </a:r>
              <a:r>
                <a:rPr lang="pt-BR" sz="750">
                  <a:solidFill>
                    <a:srgbClr val="79C0FF"/>
                  </a:solidFill>
                  <a:latin typeface="Courier New"/>
                  <a:ea typeface="Courier New"/>
                  <a:cs typeface="Courier New"/>
                  <a:sym typeface="Courier New"/>
                </a:rPr>
                <a:t>100</a:t>
              </a:r>
              <a:r>
                <a:rPr lang="pt-BR" sz="750">
                  <a:solidFill>
                    <a:srgbClr val="E6EDF3"/>
                  </a:solidFill>
                  <a:latin typeface="Courier New"/>
                  <a:ea typeface="Courier New"/>
                  <a:cs typeface="Courier New"/>
                  <a:sym typeface="Courier New"/>
                </a:rPr>
                <a:t>)</a:t>
              </a:r>
              <a:endParaRPr sz="750">
                <a:solidFill>
                  <a:srgbClr val="E6EDF3"/>
                </a:solidFill>
                <a:latin typeface="Courier New"/>
                <a:ea typeface="Courier New"/>
                <a:cs typeface="Courier New"/>
                <a:sym typeface="Courier New"/>
              </a:endParaRPr>
            </a:p>
            <a:p>
              <a:pPr indent="0" lvl="0" marL="190500" rtl="0" algn="l">
                <a:spcBef>
                  <a:spcPts val="900"/>
                </a:spcBef>
                <a:spcAft>
                  <a:spcPts val="0"/>
                </a:spcAft>
                <a:buNone/>
              </a:pPr>
              <a:r>
                <a:rPr lang="pt-BR" sz="750">
                  <a:solidFill>
                    <a:schemeClr val="dk2"/>
                  </a:solidFill>
                  <a:latin typeface="Courier New"/>
                  <a:ea typeface="Courier New"/>
                  <a:cs typeface="Courier New"/>
                  <a:sym typeface="Courier New"/>
                </a:rPr>
                <a:t>#se for parâmetro discreto:</a:t>
              </a:r>
              <a:endParaRPr sz="750">
                <a:solidFill>
                  <a:schemeClr val="dk2"/>
                </a:solidFill>
                <a:latin typeface="Courier New"/>
                <a:ea typeface="Courier New"/>
                <a:cs typeface="Courier New"/>
                <a:sym typeface="Courier New"/>
              </a:endParaRPr>
            </a:p>
            <a:p>
              <a:pPr indent="0" lvl="0" marL="190500" marR="0" rtl="0" algn="l">
                <a:spcBef>
                  <a:spcPts val="300"/>
                </a:spcBef>
                <a:spcAft>
                  <a:spcPts val="0"/>
                </a:spcAft>
                <a:buNone/>
              </a:pPr>
              <a:r>
                <a:rPr lang="pt-BR" sz="750">
                  <a:solidFill>
                    <a:srgbClr val="E6EDF3"/>
                  </a:solidFill>
                  <a:latin typeface="Courier New"/>
                  <a:ea typeface="Courier New"/>
                  <a:cs typeface="Courier New"/>
                  <a:sym typeface="Courier New"/>
                </a:rPr>
                <a:t>#</a:t>
              </a:r>
              <a:r>
                <a:rPr lang="pt-BR" sz="750">
                  <a:solidFill>
                    <a:srgbClr val="E6EDF3"/>
                  </a:solidFill>
                  <a:latin typeface="Courier New"/>
                  <a:ea typeface="Courier New"/>
                  <a:cs typeface="Courier New"/>
                  <a:sym typeface="Courier New"/>
                </a:rPr>
                <a:t>neurons = trial.suggest_categorical(</a:t>
              </a:r>
              <a:r>
                <a:rPr lang="pt-BR" sz="750">
                  <a:solidFill>
                    <a:srgbClr val="A5D6FF"/>
                  </a:solidFill>
                  <a:latin typeface="Courier New"/>
                  <a:ea typeface="Courier New"/>
                  <a:cs typeface="Courier New"/>
                  <a:sym typeface="Courier New"/>
                </a:rPr>
                <a:t>"neurons"</a:t>
              </a:r>
              <a:r>
                <a:rPr lang="pt-BR" sz="750">
                  <a:solidFill>
                    <a:srgbClr val="E6EDF3"/>
                  </a:solidFill>
                  <a:latin typeface="Courier New"/>
                  <a:ea typeface="Courier New"/>
                  <a:cs typeface="Courier New"/>
                  <a:sym typeface="Courier New"/>
                </a:rPr>
                <a:t>, [</a:t>
              </a:r>
              <a:r>
                <a:rPr lang="pt-BR" sz="750">
                  <a:solidFill>
                    <a:srgbClr val="79C0FF"/>
                  </a:solidFill>
                  <a:latin typeface="Courier New"/>
                  <a:ea typeface="Courier New"/>
                  <a:cs typeface="Courier New"/>
                  <a:sym typeface="Courier New"/>
                </a:rPr>
                <a:t>10</a:t>
              </a:r>
              <a:r>
                <a:rPr lang="pt-BR" sz="750">
                  <a:solidFill>
                    <a:schemeClr val="accent1"/>
                  </a:solidFill>
                  <a:latin typeface="Courier New"/>
                  <a:ea typeface="Courier New"/>
                  <a:cs typeface="Courier New"/>
                  <a:sym typeface="Courier New"/>
                </a:rPr>
                <a:t>, 20, 30</a:t>
              </a:r>
              <a:r>
                <a:rPr lang="pt-BR" sz="750">
                  <a:solidFill>
                    <a:srgbClr val="E6EDF3"/>
                  </a:solidFill>
                  <a:latin typeface="Courier New"/>
                  <a:ea typeface="Courier New"/>
                  <a:cs typeface="Courier New"/>
                  <a:sym typeface="Courier New"/>
                </a:rPr>
                <a:t>])</a:t>
              </a:r>
              <a:endParaRPr sz="750">
                <a:solidFill>
                  <a:srgbClr val="E6EDF3"/>
                </a:solidFill>
                <a:latin typeface="Courier New"/>
                <a:ea typeface="Courier New"/>
                <a:cs typeface="Courier New"/>
                <a:sym typeface="Courier New"/>
              </a:endParaRPr>
            </a:p>
            <a:p>
              <a:pPr indent="0" lvl="0" marL="190500" marR="0" rtl="0" algn="l">
                <a:spcBef>
                  <a:spcPts val="900"/>
                </a:spcBef>
                <a:spcAft>
                  <a:spcPts val="0"/>
                </a:spcAft>
                <a:buNone/>
              </a:pPr>
              <a:r>
                <a:rPr lang="pt-BR" sz="750">
                  <a:solidFill>
                    <a:srgbClr val="E6EDF3"/>
                  </a:solidFill>
                  <a:latin typeface="Courier New"/>
                  <a:ea typeface="Courier New"/>
                  <a:cs typeface="Courier New"/>
                  <a:sym typeface="Courier New"/>
                </a:rPr>
                <a:t>model = create_model(n_layers, neurons, lr)</a:t>
              </a:r>
              <a:endParaRPr sz="750">
                <a:solidFill>
                  <a:srgbClr val="E6EDF3"/>
                </a:solidFill>
                <a:latin typeface="Courier New"/>
                <a:ea typeface="Courier New"/>
                <a:cs typeface="Courier New"/>
                <a:sym typeface="Courier New"/>
              </a:endParaRPr>
            </a:p>
            <a:p>
              <a:pPr indent="0" lvl="0" marL="190500" marR="0" rtl="0" algn="l">
                <a:spcBef>
                  <a:spcPts val="300"/>
                </a:spcBef>
                <a:spcAft>
                  <a:spcPts val="0"/>
                </a:spcAft>
                <a:buNone/>
              </a:pPr>
              <a:r>
                <a:rPr lang="pt-BR" sz="750">
                  <a:solidFill>
                    <a:srgbClr val="E6EDF3"/>
                  </a:solidFill>
                  <a:latin typeface="Courier New"/>
                  <a:ea typeface="Courier New"/>
                  <a:cs typeface="Courier New"/>
                  <a:sym typeface="Courier New"/>
                </a:rPr>
                <a:t>history = model.fit(X_train, y_train, epochs=</a:t>
              </a:r>
              <a:r>
                <a:rPr lang="pt-BR" sz="750">
                  <a:solidFill>
                    <a:srgbClr val="79C0FF"/>
                  </a:solidFill>
                  <a:latin typeface="Courier New"/>
                  <a:ea typeface="Courier New"/>
                  <a:cs typeface="Courier New"/>
                  <a:sym typeface="Courier New"/>
                </a:rPr>
                <a:t>10</a:t>
              </a:r>
              <a:r>
                <a:rPr lang="pt-BR" sz="750">
                  <a:solidFill>
                    <a:srgbClr val="E6EDF3"/>
                  </a:solidFill>
                  <a:latin typeface="Courier New"/>
                  <a:ea typeface="Courier New"/>
                  <a:cs typeface="Courier New"/>
                  <a:sym typeface="Courier New"/>
                </a:rPr>
                <a:t>,</a:t>
              </a:r>
              <a:endParaRPr sz="750">
                <a:solidFill>
                  <a:srgbClr val="E6EDF3"/>
                </a:solidFill>
                <a:latin typeface="Courier New"/>
                <a:ea typeface="Courier New"/>
                <a:cs typeface="Courier New"/>
                <a:sym typeface="Courier New"/>
              </a:endParaRPr>
            </a:p>
            <a:p>
              <a:pPr indent="0" lvl="0" marL="1333500" marR="0" rtl="0" algn="l">
                <a:spcBef>
                  <a:spcPts val="300"/>
                </a:spcBef>
                <a:spcAft>
                  <a:spcPts val="0"/>
                </a:spcAft>
                <a:buNone/>
              </a:pPr>
              <a:r>
                <a:rPr lang="pt-BR" sz="750">
                  <a:solidFill>
                    <a:srgbClr val="E6EDF3"/>
                  </a:solidFill>
                  <a:latin typeface="Courier New"/>
                  <a:ea typeface="Courier New"/>
                  <a:cs typeface="Courier New"/>
                  <a:sym typeface="Courier New"/>
                </a:rPr>
                <a:t>validation_data=(X_val, y_val), verbose=</a:t>
              </a:r>
              <a:r>
                <a:rPr lang="pt-BR" sz="750">
                  <a:solidFill>
                    <a:srgbClr val="79C0FF"/>
                  </a:solidFill>
                  <a:latin typeface="Courier New"/>
                  <a:ea typeface="Courier New"/>
                  <a:cs typeface="Courier New"/>
                  <a:sym typeface="Courier New"/>
                </a:rPr>
                <a:t>0</a:t>
              </a:r>
              <a:r>
                <a:rPr lang="pt-BR" sz="750">
                  <a:solidFill>
                    <a:srgbClr val="E6EDF3"/>
                  </a:solidFill>
                  <a:latin typeface="Courier New"/>
                  <a:ea typeface="Courier New"/>
                  <a:cs typeface="Courier New"/>
                  <a:sym typeface="Courier New"/>
                </a:rPr>
                <a:t>)</a:t>
              </a:r>
              <a:endParaRPr sz="750">
                <a:solidFill>
                  <a:srgbClr val="E6EDF3"/>
                </a:solidFill>
                <a:latin typeface="Courier New"/>
                <a:ea typeface="Courier New"/>
                <a:cs typeface="Courier New"/>
                <a:sym typeface="Courier New"/>
              </a:endParaRPr>
            </a:p>
            <a:p>
              <a:pPr indent="0" lvl="0" marL="190500" marR="0" rtl="0" algn="l">
                <a:spcBef>
                  <a:spcPts val="300"/>
                </a:spcBef>
                <a:spcAft>
                  <a:spcPts val="0"/>
                </a:spcAft>
                <a:buNone/>
              </a:pPr>
              <a:r>
                <a:rPr lang="pt-BR" sz="750">
                  <a:solidFill>
                    <a:srgbClr val="E6EDF3"/>
                  </a:solidFill>
                  <a:latin typeface="Courier New"/>
                  <a:ea typeface="Courier New"/>
                  <a:cs typeface="Courier New"/>
                  <a:sym typeface="Courier New"/>
                </a:rPr>
                <a:t>val_loss = history.history[</a:t>
              </a:r>
              <a:r>
                <a:rPr lang="pt-BR" sz="750">
                  <a:solidFill>
                    <a:srgbClr val="A5D6FF"/>
                  </a:solidFill>
                  <a:latin typeface="Courier New"/>
                  <a:ea typeface="Courier New"/>
                  <a:cs typeface="Courier New"/>
                  <a:sym typeface="Courier New"/>
                </a:rPr>
                <a:t>"val_loss"</a:t>
              </a:r>
              <a:r>
                <a:rPr lang="pt-BR" sz="750">
                  <a:solidFill>
                    <a:srgbClr val="E6EDF3"/>
                  </a:solidFill>
                  <a:latin typeface="Courier New"/>
                  <a:ea typeface="Courier New"/>
                  <a:cs typeface="Courier New"/>
                  <a:sym typeface="Courier New"/>
                </a:rPr>
                <a:t>][-</a:t>
              </a:r>
              <a:r>
                <a:rPr lang="pt-BR" sz="750">
                  <a:solidFill>
                    <a:srgbClr val="79C0FF"/>
                  </a:solidFill>
                  <a:latin typeface="Courier New"/>
                  <a:ea typeface="Courier New"/>
                  <a:cs typeface="Courier New"/>
                  <a:sym typeface="Courier New"/>
                </a:rPr>
                <a:t>1</a:t>
              </a:r>
              <a:r>
                <a:rPr lang="pt-BR" sz="750">
                  <a:solidFill>
                    <a:srgbClr val="E6EDF3"/>
                  </a:solidFill>
                  <a:latin typeface="Courier New"/>
                  <a:ea typeface="Courier New"/>
                  <a:cs typeface="Courier New"/>
                  <a:sym typeface="Courier New"/>
                </a:rPr>
                <a:t>]</a:t>
              </a:r>
              <a:endParaRPr sz="750">
                <a:solidFill>
                  <a:srgbClr val="E6EDF3"/>
                </a:solidFill>
                <a:latin typeface="Courier New"/>
                <a:ea typeface="Courier New"/>
                <a:cs typeface="Courier New"/>
                <a:sym typeface="Courier New"/>
              </a:endParaRPr>
            </a:p>
            <a:p>
              <a:pPr indent="0" lvl="0" marL="190500" marR="0" rtl="0" algn="l">
                <a:spcBef>
                  <a:spcPts val="900"/>
                </a:spcBef>
                <a:spcAft>
                  <a:spcPts val="0"/>
                </a:spcAft>
                <a:buNone/>
              </a:pPr>
              <a:r>
                <a:rPr lang="pt-BR" sz="750">
                  <a:solidFill>
                    <a:srgbClr val="FF7B72"/>
                  </a:solidFill>
                  <a:latin typeface="Courier New"/>
                  <a:ea typeface="Courier New"/>
                  <a:cs typeface="Courier New"/>
                  <a:sym typeface="Courier New"/>
                </a:rPr>
                <a:t>return</a:t>
              </a:r>
              <a:r>
                <a:rPr lang="pt-BR" sz="750">
                  <a:solidFill>
                    <a:srgbClr val="E6EDF3"/>
                  </a:solidFill>
                  <a:latin typeface="Courier New"/>
                  <a:ea typeface="Courier New"/>
                  <a:cs typeface="Courier New"/>
                  <a:sym typeface="Courier New"/>
                </a:rPr>
                <a:t> val_loss</a:t>
              </a:r>
              <a:endParaRPr sz="750">
                <a:solidFill>
                  <a:srgbClr val="E6EDF3"/>
                </a:solidFill>
                <a:latin typeface="Courier New"/>
                <a:ea typeface="Courier New"/>
                <a:cs typeface="Courier New"/>
                <a:sym typeface="Courier New"/>
              </a:endParaRPr>
            </a:p>
            <a:p>
              <a:pPr indent="0" lvl="0" marL="0" rtl="0" algn="l">
                <a:spcBef>
                  <a:spcPts val="900"/>
                </a:spcBef>
                <a:spcAft>
                  <a:spcPts val="0"/>
                </a:spcAft>
                <a:buNone/>
              </a:pPr>
              <a:r>
                <a:rPr i="1" lang="pt-BR" sz="750">
                  <a:solidFill>
                    <a:srgbClr val="8B949E"/>
                  </a:solidFill>
                  <a:latin typeface="Courier New"/>
                  <a:ea typeface="Courier New"/>
                  <a:cs typeface="Courier New"/>
                  <a:sym typeface="Courier New"/>
                </a:rPr>
                <a:t># Criar o estudo e executar a otimização</a:t>
              </a:r>
              <a:endParaRPr sz="750">
                <a:solidFill>
                  <a:srgbClr val="E6EDF3"/>
                </a:solidFill>
                <a:latin typeface="Courier New"/>
                <a:ea typeface="Courier New"/>
                <a:cs typeface="Courier New"/>
                <a:sym typeface="Courier New"/>
              </a:endParaRPr>
            </a:p>
            <a:p>
              <a:pPr indent="0" lvl="0" marL="0" rtl="0" algn="l">
                <a:spcBef>
                  <a:spcPts val="300"/>
                </a:spcBef>
                <a:spcAft>
                  <a:spcPts val="0"/>
                </a:spcAft>
                <a:buNone/>
              </a:pPr>
              <a:r>
                <a:rPr lang="pt-BR" sz="750">
                  <a:solidFill>
                    <a:srgbClr val="E6EDF3"/>
                  </a:solidFill>
                  <a:latin typeface="Courier New"/>
                  <a:ea typeface="Courier New"/>
                  <a:cs typeface="Courier New"/>
                  <a:sym typeface="Courier New"/>
                </a:rPr>
                <a:t>study = optuna.create_study(direction=</a:t>
              </a:r>
              <a:r>
                <a:rPr lang="pt-BR" sz="750">
                  <a:solidFill>
                    <a:srgbClr val="A5D6FF"/>
                  </a:solidFill>
                  <a:latin typeface="Courier New"/>
                  <a:ea typeface="Courier New"/>
                  <a:cs typeface="Courier New"/>
                  <a:sym typeface="Courier New"/>
                </a:rPr>
                <a:t>"minimize"</a:t>
              </a:r>
              <a:r>
                <a:rPr lang="pt-BR" sz="750">
                  <a:solidFill>
                    <a:srgbClr val="E6EDF3"/>
                  </a:solidFill>
                  <a:latin typeface="Courier New"/>
                  <a:ea typeface="Courier New"/>
                  <a:cs typeface="Courier New"/>
                  <a:sym typeface="Courier New"/>
                </a:rPr>
                <a:t>)</a:t>
              </a:r>
              <a:endParaRPr sz="750">
                <a:solidFill>
                  <a:srgbClr val="E6EDF3"/>
                </a:solidFill>
                <a:latin typeface="Courier New"/>
                <a:ea typeface="Courier New"/>
                <a:cs typeface="Courier New"/>
                <a:sym typeface="Courier New"/>
              </a:endParaRPr>
            </a:p>
            <a:p>
              <a:pPr indent="0" lvl="0" marL="0" rtl="0" algn="l">
                <a:spcBef>
                  <a:spcPts val="300"/>
                </a:spcBef>
                <a:spcAft>
                  <a:spcPts val="300"/>
                </a:spcAft>
                <a:buNone/>
              </a:pPr>
              <a:r>
                <a:rPr lang="pt-BR" sz="750">
                  <a:solidFill>
                    <a:srgbClr val="E6EDF3"/>
                  </a:solidFill>
                  <a:latin typeface="Courier New"/>
                  <a:ea typeface="Courier New"/>
                  <a:cs typeface="Courier New"/>
                  <a:sym typeface="Courier New"/>
                </a:rPr>
                <a:t>study.optimize(objective, n_trials=</a:t>
              </a:r>
              <a:r>
                <a:rPr lang="pt-BR" sz="750">
                  <a:solidFill>
                    <a:srgbClr val="79C0FF"/>
                  </a:solidFill>
                  <a:latin typeface="Courier New"/>
                  <a:ea typeface="Courier New"/>
                  <a:cs typeface="Courier New"/>
                  <a:sym typeface="Courier New"/>
                </a:rPr>
                <a:t>30</a:t>
              </a:r>
              <a:r>
                <a:rPr lang="pt-BR" sz="750">
                  <a:solidFill>
                    <a:srgbClr val="E6EDF3"/>
                  </a:solidFill>
                  <a:latin typeface="Courier New"/>
                  <a:ea typeface="Courier New"/>
                  <a:cs typeface="Courier New"/>
                  <a:sym typeface="Courier New"/>
                </a:rPr>
                <a:t>)</a:t>
              </a:r>
              <a:endParaRPr sz="750">
                <a:solidFill>
                  <a:srgbClr val="E6EDF3"/>
                </a:solidFill>
                <a:latin typeface="Courier New"/>
                <a:ea typeface="Courier New"/>
                <a:cs typeface="Courier New"/>
                <a:sym typeface="Courier New"/>
              </a:endParaRPr>
            </a:p>
          </p:txBody>
        </p:sp>
      </p:grpSp>
      <p:grpSp>
        <p:nvGrpSpPr>
          <p:cNvPr id="677" name="Google Shape;677;p86"/>
          <p:cNvGrpSpPr/>
          <p:nvPr/>
        </p:nvGrpSpPr>
        <p:grpSpPr>
          <a:xfrm>
            <a:off x="5143500" y="1238250"/>
            <a:ext cx="3524400" cy="3238500"/>
            <a:chOff x="0" y="0"/>
            <a:chExt cx="3524400" cy="3238500"/>
          </a:xfrm>
        </p:grpSpPr>
        <p:sp>
          <p:nvSpPr>
            <p:cNvPr id="678" name="Google Shape;678;p86"/>
            <p:cNvSpPr/>
            <p:nvPr/>
          </p:nvSpPr>
          <p:spPr>
            <a:xfrm>
              <a:off x="0" y="0"/>
              <a:ext cx="3524400" cy="3238500"/>
            </a:xfrm>
            <a:prstGeom prst="roundRect">
              <a:avLst>
                <a:gd fmla="val 2352" name="adj"/>
              </a:avLst>
            </a:prstGeom>
            <a:solidFill>
              <a:srgbClr val="161B22"/>
            </a:solidFill>
            <a:ln cap="flat" cmpd="sng" w="9525">
              <a:solidFill>
                <a:srgbClr val="30363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679" name="Google Shape;679;p86"/>
            <p:cNvPicPr preferRelativeResize="0"/>
            <p:nvPr/>
          </p:nvPicPr>
          <p:blipFill rotWithShape="1">
            <a:blip r:embed="rId4">
              <a:alphaModFix/>
            </a:blip>
            <a:srcRect b="0" l="0" r="0" t="0"/>
            <a:stretch/>
          </p:blipFill>
          <p:spPr>
            <a:xfrm>
              <a:off x="0" y="947738"/>
              <a:ext cx="3524400" cy="9600"/>
            </a:xfrm>
            <a:prstGeom prst="rect">
              <a:avLst/>
            </a:prstGeom>
            <a:noFill/>
            <a:ln>
              <a:noFill/>
            </a:ln>
          </p:spPr>
        </p:pic>
        <p:pic>
          <p:nvPicPr>
            <p:cNvPr id="680" name="Google Shape;680;p86"/>
            <p:cNvPicPr preferRelativeResize="0"/>
            <p:nvPr/>
          </p:nvPicPr>
          <p:blipFill rotWithShape="1">
            <a:blip r:embed="rId4">
              <a:alphaModFix/>
            </a:blip>
            <a:srcRect b="0" l="0" r="0" t="0"/>
            <a:stretch/>
          </p:blipFill>
          <p:spPr>
            <a:xfrm>
              <a:off x="0" y="2090738"/>
              <a:ext cx="3524400" cy="9600"/>
            </a:xfrm>
            <a:prstGeom prst="rect">
              <a:avLst/>
            </a:prstGeom>
            <a:noFill/>
            <a:ln>
              <a:noFill/>
            </a:ln>
          </p:spPr>
        </p:pic>
        <p:sp>
          <p:nvSpPr>
            <p:cNvPr id="681" name="Google Shape;681;p86"/>
            <p:cNvSpPr txBox="1"/>
            <p:nvPr/>
          </p:nvSpPr>
          <p:spPr>
            <a:xfrm>
              <a:off x="190500" y="190500"/>
              <a:ext cx="3143400" cy="619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pt-BR" sz="1200">
                  <a:solidFill>
                    <a:srgbClr val="58A6FF"/>
                  </a:solidFill>
                  <a:latin typeface="Arial"/>
                  <a:ea typeface="Arial"/>
                  <a:cs typeface="Arial"/>
                  <a:sym typeface="Arial"/>
                </a:rPr>
                <a:t>Vantagens do Optuna</a:t>
              </a:r>
              <a:endParaRPr b="1" sz="1200">
                <a:solidFill>
                  <a:srgbClr val="58A6FF"/>
                </a:solidFill>
                <a:latin typeface="Arial"/>
                <a:ea typeface="Arial"/>
                <a:cs typeface="Arial"/>
                <a:sym typeface="Arial"/>
              </a:endParaRPr>
            </a:p>
            <a:p>
              <a:pPr indent="0" lvl="0" marL="0" rtl="0" algn="l">
                <a:spcBef>
                  <a:spcPts val="450"/>
                </a:spcBef>
                <a:spcAft>
                  <a:spcPts val="0"/>
                </a:spcAft>
                <a:buNone/>
              </a:pPr>
              <a:r>
                <a:rPr b="0" lang="pt-BR" sz="1100">
                  <a:solidFill>
                    <a:srgbClr val="C9D1D9"/>
                  </a:solidFill>
                  <a:latin typeface="Arial"/>
                  <a:ea typeface="Arial"/>
                  <a:cs typeface="Arial"/>
                  <a:sym typeface="Arial"/>
                </a:rPr>
                <a:t>- Busca Bayesiana (TPE) mais inteligente e rápida que o Random ou Grid Search.</a:t>
              </a:r>
              <a:endParaRPr b="0" sz="1100">
                <a:solidFill>
                  <a:srgbClr val="C9D1D9"/>
                </a:solidFill>
                <a:latin typeface="Arial"/>
                <a:ea typeface="Arial"/>
                <a:cs typeface="Arial"/>
                <a:sym typeface="Arial"/>
              </a:endParaRPr>
            </a:p>
          </p:txBody>
        </p:sp>
        <p:sp>
          <p:nvSpPr>
            <p:cNvPr id="682" name="Google Shape;682;p86"/>
            <p:cNvSpPr txBox="1"/>
            <p:nvPr/>
          </p:nvSpPr>
          <p:spPr>
            <a:xfrm>
              <a:off x="190500" y="1143000"/>
              <a:ext cx="31434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pt-BR" sz="1200">
                  <a:solidFill>
                    <a:srgbClr val="58A6FF"/>
                  </a:solidFill>
                  <a:latin typeface="Arial"/>
                  <a:ea typeface="Arial"/>
                  <a:cs typeface="Arial"/>
                  <a:sym typeface="Arial"/>
                </a:rPr>
                <a:t>Espaço de Busca Dinâmico</a:t>
              </a:r>
              <a:endParaRPr b="1" sz="1200">
                <a:solidFill>
                  <a:srgbClr val="58A6FF"/>
                </a:solidFill>
                <a:latin typeface="Arial"/>
                <a:ea typeface="Arial"/>
                <a:cs typeface="Arial"/>
                <a:sym typeface="Arial"/>
              </a:endParaRPr>
            </a:p>
            <a:p>
              <a:pPr indent="0" lvl="0" marL="0" rtl="0" algn="l">
                <a:spcBef>
                  <a:spcPts val="450"/>
                </a:spcBef>
                <a:spcAft>
                  <a:spcPts val="0"/>
                </a:spcAft>
                <a:buNone/>
              </a:pPr>
              <a:r>
                <a:rPr b="0" lang="pt-BR" sz="1100">
                  <a:solidFill>
                    <a:srgbClr val="C9D1D9"/>
                  </a:solidFill>
                  <a:latin typeface="Arial"/>
                  <a:ea typeface="Arial"/>
                  <a:cs typeface="Arial"/>
                  <a:sym typeface="Arial"/>
                </a:rPr>
                <a:t>- Permite condicionar parâmetros (ex: definir quantidade de neurônios por camada de forma dinâmica usando loops Python nativos).</a:t>
              </a:r>
              <a:endParaRPr b="0" sz="1100">
                <a:solidFill>
                  <a:srgbClr val="C9D1D9"/>
                </a:solidFill>
                <a:latin typeface="Arial"/>
                <a:ea typeface="Arial"/>
                <a:cs typeface="Arial"/>
                <a:sym typeface="Arial"/>
              </a:endParaRPr>
            </a:p>
          </p:txBody>
        </p:sp>
        <p:sp>
          <p:nvSpPr>
            <p:cNvPr id="683" name="Google Shape;683;p86"/>
            <p:cNvSpPr txBox="1"/>
            <p:nvPr/>
          </p:nvSpPr>
          <p:spPr>
            <a:xfrm>
              <a:off x="190500" y="2286000"/>
              <a:ext cx="31434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pt-BR" sz="1200">
                  <a:solidFill>
                    <a:srgbClr val="58A6FF"/>
                  </a:solidFill>
                  <a:latin typeface="Arial"/>
                  <a:ea typeface="Arial"/>
                  <a:cs typeface="Arial"/>
                  <a:sym typeface="Arial"/>
                </a:rPr>
                <a:t>Documentação e Exemplos</a:t>
              </a:r>
              <a:endParaRPr b="1" sz="1200">
                <a:solidFill>
                  <a:srgbClr val="58A6FF"/>
                </a:solidFill>
                <a:latin typeface="Arial"/>
                <a:ea typeface="Arial"/>
                <a:cs typeface="Arial"/>
                <a:sym typeface="Arial"/>
              </a:endParaRPr>
            </a:p>
            <a:p>
              <a:pPr indent="0" lvl="0" marL="0" rtl="0" algn="l">
                <a:spcBef>
                  <a:spcPts val="450"/>
                </a:spcBef>
                <a:spcAft>
                  <a:spcPts val="0"/>
                </a:spcAft>
                <a:buNone/>
              </a:pPr>
              <a:r>
                <a:rPr b="0" lang="pt-BR" sz="1100">
                  <a:solidFill>
                    <a:srgbClr val="C9D1D9"/>
                  </a:solidFill>
                  <a:latin typeface="Arial"/>
                  <a:ea typeface="Arial"/>
                  <a:cs typeface="Arial"/>
                  <a:sym typeface="Arial"/>
                </a:rPr>
                <a:t>Acesse a API oficial e tutoriais de integração:</a:t>
              </a:r>
              <a:endParaRPr b="0" sz="1100">
                <a:solidFill>
                  <a:srgbClr val="C9D1D9"/>
                </a:solidFill>
                <a:latin typeface="Arial"/>
                <a:ea typeface="Arial"/>
                <a:cs typeface="Arial"/>
                <a:sym typeface="Arial"/>
              </a:endParaRPr>
            </a:p>
            <a:p>
              <a:pPr indent="0" lvl="0" marL="0" rtl="0" algn="l">
                <a:spcBef>
                  <a:spcPts val="600"/>
                </a:spcBef>
                <a:spcAft>
                  <a:spcPts val="0"/>
                </a:spcAft>
                <a:buNone/>
              </a:pPr>
              <a:r>
                <a:rPr b="0" lang="pt-BR" sz="1100" u="sng">
                  <a:solidFill>
                    <a:srgbClr val="58A6FF"/>
                  </a:solidFill>
                  <a:latin typeface="Arial"/>
                  <a:ea typeface="Arial"/>
                  <a:cs typeface="Arial"/>
                  <a:sym typeface="Arial"/>
                  <a:hlinkClick r:id="rId5">
                    <a:extLst>
                      <a:ext uri="{A12FA001-AC4F-418D-AE19-62706E023703}">
                        <ahyp:hlinkClr val="tx"/>
                      </a:ext>
                    </a:extLst>
                  </a:hlinkClick>
                </a:rPr>
                <a:t>https://optuna.org/</a:t>
              </a:r>
              <a:endParaRPr/>
            </a:p>
          </p:txBody>
        </p:sp>
      </p:gr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87" name="Shape 687"/>
        <p:cNvGrpSpPr/>
        <p:nvPr/>
      </p:nvGrpSpPr>
      <p:grpSpPr>
        <a:xfrm>
          <a:off x="0" y="0"/>
          <a:ext cx="0" cy="0"/>
          <a:chOff x="0" y="0"/>
          <a:chExt cx="0" cy="0"/>
        </a:xfrm>
      </p:grpSpPr>
      <p:sp>
        <p:nvSpPr>
          <p:cNvPr id="688" name="Google Shape;688;p87"/>
          <p:cNvSpPr txBox="1"/>
          <p:nvPr>
            <p:ph type="title"/>
          </p:nvPr>
        </p:nvSpPr>
        <p:spPr>
          <a:xfrm>
            <a:off x="441367" y="451124"/>
            <a:ext cx="4549500" cy="413100"/>
          </a:xfrm>
          <a:prstGeom prst="rect">
            <a:avLst/>
          </a:prstGeom>
          <a:noFill/>
          <a:ln>
            <a:noFill/>
          </a:ln>
        </p:spPr>
        <p:txBody>
          <a:bodyPr anchorCtr="0" anchor="t" bIns="0" lIns="0" spcFirstLastPara="1" rIns="0" wrap="square" tIns="12675">
            <a:spAutoFit/>
          </a:bodyPr>
          <a:lstStyle/>
          <a:p>
            <a:pPr indent="0" lvl="0" marL="12700" rtl="0" algn="l">
              <a:lnSpc>
                <a:spcPct val="100000"/>
              </a:lnSpc>
              <a:spcBef>
                <a:spcPts val="0"/>
              </a:spcBef>
              <a:spcAft>
                <a:spcPts val="0"/>
              </a:spcAft>
              <a:buNone/>
            </a:pPr>
            <a:r>
              <a:rPr lang="pt-BR" sz="2600"/>
              <a:t>Definição da Função Custo:</a:t>
            </a:r>
            <a:endParaRPr sz="2600"/>
          </a:p>
        </p:txBody>
      </p:sp>
      <p:sp>
        <p:nvSpPr>
          <p:cNvPr id="689" name="Google Shape;689;p87"/>
          <p:cNvSpPr txBox="1"/>
          <p:nvPr/>
        </p:nvSpPr>
        <p:spPr>
          <a:xfrm>
            <a:off x="540994" y="1184948"/>
            <a:ext cx="2814900" cy="2270400"/>
          </a:xfrm>
          <a:prstGeom prst="rect">
            <a:avLst/>
          </a:prstGeom>
          <a:noFill/>
          <a:ln>
            <a:noFill/>
          </a:ln>
        </p:spPr>
        <p:txBody>
          <a:bodyPr anchorCtr="0" anchor="t" bIns="0" lIns="0" spcFirstLastPara="1" rIns="0" wrap="square" tIns="12675">
            <a:spAutoFit/>
          </a:bodyPr>
          <a:lstStyle/>
          <a:p>
            <a:pPr indent="-266700" lvl="0" marL="279400" marR="0" rtl="0" algn="l">
              <a:lnSpc>
                <a:spcPct val="100000"/>
              </a:lnSpc>
              <a:spcBef>
                <a:spcPts val="0"/>
              </a:spcBef>
              <a:spcAft>
                <a:spcPts val="0"/>
              </a:spcAft>
              <a:buSzPts val="1200"/>
              <a:buFont typeface="Noto Sans Symbols"/>
              <a:buChar char="●"/>
            </a:pPr>
            <a:r>
              <a:rPr lang="pt-BR" sz="2600">
                <a:latin typeface="Arial"/>
                <a:ea typeface="Arial"/>
                <a:cs typeface="Arial"/>
                <a:sym typeface="Arial"/>
              </a:rPr>
              <a:t>Regressão</a:t>
            </a:r>
            <a:endParaRPr sz="2600">
              <a:latin typeface="Arial"/>
              <a:ea typeface="Arial"/>
              <a:cs typeface="Arial"/>
              <a:sym typeface="Arial"/>
            </a:endParaRPr>
          </a:p>
          <a:p>
            <a:pPr indent="0" lvl="0" marL="0" marR="0" rtl="0" algn="l">
              <a:lnSpc>
                <a:spcPct val="100000"/>
              </a:lnSpc>
              <a:spcBef>
                <a:spcPts val="0"/>
              </a:spcBef>
              <a:spcAft>
                <a:spcPts val="0"/>
              </a:spcAft>
              <a:buNone/>
            </a:pPr>
            <a:r>
              <a:t/>
            </a:r>
            <a:endParaRPr sz="2900">
              <a:latin typeface="Arial"/>
              <a:ea typeface="Arial"/>
              <a:cs typeface="Arial"/>
              <a:sym typeface="Arial"/>
            </a:endParaRPr>
          </a:p>
          <a:p>
            <a:pPr indent="0" lvl="0" marL="25400" marR="0" rtl="0" algn="l">
              <a:lnSpc>
                <a:spcPct val="100000"/>
              </a:lnSpc>
              <a:spcBef>
                <a:spcPts val="2600"/>
              </a:spcBef>
              <a:spcAft>
                <a:spcPts val="0"/>
              </a:spcAft>
              <a:buNone/>
            </a:pPr>
            <a:r>
              <a:rPr lang="pt-BR" sz="2200">
                <a:latin typeface="Arial"/>
                <a:ea typeface="Arial"/>
                <a:cs typeface="Arial"/>
                <a:sym typeface="Arial"/>
              </a:rPr>
              <a:t>As mais usadas são:</a:t>
            </a:r>
            <a:endParaRPr sz="2200">
              <a:latin typeface="Arial"/>
              <a:ea typeface="Arial"/>
              <a:cs typeface="Arial"/>
              <a:sym typeface="Arial"/>
            </a:endParaRPr>
          </a:p>
          <a:p>
            <a:pPr indent="0" lvl="0" marL="0" marR="0" rtl="0" algn="l">
              <a:lnSpc>
                <a:spcPct val="100000"/>
              </a:lnSpc>
              <a:spcBef>
                <a:spcPts val="0"/>
              </a:spcBef>
              <a:spcAft>
                <a:spcPts val="0"/>
              </a:spcAft>
              <a:buNone/>
            </a:pPr>
            <a:r>
              <a:t/>
            </a:r>
            <a:endParaRPr sz="2800">
              <a:latin typeface="Arial"/>
              <a:ea typeface="Arial"/>
              <a:cs typeface="Arial"/>
              <a:sym typeface="Arial"/>
            </a:endParaRPr>
          </a:p>
          <a:p>
            <a:pPr indent="0" lvl="0" marL="0" marR="0" rtl="0" algn="l">
              <a:lnSpc>
                <a:spcPct val="100000"/>
              </a:lnSpc>
              <a:spcBef>
                <a:spcPts val="0"/>
              </a:spcBef>
              <a:spcAft>
                <a:spcPts val="0"/>
              </a:spcAft>
              <a:buNone/>
            </a:pPr>
            <a:r>
              <a:rPr lang="pt-BR" sz="2000"/>
              <a:t>MSE loss (</a:t>
            </a:r>
            <a:r>
              <a:rPr lang="pt-BR" sz="2000">
                <a:latin typeface="Arial"/>
                <a:ea typeface="Arial"/>
                <a:cs typeface="Arial"/>
                <a:sym typeface="Arial"/>
              </a:rPr>
              <a:t>L2 loss)</a:t>
            </a:r>
            <a:endParaRPr sz="2000">
              <a:latin typeface="Arial"/>
              <a:ea typeface="Arial"/>
              <a:cs typeface="Arial"/>
              <a:sym typeface="Arial"/>
            </a:endParaRPr>
          </a:p>
        </p:txBody>
      </p:sp>
      <p:sp>
        <p:nvSpPr>
          <p:cNvPr id="690" name="Google Shape;690;p87"/>
          <p:cNvSpPr/>
          <p:nvPr/>
        </p:nvSpPr>
        <p:spPr>
          <a:xfrm>
            <a:off x="4989894" y="540413"/>
            <a:ext cx="4154100" cy="24453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500"/>
          </a:p>
        </p:txBody>
      </p:sp>
      <p:sp>
        <p:nvSpPr>
          <p:cNvPr id="691" name="Google Shape;691;p87"/>
          <p:cNvSpPr txBox="1"/>
          <p:nvPr/>
        </p:nvSpPr>
        <p:spPr>
          <a:xfrm>
            <a:off x="541000" y="4126650"/>
            <a:ext cx="2519700" cy="321600"/>
          </a:xfrm>
          <a:prstGeom prst="rect">
            <a:avLst/>
          </a:prstGeom>
          <a:noFill/>
          <a:ln>
            <a:noFill/>
          </a:ln>
        </p:spPr>
        <p:txBody>
          <a:bodyPr anchorCtr="0" anchor="t" bIns="0" lIns="0" spcFirstLastPara="1" rIns="0" wrap="square" tIns="13725">
            <a:spAutoFit/>
          </a:bodyPr>
          <a:lstStyle/>
          <a:p>
            <a:pPr indent="0" lvl="0" marL="12700" marR="0" rtl="0" algn="l">
              <a:lnSpc>
                <a:spcPct val="100000"/>
              </a:lnSpc>
              <a:spcBef>
                <a:spcPts val="0"/>
              </a:spcBef>
              <a:spcAft>
                <a:spcPts val="0"/>
              </a:spcAft>
              <a:buNone/>
            </a:pPr>
            <a:r>
              <a:rPr lang="pt-BR" sz="2000"/>
              <a:t>MAE loss (L</a:t>
            </a:r>
            <a:r>
              <a:rPr lang="pt-BR" sz="2000">
                <a:latin typeface="Arial"/>
                <a:ea typeface="Arial"/>
                <a:cs typeface="Arial"/>
                <a:sym typeface="Arial"/>
              </a:rPr>
              <a:t>1</a:t>
            </a:r>
            <a:r>
              <a:rPr lang="pt-BR" sz="2000"/>
              <a:t> loss)</a:t>
            </a:r>
            <a:endParaRPr sz="2000">
              <a:latin typeface="Arial"/>
              <a:ea typeface="Arial"/>
              <a:cs typeface="Arial"/>
              <a:sym typeface="Arial"/>
            </a:endParaRPr>
          </a:p>
        </p:txBody>
      </p:sp>
      <p:sp>
        <p:nvSpPr>
          <p:cNvPr id="692" name="Google Shape;692;p87"/>
          <p:cNvSpPr/>
          <p:nvPr/>
        </p:nvSpPr>
        <p:spPr>
          <a:xfrm>
            <a:off x="2701622" y="3153458"/>
            <a:ext cx="2594400" cy="254100"/>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500"/>
          </a:p>
        </p:txBody>
      </p:sp>
      <p:sp>
        <p:nvSpPr>
          <p:cNvPr id="693" name="Google Shape;693;p87"/>
          <p:cNvSpPr/>
          <p:nvPr/>
        </p:nvSpPr>
        <p:spPr>
          <a:xfrm>
            <a:off x="2738975" y="4179749"/>
            <a:ext cx="2594400" cy="254100"/>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500"/>
          </a:p>
        </p:txBody>
      </p:sp>
      <p:sp>
        <p:nvSpPr>
          <p:cNvPr id="694" name="Google Shape;694;p87"/>
          <p:cNvSpPr txBox="1"/>
          <p:nvPr/>
        </p:nvSpPr>
        <p:spPr>
          <a:xfrm>
            <a:off x="541000" y="3438150"/>
            <a:ext cx="4154100" cy="575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pt-BR" sz="1250">
                <a:solidFill>
                  <a:srgbClr val="CED4DA"/>
                </a:solidFill>
                <a:highlight>
                  <a:schemeClr val="dk1"/>
                </a:highlight>
                <a:latin typeface="Courier New"/>
                <a:ea typeface="Courier New"/>
                <a:cs typeface="Courier New"/>
                <a:sym typeface="Courier New"/>
              </a:rPr>
              <a:t>MSE_loss = mean(square(y_true - y_pred))</a:t>
            </a:r>
            <a:endParaRPr sz="1250">
              <a:solidFill>
                <a:srgbClr val="CED4DA"/>
              </a:solidFill>
              <a:highlight>
                <a:schemeClr val="dk1"/>
              </a:highlight>
              <a:latin typeface="Courier New"/>
              <a:ea typeface="Courier New"/>
              <a:cs typeface="Courier New"/>
              <a:sym typeface="Courier New"/>
            </a:endParaRPr>
          </a:p>
          <a:p>
            <a:pPr indent="0" lvl="0" marL="0" rtl="0" algn="l">
              <a:lnSpc>
                <a:spcPct val="115000"/>
              </a:lnSpc>
              <a:spcBef>
                <a:spcPts val="0"/>
              </a:spcBef>
              <a:spcAft>
                <a:spcPts val="0"/>
              </a:spcAft>
              <a:buNone/>
            </a:pPr>
            <a:r>
              <a:t/>
            </a:r>
            <a:endParaRPr sz="1100">
              <a:solidFill>
                <a:srgbClr val="F8F8F2"/>
              </a:solidFill>
              <a:highlight>
                <a:schemeClr val="dk1"/>
              </a:highlight>
              <a:latin typeface="Courier New"/>
              <a:ea typeface="Courier New"/>
              <a:cs typeface="Courier New"/>
              <a:sym typeface="Courier New"/>
            </a:endParaRPr>
          </a:p>
        </p:txBody>
      </p:sp>
      <p:sp>
        <p:nvSpPr>
          <p:cNvPr id="695" name="Google Shape;695;p87"/>
          <p:cNvSpPr txBox="1"/>
          <p:nvPr/>
        </p:nvSpPr>
        <p:spPr>
          <a:xfrm>
            <a:off x="616450" y="4682625"/>
            <a:ext cx="4003200" cy="72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350">
                <a:solidFill>
                  <a:srgbClr val="F8F8F2"/>
                </a:solidFill>
                <a:highlight>
                  <a:schemeClr val="dk1"/>
                </a:highlight>
                <a:latin typeface="Courier New"/>
                <a:ea typeface="Courier New"/>
                <a:cs typeface="Courier New"/>
                <a:sym typeface="Courier New"/>
              </a:rPr>
              <a:t>MAE_</a:t>
            </a:r>
            <a:r>
              <a:rPr lang="pt-BR" sz="1350">
                <a:solidFill>
                  <a:srgbClr val="F8F8F2"/>
                </a:solidFill>
                <a:highlight>
                  <a:schemeClr val="dk1"/>
                </a:highlight>
                <a:latin typeface="Courier New"/>
                <a:ea typeface="Courier New"/>
                <a:cs typeface="Courier New"/>
                <a:sym typeface="Courier New"/>
              </a:rPr>
              <a:t>loss</a:t>
            </a:r>
            <a:r>
              <a:rPr lang="pt-BR" sz="1350">
                <a:solidFill>
                  <a:srgbClr val="CED4DA"/>
                </a:solidFill>
                <a:highlight>
                  <a:schemeClr val="dk1"/>
                </a:highlight>
                <a:latin typeface="Courier New"/>
                <a:ea typeface="Courier New"/>
                <a:cs typeface="Courier New"/>
                <a:sym typeface="Courier New"/>
              </a:rPr>
              <a:t> </a:t>
            </a:r>
            <a:r>
              <a:rPr lang="pt-BR" sz="1350">
                <a:solidFill>
                  <a:srgbClr val="F92672"/>
                </a:solidFill>
                <a:highlight>
                  <a:schemeClr val="dk1"/>
                </a:highlight>
                <a:latin typeface="Courier New"/>
                <a:ea typeface="Courier New"/>
                <a:cs typeface="Courier New"/>
                <a:sym typeface="Courier New"/>
              </a:rPr>
              <a:t>=</a:t>
            </a:r>
            <a:r>
              <a:rPr lang="pt-BR" sz="1350">
                <a:solidFill>
                  <a:srgbClr val="CED4DA"/>
                </a:solidFill>
                <a:highlight>
                  <a:schemeClr val="dk1"/>
                </a:highlight>
                <a:latin typeface="Courier New"/>
                <a:ea typeface="Courier New"/>
                <a:cs typeface="Courier New"/>
                <a:sym typeface="Courier New"/>
              </a:rPr>
              <a:t> </a:t>
            </a:r>
            <a:r>
              <a:rPr lang="pt-BR" sz="1350">
                <a:solidFill>
                  <a:srgbClr val="F8F8F2"/>
                </a:solidFill>
                <a:highlight>
                  <a:schemeClr val="dk1"/>
                </a:highlight>
                <a:latin typeface="Courier New"/>
                <a:ea typeface="Courier New"/>
                <a:cs typeface="Courier New"/>
                <a:sym typeface="Courier New"/>
              </a:rPr>
              <a:t>mean(abs(y_true</a:t>
            </a:r>
            <a:r>
              <a:rPr lang="pt-BR" sz="1350">
                <a:solidFill>
                  <a:srgbClr val="CED4DA"/>
                </a:solidFill>
                <a:highlight>
                  <a:schemeClr val="dk1"/>
                </a:highlight>
                <a:latin typeface="Courier New"/>
                <a:ea typeface="Courier New"/>
                <a:cs typeface="Courier New"/>
                <a:sym typeface="Courier New"/>
              </a:rPr>
              <a:t> </a:t>
            </a:r>
            <a:r>
              <a:rPr lang="pt-BR" sz="1350">
                <a:solidFill>
                  <a:srgbClr val="F92672"/>
                </a:solidFill>
                <a:highlight>
                  <a:schemeClr val="dk1"/>
                </a:highlight>
                <a:latin typeface="Courier New"/>
                <a:ea typeface="Courier New"/>
                <a:cs typeface="Courier New"/>
                <a:sym typeface="Courier New"/>
              </a:rPr>
              <a:t>-</a:t>
            </a:r>
            <a:r>
              <a:rPr lang="pt-BR" sz="1350">
                <a:solidFill>
                  <a:srgbClr val="CED4DA"/>
                </a:solidFill>
                <a:highlight>
                  <a:schemeClr val="dk1"/>
                </a:highlight>
                <a:latin typeface="Courier New"/>
                <a:ea typeface="Courier New"/>
                <a:cs typeface="Courier New"/>
                <a:sym typeface="Courier New"/>
              </a:rPr>
              <a:t> </a:t>
            </a:r>
            <a:r>
              <a:rPr lang="pt-BR" sz="1350">
                <a:solidFill>
                  <a:srgbClr val="F8F8F2"/>
                </a:solidFill>
                <a:highlight>
                  <a:schemeClr val="dk1"/>
                </a:highlight>
                <a:latin typeface="Courier New"/>
                <a:ea typeface="Courier New"/>
                <a:cs typeface="Courier New"/>
                <a:sym typeface="Courier New"/>
              </a:rPr>
              <a:t>y_pred))</a:t>
            </a:r>
            <a:endParaRPr sz="1350">
              <a:solidFill>
                <a:srgbClr val="CED4DA"/>
              </a:solidFill>
              <a:highlight>
                <a:schemeClr val="dk1"/>
              </a:highlight>
              <a:latin typeface="Courier New"/>
              <a:ea typeface="Courier New"/>
              <a:cs typeface="Courier New"/>
              <a:sym typeface="Courier New"/>
            </a:endParaRPr>
          </a:p>
          <a:p>
            <a:pPr indent="0" lvl="0" marL="0" rtl="0" algn="l">
              <a:lnSpc>
                <a:spcPct val="115000"/>
              </a:lnSpc>
              <a:spcBef>
                <a:spcPts val="0"/>
              </a:spcBef>
              <a:spcAft>
                <a:spcPts val="0"/>
              </a:spcAft>
              <a:buNone/>
            </a:pPr>
            <a:r>
              <a:t/>
            </a:r>
            <a:endParaRPr sz="950">
              <a:solidFill>
                <a:srgbClr val="CED4DA"/>
              </a:solidFill>
              <a:highlight>
                <a:schemeClr val="dk1"/>
              </a:highlight>
              <a:latin typeface="Courier New"/>
              <a:ea typeface="Courier New"/>
              <a:cs typeface="Courier New"/>
              <a:sym typeface="Courier New"/>
            </a:endParaRPr>
          </a:p>
          <a:p>
            <a:pPr indent="0" lvl="0" marL="0" rtl="0" algn="l">
              <a:lnSpc>
                <a:spcPct val="115000"/>
              </a:lnSpc>
              <a:spcBef>
                <a:spcPts val="0"/>
              </a:spcBef>
              <a:spcAft>
                <a:spcPts val="0"/>
              </a:spcAft>
              <a:buNone/>
            </a:pPr>
            <a:r>
              <a:t/>
            </a:r>
            <a:endParaRPr sz="1100">
              <a:solidFill>
                <a:srgbClr val="F8F8F2"/>
              </a:solidFill>
              <a:highlight>
                <a:schemeClr val="dk1"/>
              </a:highlight>
              <a:latin typeface="Courier New"/>
              <a:ea typeface="Courier New"/>
              <a:cs typeface="Courier New"/>
              <a:sym typeface="Courier New"/>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99" name="Shape 699"/>
        <p:cNvGrpSpPr/>
        <p:nvPr/>
      </p:nvGrpSpPr>
      <p:grpSpPr>
        <a:xfrm>
          <a:off x="0" y="0"/>
          <a:ext cx="0" cy="0"/>
          <a:chOff x="0" y="0"/>
          <a:chExt cx="0" cy="0"/>
        </a:xfrm>
      </p:grpSpPr>
      <p:sp>
        <p:nvSpPr>
          <p:cNvPr id="700" name="Google Shape;700;p88"/>
          <p:cNvSpPr txBox="1"/>
          <p:nvPr>
            <p:ph type="title"/>
          </p:nvPr>
        </p:nvSpPr>
        <p:spPr>
          <a:xfrm>
            <a:off x="447098" y="451124"/>
            <a:ext cx="4551300" cy="413100"/>
          </a:xfrm>
          <a:prstGeom prst="rect">
            <a:avLst/>
          </a:prstGeom>
          <a:noFill/>
          <a:ln>
            <a:noFill/>
          </a:ln>
        </p:spPr>
        <p:txBody>
          <a:bodyPr anchorCtr="0" anchor="t" bIns="0" lIns="0" spcFirstLastPara="1" rIns="0" wrap="square" tIns="12675">
            <a:spAutoFit/>
          </a:bodyPr>
          <a:lstStyle/>
          <a:p>
            <a:pPr indent="0" lvl="0" marL="12700" rtl="0" algn="l">
              <a:lnSpc>
                <a:spcPct val="100000"/>
              </a:lnSpc>
              <a:spcBef>
                <a:spcPts val="0"/>
              </a:spcBef>
              <a:spcAft>
                <a:spcPts val="0"/>
              </a:spcAft>
              <a:buNone/>
            </a:pPr>
            <a:r>
              <a:rPr lang="pt-BR" sz="2600"/>
              <a:t>Definição da Função Custo:</a:t>
            </a:r>
            <a:endParaRPr sz="2600"/>
          </a:p>
        </p:txBody>
      </p:sp>
      <p:sp>
        <p:nvSpPr>
          <p:cNvPr id="701" name="Google Shape;701;p88"/>
          <p:cNvSpPr txBox="1"/>
          <p:nvPr/>
        </p:nvSpPr>
        <p:spPr>
          <a:xfrm>
            <a:off x="546725" y="1185985"/>
            <a:ext cx="2469000" cy="413100"/>
          </a:xfrm>
          <a:prstGeom prst="rect">
            <a:avLst/>
          </a:prstGeom>
          <a:noFill/>
          <a:ln>
            <a:noFill/>
          </a:ln>
        </p:spPr>
        <p:txBody>
          <a:bodyPr anchorCtr="0" anchor="t" bIns="0" lIns="0" spcFirstLastPara="1" rIns="0" wrap="square" tIns="12675">
            <a:spAutoFit/>
          </a:bodyPr>
          <a:lstStyle/>
          <a:p>
            <a:pPr indent="-266700" lvl="0" marL="279400" marR="0" rtl="0" algn="l">
              <a:lnSpc>
                <a:spcPct val="100000"/>
              </a:lnSpc>
              <a:spcBef>
                <a:spcPts val="0"/>
              </a:spcBef>
              <a:spcAft>
                <a:spcPts val="0"/>
              </a:spcAft>
              <a:buSzPts val="1200"/>
              <a:buFont typeface="Noto Sans Symbols"/>
              <a:buChar char="●"/>
            </a:pPr>
            <a:r>
              <a:rPr lang="pt-BR" sz="2600">
                <a:latin typeface="Arial"/>
                <a:ea typeface="Arial"/>
                <a:cs typeface="Arial"/>
                <a:sym typeface="Arial"/>
              </a:rPr>
              <a:t>Classificação</a:t>
            </a:r>
            <a:endParaRPr sz="2600">
              <a:latin typeface="Arial"/>
              <a:ea typeface="Arial"/>
              <a:cs typeface="Arial"/>
              <a:sym typeface="Arial"/>
            </a:endParaRPr>
          </a:p>
        </p:txBody>
      </p:sp>
      <p:sp>
        <p:nvSpPr>
          <p:cNvPr id="702" name="Google Shape;702;p88"/>
          <p:cNvSpPr/>
          <p:nvPr/>
        </p:nvSpPr>
        <p:spPr>
          <a:xfrm>
            <a:off x="456623" y="1679087"/>
            <a:ext cx="3445500" cy="15546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500"/>
          </a:p>
        </p:txBody>
      </p:sp>
      <p:sp>
        <p:nvSpPr>
          <p:cNvPr id="703" name="Google Shape;703;p88"/>
          <p:cNvSpPr/>
          <p:nvPr/>
        </p:nvSpPr>
        <p:spPr>
          <a:xfrm>
            <a:off x="4068099" y="1679087"/>
            <a:ext cx="4815300" cy="1554600"/>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500"/>
          </a:p>
        </p:txBody>
      </p:sp>
      <p:sp>
        <p:nvSpPr>
          <p:cNvPr id="704" name="Google Shape;704;p88"/>
          <p:cNvSpPr txBox="1"/>
          <p:nvPr/>
        </p:nvSpPr>
        <p:spPr>
          <a:xfrm>
            <a:off x="472571" y="3501380"/>
            <a:ext cx="2426100" cy="348900"/>
          </a:xfrm>
          <a:prstGeom prst="rect">
            <a:avLst/>
          </a:prstGeom>
          <a:noFill/>
          <a:ln>
            <a:noFill/>
          </a:ln>
        </p:spPr>
        <p:txBody>
          <a:bodyPr anchorCtr="0" anchor="t" bIns="0" lIns="0" spcFirstLastPara="1" rIns="0" wrap="square" tIns="10025">
            <a:spAutoFit/>
          </a:bodyPr>
          <a:lstStyle/>
          <a:p>
            <a:pPr indent="0" lvl="0" marL="12700" marR="0" rtl="0" algn="l">
              <a:lnSpc>
                <a:spcPct val="100000"/>
              </a:lnSpc>
              <a:spcBef>
                <a:spcPts val="0"/>
              </a:spcBef>
              <a:spcAft>
                <a:spcPts val="0"/>
              </a:spcAft>
              <a:buNone/>
            </a:pPr>
            <a:r>
              <a:rPr lang="pt-BR" sz="2200">
                <a:latin typeface="Arial"/>
                <a:ea typeface="Arial"/>
                <a:cs typeface="Arial"/>
                <a:sym typeface="Arial"/>
              </a:rPr>
              <a:t>Entropia Cruzada:</a:t>
            </a:r>
            <a:endParaRPr sz="2200">
              <a:latin typeface="Arial"/>
              <a:ea typeface="Arial"/>
              <a:cs typeface="Arial"/>
              <a:sym typeface="Arial"/>
            </a:endParaRPr>
          </a:p>
        </p:txBody>
      </p:sp>
      <p:sp>
        <p:nvSpPr>
          <p:cNvPr id="705" name="Google Shape;705;p88"/>
          <p:cNvSpPr txBox="1"/>
          <p:nvPr/>
        </p:nvSpPr>
        <p:spPr>
          <a:xfrm>
            <a:off x="485462" y="4490798"/>
            <a:ext cx="7715700" cy="589500"/>
          </a:xfrm>
          <a:prstGeom prst="rect">
            <a:avLst/>
          </a:prstGeom>
          <a:noFill/>
          <a:ln>
            <a:noFill/>
          </a:ln>
        </p:spPr>
        <p:txBody>
          <a:bodyPr anchorCtr="0" anchor="t" bIns="0" lIns="0" spcFirstLastPara="1" rIns="0" wrap="square" tIns="34350">
            <a:spAutoFit/>
          </a:bodyPr>
          <a:lstStyle/>
          <a:p>
            <a:pPr indent="0" lvl="0" marL="12700" marR="0" rtl="0" algn="l">
              <a:lnSpc>
                <a:spcPct val="112000"/>
              </a:lnSpc>
              <a:spcBef>
                <a:spcPts val="0"/>
              </a:spcBef>
              <a:spcAft>
                <a:spcPts val="0"/>
              </a:spcAft>
              <a:buNone/>
            </a:pPr>
            <a:r>
              <a:rPr b="1" lang="pt-BR" sz="1700">
                <a:latin typeface="Arial"/>
                <a:ea typeface="Arial"/>
                <a:cs typeface="Arial"/>
                <a:sym typeface="Arial"/>
              </a:rPr>
              <a:t>Outros exemplos menos usados: </a:t>
            </a:r>
            <a:r>
              <a:rPr lang="pt-BR" sz="1700">
                <a:latin typeface="Arial"/>
                <a:ea typeface="Arial"/>
                <a:cs typeface="Arial"/>
                <a:sym typeface="Arial"/>
              </a:rPr>
              <a:t>Hinge, divergência de Kullback-Leibler,  similaridade cosseno, etc. </a:t>
            </a:r>
            <a:r>
              <a:rPr lang="pt-BR" sz="1700" u="sng">
                <a:solidFill>
                  <a:schemeClr val="hlink"/>
                </a:solidFill>
                <a:hlinkClick r:id="rId5"/>
              </a:rPr>
              <a:t>https://keras.io/api/losses/</a:t>
            </a:r>
            <a:r>
              <a:rPr lang="pt-BR" sz="1700"/>
              <a:t> </a:t>
            </a:r>
            <a:r>
              <a:rPr lang="pt-BR" sz="1700">
                <a:latin typeface="Arial"/>
                <a:ea typeface="Arial"/>
                <a:cs typeface="Arial"/>
                <a:sym typeface="Arial"/>
              </a:rPr>
              <a:t>)</a:t>
            </a:r>
            <a:endParaRPr sz="1700">
              <a:latin typeface="Arial"/>
              <a:ea typeface="Arial"/>
              <a:cs typeface="Arial"/>
              <a:sym typeface="Arial"/>
            </a:endParaRPr>
          </a:p>
        </p:txBody>
      </p:sp>
      <p:pic>
        <p:nvPicPr>
          <p:cNvPr id="706" name="Google Shape;706;p88"/>
          <p:cNvPicPr preferRelativeResize="0"/>
          <p:nvPr/>
        </p:nvPicPr>
        <p:blipFill>
          <a:blip r:embed="rId6">
            <a:alphaModFix/>
          </a:blip>
          <a:stretch>
            <a:fillRect/>
          </a:stretch>
        </p:blipFill>
        <p:spPr>
          <a:xfrm>
            <a:off x="3812750" y="3351221"/>
            <a:ext cx="2347320" cy="782826"/>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10" name="Shape 710"/>
        <p:cNvGrpSpPr/>
        <p:nvPr/>
      </p:nvGrpSpPr>
      <p:grpSpPr>
        <a:xfrm>
          <a:off x="0" y="0"/>
          <a:ext cx="0" cy="0"/>
          <a:chOff x="0" y="0"/>
          <a:chExt cx="0" cy="0"/>
        </a:xfrm>
      </p:grpSpPr>
      <p:sp>
        <p:nvSpPr>
          <p:cNvPr id="711" name="Google Shape;711;p89"/>
          <p:cNvSpPr txBox="1"/>
          <p:nvPr/>
        </p:nvSpPr>
        <p:spPr>
          <a:xfrm>
            <a:off x="441367" y="451124"/>
            <a:ext cx="5604600" cy="1336500"/>
          </a:xfrm>
          <a:prstGeom prst="rect">
            <a:avLst/>
          </a:prstGeom>
          <a:noFill/>
          <a:ln>
            <a:noFill/>
          </a:ln>
        </p:spPr>
        <p:txBody>
          <a:bodyPr anchorCtr="0" anchor="t" bIns="0" lIns="0" spcFirstLastPara="1" rIns="0" wrap="square" tIns="12675">
            <a:spAutoFit/>
          </a:bodyPr>
          <a:lstStyle/>
          <a:p>
            <a:pPr indent="0" lvl="0" marL="12700" marR="0" rtl="0" algn="l">
              <a:lnSpc>
                <a:spcPct val="100000"/>
              </a:lnSpc>
              <a:spcBef>
                <a:spcPts val="0"/>
              </a:spcBef>
              <a:spcAft>
                <a:spcPts val="0"/>
              </a:spcAft>
              <a:buNone/>
            </a:pPr>
            <a:r>
              <a:rPr lang="pt-BR" sz="2600">
                <a:latin typeface="Arial"/>
                <a:ea typeface="Arial"/>
                <a:cs typeface="Arial"/>
                <a:sym typeface="Arial"/>
              </a:rPr>
              <a:t>Definição da Métrica:</a:t>
            </a:r>
            <a:endParaRPr sz="2600">
              <a:latin typeface="Arial"/>
              <a:ea typeface="Arial"/>
              <a:cs typeface="Arial"/>
              <a:sym typeface="Arial"/>
            </a:endParaRPr>
          </a:p>
          <a:p>
            <a:pPr indent="0" lvl="0" marL="0" marR="0" rtl="0" algn="l">
              <a:lnSpc>
                <a:spcPct val="100000"/>
              </a:lnSpc>
              <a:spcBef>
                <a:spcPts val="0"/>
              </a:spcBef>
              <a:spcAft>
                <a:spcPts val="0"/>
              </a:spcAft>
              <a:buNone/>
            </a:pPr>
            <a:r>
              <a:t/>
            </a:r>
            <a:endParaRPr sz="3400">
              <a:latin typeface="Arial"/>
              <a:ea typeface="Arial"/>
              <a:cs typeface="Arial"/>
              <a:sym typeface="Arial"/>
            </a:endParaRPr>
          </a:p>
          <a:p>
            <a:pPr indent="-266700" lvl="0" marL="368300" marR="0" rtl="0" algn="l">
              <a:lnSpc>
                <a:spcPct val="100000"/>
              </a:lnSpc>
              <a:spcBef>
                <a:spcPts val="0"/>
              </a:spcBef>
              <a:spcAft>
                <a:spcPts val="0"/>
              </a:spcAft>
              <a:buSzPts val="1200"/>
              <a:buFont typeface="Noto Sans Symbols"/>
              <a:buChar char="●"/>
            </a:pPr>
            <a:r>
              <a:rPr lang="pt-BR" sz="2600">
                <a:latin typeface="Arial"/>
                <a:ea typeface="Arial"/>
                <a:cs typeface="Arial"/>
                <a:sym typeface="Arial"/>
              </a:rPr>
              <a:t>Diferença entre Custo e Métrica</a:t>
            </a:r>
            <a:endParaRPr sz="2600">
              <a:latin typeface="Arial"/>
              <a:ea typeface="Arial"/>
              <a:cs typeface="Arial"/>
              <a:sym typeface="Arial"/>
            </a:endParaRPr>
          </a:p>
        </p:txBody>
      </p:sp>
      <p:sp>
        <p:nvSpPr>
          <p:cNvPr id="712" name="Google Shape;712;p89"/>
          <p:cNvSpPr txBox="1"/>
          <p:nvPr/>
        </p:nvSpPr>
        <p:spPr>
          <a:xfrm>
            <a:off x="540994" y="4201725"/>
            <a:ext cx="7223700" cy="896700"/>
          </a:xfrm>
          <a:prstGeom prst="rect">
            <a:avLst/>
          </a:prstGeom>
          <a:noFill/>
          <a:ln>
            <a:noFill/>
          </a:ln>
        </p:spPr>
        <p:txBody>
          <a:bodyPr anchorCtr="0" anchor="t" bIns="0" lIns="0" spcFirstLastPara="1" rIns="0" wrap="square" tIns="47550">
            <a:spAutoFit/>
          </a:bodyPr>
          <a:lstStyle/>
          <a:p>
            <a:pPr indent="-266700" lvl="0" marL="279400" marR="0" rtl="0" algn="l">
              <a:lnSpc>
                <a:spcPct val="112031"/>
              </a:lnSpc>
              <a:spcBef>
                <a:spcPts val="0"/>
              </a:spcBef>
              <a:spcAft>
                <a:spcPts val="0"/>
              </a:spcAft>
              <a:buSzPts val="1200"/>
              <a:buFont typeface="Noto Sans Symbols"/>
              <a:buChar char="●"/>
            </a:pPr>
            <a:r>
              <a:rPr lang="pt-BR" sz="2600">
                <a:latin typeface="Arial"/>
                <a:ea typeface="Arial"/>
                <a:cs typeface="Arial"/>
                <a:sym typeface="Arial"/>
              </a:rPr>
              <a:t>Exemplos de métricas: acurácia, precisão,  recall, F1 score, MAP, etc.</a:t>
            </a:r>
            <a:endParaRPr sz="2600">
              <a:latin typeface="Arial"/>
              <a:ea typeface="Arial"/>
              <a:cs typeface="Arial"/>
              <a:sym typeface="Arial"/>
            </a:endParaRPr>
          </a:p>
        </p:txBody>
      </p:sp>
      <p:sp>
        <p:nvSpPr>
          <p:cNvPr id="713" name="Google Shape;713;p89"/>
          <p:cNvSpPr/>
          <p:nvPr/>
        </p:nvSpPr>
        <p:spPr>
          <a:xfrm>
            <a:off x="664022" y="1783253"/>
            <a:ext cx="7727700" cy="17817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500"/>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17" name="Shape 717"/>
        <p:cNvGrpSpPr/>
        <p:nvPr/>
      </p:nvGrpSpPr>
      <p:grpSpPr>
        <a:xfrm>
          <a:off x="0" y="0"/>
          <a:ext cx="0" cy="0"/>
          <a:chOff x="0" y="0"/>
          <a:chExt cx="0" cy="0"/>
        </a:xfrm>
      </p:grpSpPr>
      <p:sp>
        <p:nvSpPr>
          <p:cNvPr id="718" name="Google Shape;718;p90"/>
          <p:cNvSpPr txBox="1"/>
          <p:nvPr>
            <p:ph type="title"/>
          </p:nvPr>
        </p:nvSpPr>
        <p:spPr>
          <a:xfrm>
            <a:off x="441367" y="451124"/>
            <a:ext cx="6640800" cy="413100"/>
          </a:xfrm>
          <a:prstGeom prst="rect">
            <a:avLst/>
          </a:prstGeom>
          <a:noFill/>
          <a:ln>
            <a:noFill/>
          </a:ln>
        </p:spPr>
        <p:txBody>
          <a:bodyPr anchorCtr="0" anchor="t" bIns="0" lIns="0" spcFirstLastPara="1" rIns="0" wrap="square" tIns="12675">
            <a:spAutoFit/>
          </a:bodyPr>
          <a:lstStyle/>
          <a:p>
            <a:pPr indent="0" lvl="0" marL="12700" rtl="0" algn="l">
              <a:lnSpc>
                <a:spcPct val="100000"/>
              </a:lnSpc>
              <a:spcBef>
                <a:spcPts val="0"/>
              </a:spcBef>
              <a:spcAft>
                <a:spcPts val="0"/>
              </a:spcAft>
              <a:buNone/>
            </a:pPr>
            <a:r>
              <a:rPr lang="pt-BR" sz="2600"/>
              <a:t>Interpretação e Correção de Resultados:</a:t>
            </a:r>
            <a:endParaRPr sz="2600"/>
          </a:p>
        </p:txBody>
      </p:sp>
      <p:sp>
        <p:nvSpPr>
          <p:cNvPr id="719" name="Google Shape;719;p90"/>
          <p:cNvSpPr txBox="1"/>
          <p:nvPr/>
        </p:nvSpPr>
        <p:spPr>
          <a:xfrm>
            <a:off x="540994" y="1184948"/>
            <a:ext cx="3262200" cy="413100"/>
          </a:xfrm>
          <a:prstGeom prst="rect">
            <a:avLst/>
          </a:prstGeom>
          <a:noFill/>
          <a:ln>
            <a:noFill/>
          </a:ln>
        </p:spPr>
        <p:txBody>
          <a:bodyPr anchorCtr="0" anchor="t" bIns="0" lIns="0" spcFirstLastPara="1" rIns="0" wrap="square" tIns="12675">
            <a:spAutoFit/>
          </a:bodyPr>
          <a:lstStyle/>
          <a:p>
            <a:pPr indent="-266700" lvl="0" marL="279400" marR="0" rtl="0" algn="l">
              <a:lnSpc>
                <a:spcPct val="100000"/>
              </a:lnSpc>
              <a:spcBef>
                <a:spcPts val="0"/>
              </a:spcBef>
              <a:spcAft>
                <a:spcPts val="0"/>
              </a:spcAft>
              <a:buSzPts val="1200"/>
              <a:buFont typeface="Noto Sans Symbols"/>
              <a:buChar char="●"/>
            </a:pPr>
            <a:r>
              <a:rPr lang="pt-BR" sz="2600">
                <a:latin typeface="Arial"/>
                <a:ea typeface="Arial"/>
                <a:cs typeface="Arial"/>
                <a:sym typeface="Arial"/>
              </a:rPr>
              <a:t>Underfit vs Overfit</a:t>
            </a:r>
            <a:endParaRPr sz="2600">
              <a:latin typeface="Arial"/>
              <a:ea typeface="Arial"/>
              <a:cs typeface="Arial"/>
              <a:sym typeface="Arial"/>
            </a:endParaRPr>
          </a:p>
        </p:txBody>
      </p:sp>
      <p:sp>
        <p:nvSpPr>
          <p:cNvPr id="720" name="Google Shape;720;p90"/>
          <p:cNvSpPr/>
          <p:nvPr/>
        </p:nvSpPr>
        <p:spPr>
          <a:xfrm>
            <a:off x="987967" y="2052218"/>
            <a:ext cx="7223100" cy="24207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500"/>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24" name="Shape 724"/>
        <p:cNvGrpSpPr/>
        <p:nvPr/>
      </p:nvGrpSpPr>
      <p:grpSpPr>
        <a:xfrm>
          <a:off x="0" y="0"/>
          <a:ext cx="0" cy="0"/>
          <a:chOff x="0" y="0"/>
          <a:chExt cx="0" cy="0"/>
        </a:xfrm>
      </p:grpSpPr>
      <p:sp>
        <p:nvSpPr>
          <p:cNvPr id="725" name="Google Shape;725;p91"/>
          <p:cNvSpPr txBox="1"/>
          <p:nvPr>
            <p:ph type="title"/>
          </p:nvPr>
        </p:nvSpPr>
        <p:spPr>
          <a:xfrm>
            <a:off x="441367" y="451124"/>
            <a:ext cx="6640800" cy="413100"/>
          </a:xfrm>
          <a:prstGeom prst="rect">
            <a:avLst/>
          </a:prstGeom>
          <a:noFill/>
          <a:ln>
            <a:noFill/>
          </a:ln>
        </p:spPr>
        <p:txBody>
          <a:bodyPr anchorCtr="0" anchor="t" bIns="0" lIns="0" spcFirstLastPara="1" rIns="0" wrap="square" tIns="12675">
            <a:spAutoFit/>
          </a:bodyPr>
          <a:lstStyle/>
          <a:p>
            <a:pPr indent="0" lvl="0" marL="12700" rtl="0" algn="l">
              <a:lnSpc>
                <a:spcPct val="100000"/>
              </a:lnSpc>
              <a:spcBef>
                <a:spcPts val="0"/>
              </a:spcBef>
              <a:spcAft>
                <a:spcPts val="0"/>
              </a:spcAft>
              <a:buNone/>
            </a:pPr>
            <a:r>
              <a:rPr lang="pt-BR" sz="2600"/>
              <a:t>Interpretação e Correção de Resultados:</a:t>
            </a:r>
            <a:endParaRPr sz="2600"/>
          </a:p>
        </p:txBody>
      </p:sp>
      <p:sp>
        <p:nvSpPr>
          <p:cNvPr id="726" name="Google Shape;726;p91"/>
          <p:cNvSpPr txBox="1"/>
          <p:nvPr/>
        </p:nvSpPr>
        <p:spPr>
          <a:xfrm>
            <a:off x="540994" y="1185985"/>
            <a:ext cx="3262200" cy="413100"/>
          </a:xfrm>
          <a:prstGeom prst="rect">
            <a:avLst/>
          </a:prstGeom>
          <a:noFill/>
          <a:ln>
            <a:noFill/>
          </a:ln>
        </p:spPr>
        <p:txBody>
          <a:bodyPr anchorCtr="0" anchor="t" bIns="0" lIns="0" spcFirstLastPara="1" rIns="0" wrap="square" tIns="12675">
            <a:spAutoFit/>
          </a:bodyPr>
          <a:lstStyle/>
          <a:p>
            <a:pPr indent="-266700" lvl="0" marL="279400" marR="0" rtl="0" algn="l">
              <a:lnSpc>
                <a:spcPct val="100000"/>
              </a:lnSpc>
              <a:spcBef>
                <a:spcPts val="0"/>
              </a:spcBef>
              <a:spcAft>
                <a:spcPts val="0"/>
              </a:spcAft>
              <a:buSzPts val="1200"/>
              <a:buFont typeface="Noto Sans Symbols"/>
              <a:buChar char="●"/>
            </a:pPr>
            <a:r>
              <a:rPr lang="pt-BR" sz="2600">
                <a:latin typeface="Arial"/>
                <a:ea typeface="Arial"/>
                <a:cs typeface="Arial"/>
                <a:sym typeface="Arial"/>
              </a:rPr>
              <a:t>Underfit vs Overfit</a:t>
            </a:r>
            <a:endParaRPr sz="2600">
              <a:latin typeface="Arial"/>
              <a:ea typeface="Arial"/>
              <a:cs typeface="Arial"/>
              <a:sym typeface="Arial"/>
            </a:endParaRPr>
          </a:p>
        </p:txBody>
      </p:sp>
      <p:sp>
        <p:nvSpPr>
          <p:cNvPr id="727" name="Google Shape;727;p91"/>
          <p:cNvSpPr/>
          <p:nvPr/>
        </p:nvSpPr>
        <p:spPr>
          <a:xfrm>
            <a:off x="1464414" y="2006020"/>
            <a:ext cx="5939700" cy="25800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500"/>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31" name="Shape 731"/>
        <p:cNvGrpSpPr/>
        <p:nvPr/>
      </p:nvGrpSpPr>
      <p:grpSpPr>
        <a:xfrm>
          <a:off x="0" y="0"/>
          <a:ext cx="0" cy="0"/>
          <a:chOff x="0" y="0"/>
          <a:chExt cx="0" cy="0"/>
        </a:xfrm>
      </p:grpSpPr>
      <p:sp>
        <p:nvSpPr>
          <p:cNvPr id="732" name="Google Shape;732;p92"/>
          <p:cNvSpPr txBox="1"/>
          <p:nvPr>
            <p:ph type="title"/>
          </p:nvPr>
        </p:nvSpPr>
        <p:spPr>
          <a:xfrm>
            <a:off x="441367" y="451124"/>
            <a:ext cx="6640800" cy="413100"/>
          </a:xfrm>
          <a:prstGeom prst="rect">
            <a:avLst/>
          </a:prstGeom>
          <a:noFill/>
          <a:ln>
            <a:noFill/>
          </a:ln>
        </p:spPr>
        <p:txBody>
          <a:bodyPr anchorCtr="0" anchor="t" bIns="0" lIns="0" spcFirstLastPara="1" rIns="0" wrap="square" tIns="12675">
            <a:spAutoFit/>
          </a:bodyPr>
          <a:lstStyle/>
          <a:p>
            <a:pPr indent="0" lvl="0" marL="12700" rtl="0" algn="l">
              <a:lnSpc>
                <a:spcPct val="100000"/>
              </a:lnSpc>
              <a:spcBef>
                <a:spcPts val="0"/>
              </a:spcBef>
              <a:spcAft>
                <a:spcPts val="0"/>
              </a:spcAft>
              <a:buNone/>
            </a:pPr>
            <a:r>
              <a:rPr lang="pt-BR" sz="2600"/>
              <a:t>Interpretação e Correção de Resultados:</a:t>
            </a:r>
            <a:endParaRPr sz="2600"/>
          </a:p>
        </p:txBody>
      </p:sp>
      <p:sp>
        <p:nvSpPr>
          <p:cNvPr id="733" name="Google Shape;733;p92"/>
          <p:cNvSpPr txBox="1"/>
          <p:nvPr/>
        </p:nvSpPr>
        <p:spPr>
          <a:xfrm>
            <a:off x="541004" y="1185975"/>
            <a:ext cx="5749500" cy="413100"/>
          </a:xfrm>
          <a:prstGeom prst="rect">
            <a:avLst/>
          </a:prstGeom>
          <a:noFill/>
          <a:ln>
            <a:noFill/>
          </a:ln>
        </p:spPr>
        <p:txBody>
          <a:bodyPr anchorCtr="0" anchor="t" bIns="0" lIns="0" spcFirstLastPara="1" rIns="0" wrap="square" tIns="12675">
            <a:spAutoFit/>
          </a:bodyPr>
          <a:lstStyle/>
          <a:p>
            <a:pPr indent="-266700" lvl="0" marL="279400" marR="0" rtl="0" algn="l">
              <a:lnSpc>
                <a:spcPct val="100000"/>
              </a:lnSpc>
              <a:spcBef>
                <a:spcPts val="0"/>
              </a:spcBef>
              <a:spcAft>
                <a:spcPts val="0"/>
              </a:spcAft>
              <a:buSzPts val="1200"/>
              <a:buFont typeface="Noto Sans Symbols"/>
              <a:buChar char="●"/>
            </a:pPr>
            <a:r>
              <a:rPr lang="pt-BR" sz="2600"/>
              <a:t>Detectando Overfitting</a:t>
            </a:r>
            <a:endParaRPr sz="2600">
              <a:latin typeface="Arial"/>
              <a:ea typeface="Arial"/>
              <a:cs typeface="Arial"/>
              <a:sym typeface="Arial"/>
            </a:endParaRPr>
          </a:p>
        </p:txBody>
      </p:sp>
      <p:pic>
        <p:nvPicPr>
          <p:cNvPr id="734" name="Google Shape;734;p92"/>
          <p:cNvPicPr preferRelativeResize="0"/>
          <p:nvPr/>
        </p:nvPicPr>
        <p:blipFill>
          <a:blip r:embed="rId3">
            <a:alphaModFix/>
          </a:blip>
          <a:stretch>
            <a:fillRect/>
          </a:stretch>
        </p:blipFill>
        <p:spPr>
          <a:xfrm>
            <a:off x="2108475" y="1962575"/>
            <a:ext cx="3762375" cy="2895600"/>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38" name="Shape 738"/>
        <p:cNvGrpSpPr/>
        <p:nvPr/>
      </p:nvGrpSpPr>
      <p:grpSpPr>
        <a:xfrm>
          <a:off x="0" y="0"/>
          <a:ext cx="0" cy="0"/>
          <a:chOff x="0" y="0"/>
          <a:chExt cx="0" cy="0"/>
        </a:xfrm>
      </p:grpSpPr>
      <p:sp>
        <p:nvSpPr>
          <p:cNvPr id="739" name="Google Shape;739;p93"/>
          <p:cNvSpPr txBox="1"/>
          <p:nvPr>
            <p:ph type="title"/>
          </p:nvPr>
        </p:nvSpPr>
        <p:spPr>
          <a:xfrm>
            <a:off x="441367" y="451124"/>
            <a:ext cx="6640800" cy="413100"/>
          </a:xfrm>
          <a:prstGeom prst="rect">
            <a:avLst/>
          </a:prstGeom>
          <a:noFill/>
          <a:ln>
            <a:noFill/>
          </a:ln>
        </p:spPr>
        <p:txBody>
          <a:bodyPr anchorCtr="0" anchor="t" bIns="0" lIns="0" spcFirstLastPara="1" rIns="0" wrap="square" tIns="12675">
            <a:spAutoFit/>
          </a:bodyPr>
          <a:lstStyle/>
          <a:p>
            <a:pPr indent="0" lvl="0" marL="12700" rtl="0" algn="l">
              <a:lnSpc>
                <a:spcPct val="100000"/>
              </a:lnSpc>
              <a:spcBef>
                <a:spcPts val="0"/>
              </a:spcBef>
              <a:spcAft>
                <a:spcPts val="0"/>
              </a:spcAft>
              <a:buNone/>
            </a:pPr>
            <a:r>
              <a:rPr lang="pt-BR" sz="2600"/>
              <a:t>Interpretação e Correção de Resultados:</a:t>
            </a:r>
            <a:endParaRPr sz="2600"/>
          </a:p>
        </p:txBody>
      </p:sp>
      <p:sp>
        <p:nvSpPr>
          <p:cNvPr id="740" name="Google Shape;740;p93"/>
          <p:cNvSpPr txBox="1"/>
          <p:nvPr/>
        </p:nvSpPr>
        <p:spPr>
          <a:xfrm>
            <a:off x="541004" y="1185975"/>
            <a:ext cx="5749500" cy="413100"/>
          </a:xfrm>
          <a:prstGeom prst="rect">
            <a:avLst/>
          </a:prstGeom>
          <a:noFill/>
          <a:ln>
            <a:noFill/>
          </a:ln>
        </p:spPr>
        <p:txBody>
          <a:bodyPr anchorCtr="0" anchor="t" bIns="0" lIns="0" spcFirstLastPara="1" rIns="0" wrap="square" tIns="12675">
            <a:spAutoFit/>
          </a:bodyPr>
          <a:lstStyle/>
          <a:p>
            <a:pPr indent="-266700" lvl="0" marL="279400" marR="0" rtl="0" algn="l">
              <a:lnSpc>
                <a:spcPct val="100000"/>
              </a:lnSpc>
              <a:spcBef>
                <a:spcPts val="0"/>
              </a:spcBef>
              <a:spcAft>
                <a:spcPts val="0"/>
              </a:spcAft>
              <a:buSzPts val="1200"/>
              <a:buFont typeface="Noto Sans Symbols"/>
              <a:buChar char="●"/>
            </a:pPr>
            <a:r>
              <a:rPr lang="pt-BR" sz="2600"/>
              <a:t>Detectando Overfitting</a:t>
            </a:r>
            <a:endParaRPr sz="2600">
              <a:latin typeface="Arial"/>
              <a:ea typeface="Arial"/>
              <a:cs typeface="Arial"/>
              <a:sym typeface="Arial"/>
            </a:endParaRPr>
          </a:p>
        </p:txBody>
      </p:sp>
      <p:pic>
        <p:nvPicPr>
          <p:cNvPr id="741" name="Google Shape;741;p93"/>
          <p:cNvPicPr preferRelativeResize="0"/>
          <p:nvPr/>
        </p:nvPicPr>
        <p:blipFill>
          <a:blip r:embed="rId3">
            <a:alphaModFix/>
          </a:blip>
          <a:stretch>
            <a:fillRect/>
          </a:stretch>
        </p:blipFill>
        <p:spPr>
          <a:xfrm>
            <a:off x="947500" y="1786650"/>
            <a:ext cx="6286500" cy="2524125"/>
          </a:xfrm>
          <a:prstGeom prst="rect">
            <a:avLst/>
          </a:prstGeom>
          <a:noFill/>
          <a:ln>
            <a:noFill/>
          </a:ln>
        </p:spPr>
      </p:pic>
      <p:sp>
        <p:nvSpPr>
          <p:cNvPr id="742" name="Google Shape;742;p93"/>
          <p:cNvSpPr txBox="1"/>
          <p:nvPr/>
        </p:nvSpPr>
        <p:spPr>
          <a:xfrm>
            <a:off x="1062675" y="4648625"/>
            <a:ext cx="4221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t>Fonte: </a:t>
            </a:r>
            <a:r>
              <a:rPr lang="pt-BR" sz="1050" u="sng">
                <a:solidFill>
                  <a:schemeClr val="hlink"/>
                </a:solidFill>
                <a:highlight>
                  <a:srgbClr val="F5F5F5"/>
                </a:highlight>
                <a:latin typeface="Merriweather"/>
                <a:ea typeface="Merriweather"/>
                <a:cs typeface="Merriweather"/>
                <a:sym typeface="Merriweather"/>
                <a:hlinkClick r:id="rId4"/>
              </a:rPr>
              <a:t>Machine Learning Yearning</a:t>
            </a:r>
            <a:r>
              <a:rPr lang="pt-BR" sz="1050">
                <a:solidFill>
                  <a:schemeClr val="dk1"/>
                </a:solidFill>
                <a:highlight>
                  <a:srgbClr val="F5F5F5"/>
                </a:highlight>
                <a:latin typeface="Merriweather"/>
                <a:ea typeface="Merriweather"/>
                <a:cs typeface="Merriweather"/>
                <a:sym typeface="Merriweather"/>
              </a:rPr>
              <a:t> (Andrew NG)</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46" name="Shape 746"/>
        <p:cNvGrpSpPr/>
        <p:nvPr/>
      </p:nvGrpSpPr>
      <p:grpSpPr>
        <a:xfrm>
          <a:off x="0" y="0"/>
          <a:ext cx="0" cy="0"/>
          <a:chOff x="0" y="0"/>
          <a:chExt cx="0" cy="0"/>
        </a:xfrm>
      </p:grpSpPr>
      <p:sp>
        <p:nvSpPr>
          <p:cNvPr id="747" name="Google Shape;747;p94"/>
          <p:cNvSpPr txBox="1"/>
          <p:nvPr>
            <p:ph type="title"/>
          </p:nvPr>
        </p:nvSpPr>
        <p:spPr>
          <a:xfrm>
            <a:off x="441367" y="451124"/>
            <a:ext cx="6640800" cy="413100"/>
          </a:xfrm>
          <a:prstGeom prst="rect">
            <a:avLst/>
          </a:prstGeom>
          <a:noFill/>
          <a:ln>
            <a:noFill/>
          </a:ln>
        </p:spPr>
        <p:txBody>
          <a:bodyPr anchorCtr="0" anchor="t" bIns="0" lIns="0" spcFirstLastPara="1" rIns="0" wrap="square" tIns="12675">
            <a:spAutoFit/>
          </a:bodyPr>
          <a:lstStyle/>
          <a:p>
            <a:pPr indent="0" lvl="0" marL="12700" rtl="0" algn="l">
              <a:lnSpc>
                <a:spcPct val="100000"/>
              </a:lnSpc>
              <a:spcBef>
                <a:spcPts val="0"/>
              </a:spcBef>
              <a:spcAft>
                <a:spcPts val="0"/>
              </a:spcAft>
              <a:buNone/>
            </a:pPr>
            <a:r>
              <a:rPr lang="pt-BR" sz="2600"/>
              <a:t>Interpretação e Correção de Resultados:</a:t>
            </a:r>
            <a:endParaRPr sz="2600"/>
          </a:p>
        </p:txBody>
      </p:sp>
      <p:sp>
        <p:nvSpPr>
          <p:cNvPr id="748" name="Google Shape;748;p94"/>
          <p:cNvSpPr txBox="1"/>
          <p:nvPr/>
        </p:nvSpPr>
        <p:spPr>
          <a:xfrm>
            <a:off x="540994" y="997571"/>
            <a:ext cx="7576200" cy="4170000"/>
          </a:xfrm>
          <a:prstGeom prst="rect">
            <a:avLst/>
          </a:prstGeom>
          <a:noFill/>
          <a:ln>
            <a:noFill/>
          </a:ln>
        </p:spPr>
        <p:txBody>
          <a:bodyPr anchorCtr="0" anchor="t" bIns="0" lIns="0" spcFirstLastPara="1" rIns="0" wrap="square" tIns="243550">
            <a:spAutoFit/>
          </a:bodyPr>
          <a:lstStyle/>
          <a:p>
            <a:pPr indent="-266700" lvl="0" marL="279400" marR="0" rtl="0" algn="l">
              <a:lnSpc>
                <a:spcPct val="100000"/>
              </a:lnSpc>
              <a:spcBef>
                <a:spcPts val="0"/>
              </a:spcBef>
              <a:spcAft>
                <a:spcPts val="0"/>
              </a:spcAft>
              <a:buSzPts val="1200"/>
              <a:buFont typeface="Noto Sans Symbols"/>
              <a:buChar char="●"/>
            </a:pPr>
            <a:r>
              <a:rPr lang="pt-BR" sz="2600">
                <a:latin typeface="Arial"/>
                <a:ea typeface="Arial"/>
                <a:cs typeface="Arial"/>
                <a:sym typeface="Arial"/>
              </a:rPr>
              <a:t>Parâmetros:</a:t>
            </a:r>
            <a:endParaRPr sz="2600">
              <a:latin typeface="Arial"/>
              <a:ea typeface="Arial"/>
              <a:cs typeface="Arial"/>
              <a:sym typeface="Arial"/>
            </a:endParaRPr>
          </a:p>
          <a:p>
            <a:pPr indent="-234950" lvl="0" marL="279400" marR="0" rtl="0" algn="l">
              <a:lnSpc>
                <a:spcPct val="100000"/>
              </a:lnSpc>
              <a:spcBef>
                <a:spcPts val="1800"/>
              </a:spcBef>
              <a:spcAft>
                <a:spcPts val="0"/>
              </a:spcAft>
              <a:buSzPts val="700"/>
              <a:buFont typeface="Noto Sans Symbols"/>
              <a:buChar char="●"/>
            </a:pPr>
            <a:r>
              <a:rPr lang="pt-BR" sz="2100">
                <a:latin typeface="Arial"/>
                <a:ea typeface="Arial"/>
                <a:cs typeface="Arial"/>
                <a:sym typeface="Arial"/>
              </a:rPr>
              <a:t>Hyperparâmetros:</a:t>
            </a:r>
            <a:endParaRPr sz="2100">
              <a:latin typeface="Arial"/>
              <a:ea typeface="Arial"/>
              <a:cs typeface="Arial"/>
              <a:sym typeface="Arial"/>
            </a:endParaRPr>
          </a:p>
          <a:p>
            <a:pPr indent="-228600" lvl="1" marL="635000" marR="0" rtl="0" algn="l">
              <a:lnSpc>
                <a:spcPct val="100000"/>
              </a:lnSpc>
              <a:spcBef>
                <a:spcPts val="1000"/>
              </a:spcBef>
              <a:spcAft>
                <a:spcPts val="0"/>
              </a:spcAft>
              <a:buSzPts val="1200"/>
              <a:buFont typeface="Noto Sans Symbols"/>
              <a:buChar char="−"/>
            </a:pPr>
            <a:r>
              <a:rPr b="0" i="0" lang="pt-BR" sz="1800" u="none" cap="none" strike="noStrike">
                <a:latin typeface="Arial"/>
                <a:ea typeface="Arial"/>
                <a:cs typeface="Arial"/>
                <a:sym typeface="Arial"/>
              </a:rPr>
              <a:t>Arquitetura da rede (MLP, CNN, RNN, …)</a:t>
            </a:r>
            <a:endParaRPr b="0" i="0" sz="1800" u="none" cap="none" strike="noStrike">
              <a:latin typeface="Arial"/>
              <a:ea typeface="Arial"/>
              <a:cs typeface="Arial"/>
              <a:sym typeface="Arial"/>
            </a:endParaRPr>
          </a:p>
          <a:p>
            <a:pPr indent="-228600" lvl="1" marL="635000" marR="0" rtl="0" algn="l">
              <a:lnSpc>
                <a:spcPct val="113214"/>
              </a:lnSpc>
              <a:spcBef>
                <a:spcPts val="900"/>
              </a:spcBef>
              <a:spcAft>
                <a:spcPts val="0"/>
              </a:spcAft>
              <a:buSzPts val="1200"/>
              <a:buFont typeface="Noto Sans Symbols"/>
              <a:buChar char="−"/>
            </a:pPr>
            <a:r>
              <a:rPr b="0" i="0" lang="pt-BR" sz="1800" u="none" cap="none" strike="noStrike">
                <a:latin typeface="Arial"/>
                <a:ea typeface="Arial"/>
                <a:cs typeface="Arial"/>
                <a:sym typeface="Arial"/>
              </a:rPr>
              <a:t>Número de camadas e número de unidades por  camada (profundidade e largura da rede)</a:t>
            </a:r>
            <a:endParaRPr b="0" i="0" sz="1800" u="none" cap="none" strike="noStrike">
              <a:latin typeface="Arial"/>
              <a:ea typeface="Arial"/>
              <a:cs typeface="Arial"/>
              <a:sym typeface="Arial"/>
            </a:endParaRPr>
          </a:p>
          <a:p>
            <a:pPr indent="-228600" lvl="1" marL="635000" marR="0" rtl="0" algn="l">
              <a:lnSpc>
                <a:spcPct val="100000"/>
              </a:lnSpc>
              <a:spcBef>
                <a:spcPts val="600"/>
              </a:spcBef>
              <a:spcAft>
                <a:spcPts val="0"/>
              </a:spcAft>
              <a:buSzPts val="1200"/>
              <a:buFont typeface="Noto Sans Symbols"/>
              <a:buChar char="−"/>
            </a:pPr>
            <a:r>
              <a:rPr b="0" i="0" lang="pt-BR" sz="1800" u="none" cap="none" strike="noStrike">
                <a:latin typeface="Arial"/>
                <a:ea typeface="Arial"/>
                <a:cs typeface="Arial"/>
                <a:sym typeface="Arial"/>
              </a:rPr>
              <a:t>Função de ativação</a:t>
            </a:r>
            <a:endParaRPr b="0" i="0" sz="1800" u="none" cap="none" strike="noStrike">
              <a:latin typeface="Arial"/>
              <a:ea typeface="Arial"/>
              <a:cs typeface="Arial"/>
              <a:sym typeface="Arial"/>
            </a:endParaRPr>
          </a:p>
          <a:p>
            <a:pPr indent="-228600" lvl="1" marL="635000" marR="0" rtl="0" algn="l">
              <a:lnSpc>
                <a:spcPct val="100000"/>
              </a:lnSpc>
              <a:spcBef>
                <a:spcPts val="700"/>
              </a:spcBef>
              <a:spcAft>
                <a:spcPts val="0"/>
              </a:spcAft>
              <a:buSzPts val="1200"/>
              <a:buFont typeface="Noto Sans Symbols"/>
              <a:buChar char="−"/>
            </a:pPr>
            <a:r>
              <a:rPr b="0" i="0" lang="pt-BR" sz="1800" u="none" cap="none" strike="noStrike">
                <a:latin typeface="Arial"/>
                <a:ea typeface="Arial"/>
                <a:cs typeface="Arial"/>
                <a:sym typeface="Arial"/>
              </a:rPr>
              <a:t>Algoritmos de Otimização</a:t>
            </a:r>
            <a:endParaRPr b="0" i="0" sz="1800" u="none" cap="none" strike="noStrike">
              <a:latin typeface="Arial"/>
              <a:ea typeface="Arial"/>
              <a:cs typeface="Arial"/>
              <a:sym typeface="Arial"/>
            </a:endParaRPr>
          </a:p>
          <a:p>
            <a:pPr indent="-228600" lvl="1" marL="635000" marR="0" rtl="0" algn="l">
              <a:lnSpc>
                <a:spcPct val="100000"/>
              </a:lnSpc>
              <a:spcBef>
                <a:spcPts val="700"/>
              </a:spcBef>
              <a:spcAft>
                <a:spcPts val="0"/>
              </a:spcAft>
              <a:buSzPts val="1200"/>
              <a:buFont typeface="Noto Sans Symbols"/>
              <a:buChar char="−"/>
            </a:pPr>
            <a:r>
              <a:rPr b="0" i="0" lang="pt-BR" sz="1800" u="none" cap="none" strike="noStrike">
                <a:latin typeface="Arial"/>
                <a:ea typeface="Arial"/>
                <a:cs typeface="Arial"/>
                <a:sym typeface="Arial"/>
              </a:rPr>
              <a:t>Taxa de aprendizado</a:t>
            </a:r>
            <a:endParaRPr b="0" i="0" sz="1800" u="none" cap="none" strike="noStrike">
              <a:latin typeface="Arial"/>
              <a:ea typeface="Arial"/>
              <a:cs typeface="Arial"/>
              <a:sym typeface="Arial"/>
            </a:endParaRPr>
          </a:p>
          <a:p>
            <a:pPr indent="-228600" lvl="1" marL="635000" marR="0" rtl="0" algn="l">
              <a:lnSpc>
                <a:spcPct val="100000"/>
              </a:lnSpc>
              <a:spcBef>
                <a:spcPts val="700"/>
              </a:spcBef>
              <a:spcAft>
                <a:spcPts val="0"/>
              </a:spcAft>
              <a:buSzPts val="1200"/>
              <a:buFont typeface="Noto Sans Symbols"/>
              <a:buChar char="−"/>
            </a:pPr>
            <a:r>
              <a:rPr b="0" i="0" lang="pt-BR" sz="1800" u="none" cap="none" strike="noStrike">
                <a:latin typeface="Arial"/>
                <a:ea typeface="Arial"/>
                <a:cs typeface="Arial"/>
                <a:sym typeface="Arial"/>
              </a:rPr>
              <a:t>Técnicas de regularização</a:t>
            </a:r>
            <a:endParaRPr b="0" i="0" sz="1800" u="none" cap="none" strike="noStrike">
              <a:latin typeface="Arial"/>
              <a:ea typeface="Arial"/>
              <a:cs typeface="Arial"/>
              <a:sym typeface="Arial"/>
            </a:endParaRPr>
          </a:p>
          <a:p>
            <a:pPr indent="-260350" lvl="1" marL="635000" marR="0" rtl="0" algn="l">
              <a:lnSpc>
                <a:spcPct val="100000"/>
              </a:lnSpc>
              <a:spcBef>
                <a:spcPts val="700"/>
              </a:spcBef>
              <a:spcAft>
                <a:spcPts val="0"/>
              </a:spcAft>
              <a:buSzPts val="1700"/>
              <a:buFont typeface="Noto Sans Symbols"/>
              <a:buChar char="−"/>
            </a:pPr>
            <a:r>
              <a:rPr b="0" i="0" lang="pt-BR" sz="1800" u="none" cap="none" strike="noStrike">
                <a:latin typeface="Arial"/>
                <a:ea typeface="Arial"/>
                <a:cs typeface="Arial"/>
                <a:sym typeface="Arial"/>
              </a:rPr>
              <a:t>[…] </a:t>
            </a:r>
            <a:r>
              <a:rPr b="0" i="0" lang="pt-BR" sz="1300" u="none" cap="none" strike="noStrike">
                <a:latin typeface="Arial"/>
                <a:ea typeface="Arial"/>
                <a:cs typeface="Arial"/>
                <a:sym typeface="Arial"/>
              </a:rPr>
              <a:t>(sempre tem um que vc tá esquecendo... --')</a:t>
            </a:r>
            <a:endParaRPr b="0" i="0" sz="1300" u="none" cap="none" strike="noStrike">
              <a:latin typeface="Arial"/>
              <a:ea typeface="Arial"/>
              <a:cs typeface="Arial"/>
              <a:sym typeface="Arial"/>
            </a:endParaRPr>
          </a:p>
        </p:txBody>
      </p:sp>
      <p:sp>
        <p:nvSpPr>
          <p:cNvPr id="749" name="Google Shape;749;p94"/>
          <p:cNvSpPr/>
          <p:nvPr/>
        </p:nvSpPr>
        <p:spPr>
          <a:xfrm>
            <a:off x="3165942" y="1206455"/>
            <a:ext cx="4844400" cy="3606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500"/>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53" name="Shape 753"/>
        <p:cNvGrpSpPr/>
        <p:nvPr/>
      </p:nvGrpSpPr>
      <p:grpSpPr>
        <a:xfrm>
          <a:off x="0" y="0"/>
          <a:ext cx="0" cy="0"/>
          <a:chOff x="0" y="0"/>
          <a:chExt cx="0" cy="0"/>
        </a:xfrm>
      </p:grpSpPr>
      <p:sp>
        <p:nvSpPr>
          <p:cNvPr id="754" name="Google Shape;754;p95"/>
          <p:cNvSpPr txBox="1"/>
          <p:nvPr>
            <p:ph type="title"/>
          </p:nvPr>
        </p:nvSpPr>
        <p:spPr>
          <a:xfrm>
            <a:off x="441367" y="451124"/>
            <a:ext cx="6640800" cy="413100"/>
          </a:xfrm>
          <a:prstGeom prst="rect">
            <a:avLst/>
          </a:prstGeom>
          <a:noFill/>
          <a:ln>
            <a:noFill/>
          </a:ln>
        </p:spPr>
        <p:txBody>
          <a:bodyPr anchorCtr="0" anchor="t" bIns="0" lIns="0" spcFirstLastPara="1" rIns="0" wrap="square" tIns="12675">
            <a:spAutoFit/>
          </a:bodyPr>
          <a:lstStyle/>
          <a:p>
            <a:pPr indent="0" lvl="0" marL="12700" rtl="0" algn="l">
              <a:lnSpc>
                <a:spcPct val="100000"/>
              </a:lnSpc>
              <a:spcBef>
                <a:spcPts val="0"/>
              </a:spcBef>
              <a:spcAft>
                <a:spcPts val="0"/>
              </a:spcAft>
              <a:buNone/>
            </a:pPr>
            <a:r>
              <a:rPr lang="pt-BR" sz="2600"/>
              <a:t>Interpretação e Correção de Resultados:</a:t>
            </a:r>
            <a:endParaRPr sz="2600"/>
          </a:p>
        </p:txBody>
      </p:sp>
      <p:sp>
        <p:nvSpPr>
          <p:cNvPr id="755" name="Google Shape;755;p95"/>
          <p:cNvSpPr txBox="1"/>
          <p:nvPr/>
        </p:nvSpPr>
        <p:spPr>
          <a:xfrm>
            <a:off x="540994" y="1184948"/>
            <a:ext cx="3787200" cy="413100"/>
          </a:xfrm>
          <a:prstGeom prst="rect">
            <a:avLst/>
          </a:prstGeom>
          <a:noFill/>
          <a:ln>
            <a:noFill/>
          </a:ln>
        </p:spPr>
        <p:txBody>
          <a:bodyPr anchorCtr="0" anchor="t" bIns="0" lIns="0" spcFirstLastPara="1" rIns="0" wrap="square" tIns="12675">
            <a:spAutoFit/>
          </a:bodyPr>
          <a:lstStyle/>
          <a:p>
            <a:pPr indent="-266700" lvl="0" marL="279400" marR="0" rtl="0" algn="l">
              <a:lnSpc>
                <a:spcPct val="100000"/>
              </a:lnSpc>
              <a:spcBef>
                <a:spcPts val="0"/>
              </a:spcBef>
              <a:spcAft>
                <a:spcPts val="0"/>
              </a:spcAft>
              <a:buSzPts val="1200"/>
              <a:buFont typeface="Noto Sans Symbols"/>
              <a:buChar char="●"/>
            </a:pPr>
            <a:r>
              <a:rPr lang="pt-BR" sz="2600">
                <a:latin typeface="Arial"/>
                <a:ea typeface="Arial"/>
                <a:cs typeface="Arial"/>
                <a:sym typeface="Arial"/>
              </a:rPr>
              <a:t>Ciclo de ML</a:t>
            </a:r>
            <a:endParaRPr sz="2600">
              <a:latin typeface="Arial"/>
              <a:ea typeface="Arial"/>
              <a:cs typeface="Arial"/>
              <a:sym typeface="Arial"/>
            </a:endParaRPr>
          </a:p>
        </p:txBody>
      </p:sp>
      <p:sp>
        <p:nvSpPr>
          <p:cNvPr id="756" name="Google Shape;756;p95"/>
          <p:cNvSpPr/>
          <p:nvPr/>
        </p:nvSpPr>
        <p:spPr>
          <a:xfrm>
            <a:off x="5845899" y="2539746"/>
            <a:ext cx="2311200" cy="12492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500"/>
          </a:p>
        </p:txBody>
      </p:sp>
      <p:sp>
        <p:nvSpPr>
          <p:cNvPr id="757" name="Google Shape;757;p95"/>
          <p:cNvSpPr/>
          <p:nvPr/>
        </p:nvSpPr>
        <p:spPr>
          <a:xfrm>
            <a:off x="821921" y="1865652"/>
            <a:ext cx="4275600" cy="2673900"/>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500"/>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61" name="Shape 761"/>
        <p:cNvGrpSpPr/>
        <p:nvPr/>
      </p:nvGrpSpPr>
      <p:grpSpPr>
        <a:xfrm>
          <a:off x="0" y="0"/>
          <a:ext cx="0" cy="0"/>
          <a:chOff x="0" y="0"/>
          <a:chExt cx="0" cy="0"/>
        </a:xfrm>
      </p:grpSpPr>
      <p:sp>
        <p:nvSpPr>
          <p:cNvPr id="762" name="Google Shape;762;p96"/>
          <p:cNvSpPr txBox="1"/>
          <p:nvPr>
            <p:ph type="title"/>
          </p:nvPr>
        </p:nvSpPr>
        <p:spPr>
          <a:xfrm>
            <a:off x="441377" y="451125"/>
            <a:ext cx="8281200" cy="413100"/>
          </a:xfrm>
          <a:prstGeom prst="rect">
            <a:avLst/>
          </a:prstGeom>
          <a:noFill/>
          <a:ln>
            <a:noFill/>
          </a:ln>
        </p:spPr>
        <p:txBody>
          <a:bodyPr anchorCtr="0" anchor="t" bIns="0" lIns="0" spcFirstLastPara="1" rIns="0" wrap="square" tIns="12675">
            <a:spAutoFit/>
          </a:bodyPr>
          <a:lstStyle/>
          <a:p>
            <a:pPr indent="0" lvl="0" marL="0" rtl="0" algn="l">
              <a:lnSpc>
                <a:spcPct val="100000"/>
              </a:lnSpc>
              <a:spcBef>
                <a:spcPts val="0"/>
              </a:spcBef>
              <a:spcAft>
                <a:spcPts val="0"/>
              </a:spcAft>
              <a:buNone/>
            </a:pPr>
            <a:r>
              <a:rPr b="1" lang="pt-BR" sz="2600"/>
              <a:t>Atividade: (hiper)parametrização + Tensorboard </a:t>
            </a:r>
            <a:endParaRPr b="1" sz="2600"/>
          </a:p>
        </p:txBody>
      </p:sp>
      <p:sp>
        <p:nvSpPr>
          <p:cNvPr id="763" name="Google Shape;763;p96"/>
          <p:cNvSpPr txBox="1"/>
          <p:nvPr/>
        </p:nvSpPr>
        <p:spPr>
          <a:xfrm>
            <a:off x="95225" y="1184950"/>
            <a:ext cx="8929800" cy="1782900"/>
          </a:xfrm>
          <a:prstGeom prst="rect">
            <a:avLst/>
          </a:prstGeom>
          <a:noFill/>
          <a:ln>
            <a:noFill/>
          </a:ln>
        </p:spPr>
        <p:txBody>
          <a:bodyPr anchorCtr="0" anchor="t" bIns="0" lIns="0" spcFirstLastPara="1" rIns="0" wrap="square" tIns="12675">
            <a:spAutoFit/>
          </a:bodyPr>
          <a:lstStyle/>
          <a:p>
            <a:pPr indent="0" lvl="0" marL="0" marR="0" rtl="0" algn="l">
              <a:lnSpc>
                <a:spcPct val="100000"/>
              </a:lnSpc>
              <a:spcBef>
                <a:spcPts val="0"/>
              </a:spcBef>
              <a:spcAft>
                <a:spcPts val="0"/>
              </a:spcAft>
              <a:buNone/>
            </a:pPr>
            <a:r>
              <a:rPr lang="pt-BR" sz="2300"/>
              <a:t>Depurar/experimentar o código (fashion_parametrizacao.ipynb) disponível no moodle com o tensorboard!</a:t>
            </a:r>
            <a:br>
              <a:rPr lang="pt-BR" sz="2300"/>
            </a:br>
            <a:r>
              <a:rPr lang="pt-BR" sz="2300" u="sng">
                <a:solidFill>
                  <a:schemeClr val="hlink"/>
                </a:solidFill>
                <a:hlinkClick r:id="rId3"/>
              </a:rPr>
              <a:t>https://colab.research.google.com/drive/1XfnX4XhK5hnCdNmUgu6VV3MnSgWym1VQ?usp=sharing</a:t>
            </a:r>
            <a:endParaRPr sz="2300"/>
          </a:p>
          <a:p>
            <a:pPr indent="0" lvl="0" marL="0" marR="0" rtl="0" algn="l">
              <a:lnSpc>
                <a:spcPct val="100000"/>
              </a:lnSpc>
              <a:spcBef>
                <a:spcPts val="0"/>
              </a:spcBef>
              <a:spcAft>
                <a:spcPts val="0"/>
              </a:spcAft>
              <a:buNone/>
            </a:pPr>
            <a:r>
              <a:t/>
            </a:r>
            <a:endParaRPr sz="2300"/>
          </a:p>
        </p:txBody>
      </p:sp>
      <p:pic>
        <p:nvPicPr>
          <p:cNvPr id="764" name="Google Shape;764;p96"/>
          <p:cNvPicPr preferRelativeResize="0"/>
          <p:nvPr/>
        </p:nvPicPr>
        <p:blipFill>
          <a:blip r:embed="rId4">
            <a:alphaModFix/>
          </a:blip>
          <a:stretch>
            <a:fillRect/>
          </a:stretch>
        </p:blipFill>
        <p:spPr>
          <a:xfrm>
            <a:off x="1613325" y="2673375"/>
            <a:ext cx="4353448" cy="2421449"/>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8" name="Shape 768"/>
        <p:cNvGrpSpPr/>
        <p:nvPr/>
      </p:nvGrpSpPr>
      <p:grpSpPr>
        <a:xfrm>
          <a:off x="0" y="0"/>
          <a:ext cx="0" cy="0"/>
          <a:chOff x="0" y="0"/>
          <a:chExt cx="0" cy="0"/>
        </a:xfrm>
      </p:grpSpPr>
      <p:sp>
        <p:nvSpPr>
          <p:cNvPr id="769" name="Google Shape;769;p9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Referências</a:t>
            </a:r>
            <a:endParaRPr/>
          </a:p>
        </p:txBody>
      </p:sp>
      <p:sp>
        <p:nvSpPr>
          <p:cNvPr id="770" name="Google Shape;770;p9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2" marL="0" rtl="0" algn="l">
              <a:lnSpc>
                <a:spcPct val="90000"/>
              </a:lnSpc>
              <a:spcBef>
                <a:spcPts val="500"/>
              </a:spcBef>
              <a:spcAft>
                <a:spcPts val="0"/>
              </a:spcAft>
              <a:buNone/>
            </a:pPr>
            <a:r>
              <a:rPr lang="pt-BR"/>
              <a:t>[1] </a:t>
            </a:r>
            <a:r>
              <a:rPr lang="pt-BR" sz="1800">
                <a:solidFill>
                  <a:srgbClr val="3D3B49"/>
                </a:solidFill>
                <a:highlight>
                  <a:srgbClr val="FFFFFF"/>
                </a:highlight>
                <a:uFill>
                  <a:noFill/>
                </a:uFill>
                <a:hlinkClick r:id="rId3">
                  <a:extLst>
                    <a:ext uri="{A12FA001-AC4F-418D-AE19-62706E023703}">
                      <ahyp:hlinkClr val="tx"/>
                    </a:ext>
                  </a:extLst>
                </a:hlinkClick>
              </a:rPr>
              <a:t>Aurélien Géron. Neural networks and deep learning</a:t>
            </a:r>
            <a:r>
              <a:rPr lang="pt-BR" sz="1800"/>
              <a:t>  </a:t>
            </a:r>
            <a:r>
              <a:rPr lang="pt-BR" sz="1800" u="sng">
                <a:solidFill>
                  <a:schemeClr val="hlink"/>
                </a:solidFill>
                <a:hlinkClick r:id="rId4"/>
              </a:rPr>
              <a:t>https://www.oreilly.com/library/view/neural-networks-and/9781492037354/ch01.html</a:t>
            </a:r>
            <a:r>
              <a:rPr lang="pt-BR" sz="1800"/>
              <a:t> </a:t>
            </a:r>
            <a:endParaRPr sz="1800"/>
          </a:p>
          <a:p>
            <a:pPr indent="0" lvl="2" marL="0" rtl="0" algn="l">
              <a:lnSpc>
                <a:spcPct val="90000"/>
              </a:lnSpc>
              <a:spcBef>
                <a:spcPts val="500"/>
              </a:spcBef>
              <a:spcAft>
                <a:spcPts val="0"/>
              </a:spcAft>
              <a:buNone/>
            </a:pPr>
            <a:r>
              <a:rPr lang="pt-BR" sz="1800"/>
              <a:t>[2] François Chollet. Deep Learning with Python. Manning - Author do Keras!</a:t>
            </a:r>
            <a:endParaRPr sz="1800"/>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4" name="Shape 774"/>
        <p:cNvGrpSpPr/>
        <p:nvPr/>
      </p:nvGrpSpPr>
      <p:grpSpPr>
        <a:xfrm>
          <a:off x="0" y="0"/>
          <a:ext cx="0" cy="0"/>
          <a:chOff x="0" y="0"/>
          <a:chExt cx="0" cy="0"/>
        </a:xfrm>
      </p:grpSpPr>
      <p:sp>
        <p:nvSpPr>
          <p:cNvPr id="775" name="Google Shape;775;p9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Desbalanceamento de Classes</a:t>
            </a:r>
            <a:endParaRPr/>
          </a:p>
        </p:txBody>
      </p:sp>
      <p:sp>
        <p:nvSpPr>
          <p:cNvPr id="776" name="Google Shape;776;p9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pt-BR" sz="1150">
                <a:solidFill>
                  <a:srgbClr val="232629"/>
                </a:solidFill>
                <a:highlight>
                  <a:srgbClr val="FFFFFF"/>
                </a:highlight>
              </a:rPr>
              <a:t>You could simply implement the </a:t>
            </a:r>
            <a:r>
              <a:rPr lang="pt-BR" sz="1150" u="sng">
                <a:solidFill>
                  <a:schemeClr val="hlink"/>
                </a:solidFill>
                <a:highlight>
                  <a:srgbClr val="FFFFFF"/>
                </a:highlight>
                <a:hlinkClick r:id="rId3"/>
              </a:rPr>
              <a:t>class_weight</a:t>
            </a:r>
            <a:r>
              <a:rPr lang="pt-BR" sz="1150">
                <a:solidFill>
                  <a:srgbClr val="232629"/>
                </a:solidFill>
                <a:highlight>
                  <a:srgbClr val="FFFFFF"/>
                </a:highlight>
              </a:rPr>
              <a:t> from sklearn:</a:t>
            </a:r>
            <a:endParaRPr sz="1150">
              <a:solidFill>
                <a:srgbClr val="232629"/>
              </a:solidFill>
              <a:highlight>
                <a:srgbClr val="FFFFFF"/>
              </a:highlight>
            </a:endParaRPr>
          </a:p>
          <a:p>
            <a:pPr indent="-301625" lvl="0" marL="749300" rtl="0" algn="l">
              <a:spcBef>
                <a:spcPts val="0"/>
              </a:spcBef>
              <a:spcAft>
                <a:spcPts val="0"/>
              </a:spcAft>
              <a:buClr>
                <a:srgbClr val="232629"/>
              </a:buClr>
              <a:buSzPts val="1150"/>
              <a:buAutoNum type="arabicPeriod"/>
            </a:pPr>
            <a:r>
              <a:rPr lang="pt-BR" sz="1150">
                <a:solidFill>
                  <a:srgbClr val="232629"/>
                </a:solidFill>
                <a:highlight>
                  <a:srgbClr val="FFFFFF"/>
                </a:highlight>
              </a:rPr>
              <a:t>Let's import the module first</a:t>
            </a:r>
            <a:br>
              <a:rPr lang="pt-BR" sz="1150">
                <a:solidFill>
                  <a:srgbClr val="232629"/>
                </a:solidFill>
                <a:highlight>
                  <a:srgbClr val="FFFFFF"/>
                </a:highlight>
              </a:rPr>
            </a:br>
            <a:r>
              <a:rPr lang="pt-BR" sz="1000">
                <a:solidFill>
                  <a:srgbClr val="232629"/>
                </a:solidFill>
                <a:highlight>
                  <a:srgbClr val="FFFFFF"/>
                </a:highlight>
              </a:rPr>
              <a:t>from</a:t>
            </a:r>
            <a:r>
              <a:rPr lang="pt-BR" sz="1150">
                <a:solidFill>
                  <a:srgbClr val="232629"/>
                </a:solidFill>
                <a:highlight>
                  <a:srgbClr val="FFFFFF"/>
                </a:highlight>
              </a:rPr>
              <a:t> sklearn.utils </a:t>
            </a:r>
            <a:r>
              <a:rPr lang="pt-BR" sz="1000">
                <a:solidFill>
                  <a:srgbClr val="232629"/>
                </a:solidFill>
                <a:highlight>
                  <a:srgbClr val="FFFFFF"/>
                </a:highlight>
              </a:rPr>
              <a:t>import</a:t>
            </a:r>
            <a:r>
              <a:rPr lang="pt-BR" sz="1150">
                <a:solidFill>
                  <a:srgbClr val="232629"/>
                </a:solidFill>
                <a:highlight>
                  <a:srgbClr val="FFFFFF"/>
                </a:highlight>
              </a:rPr>
              <a:t> class_weight</a:t>
            </a:r>
            <a:endParaRPr sz="1150">
              <a:solidFill>
                <a:srgbClr val="232629"/>
              </a:solidFill>
              <a:highlight>
                <a:srgbClr val="FFFFFF"/>
              </a:highlight>
            </a:endParaRPr>
          </a:p>
          <a:p>
            <a:pPr indent="-301625" lvl="0" marL="749300" rtl="0" algn="l">
              <a:spcBef>
                <a:spcPts val="0"/>
              </a:spcBef>
              <a:spcAft>
                <a:spcPts val="0"/>
              </a:spcAft>
              <a:buClr>
                <a:srgbClr val="232629"/>
              </a:buClr>
              <a:buSzPts val="1150"/>
              <a:buAutoNum type="arabicPeriod"/>
            </a:pPr>
            <a:r>
              <a:rPr lang="pt-BR" sz="1150">
                <a:solidFill>
                  <a:srgbClr val="232629"/>
                </a:solidFill>
                <a:highlight>
                  <a:srgbClr val="FFFFFF"/>
                </a:highlight>
              </a:rPr>
              <a:t>In order to calculate the class weight do the following</a:t>
            </a:r>
            <a:br>
              <a:rPr lang="pt-BR" sz="1150">
                <a:solidFill>
                  <a:srgbClr val="232629"/>
                </a:solidFill>
                <a:highlight>
                  <a:srgbClr val="FFFFFF"/>
                </a:highlight>
              </a:rPr>
            </a:br>
            <a:r>
              <a:rPr lang="pt-BR" sz="1150">
                <a:solidFill>
                  <a:srgbClr val="232629"/>
                </a:solidFill>
                <a:highlight>
                  <a:srgbClr val="FFFFFF"/>
                </a:highlight>
              </a:rPr>
              <a:t>class_weights = class_weight.compute_class_weight(class_weight=</a:t>
            </a:r>
            <a:r>
              <a:rPr lang="pt-BR" sz="1000">
                <a:solidFill>
                  <a:srgbClr val="232629"/>
                </a:solidFill>
                <a:highlight>
                  <a:srgbClr val="FFFFFF"/>
                </a:highlight>
              </a:rPr>
              <a:t>'balanced'</a:t>
            </a:r>
            <a:r>
              <a:rPr lang="pt-BR" sz="1150">
                <a:solidFill>
                  <a:srgbClr val="232629"/>
                </a:solidFill>
                <a:highlight>
                  <a:srgbClr val="FFFFFF"/>
                </a:highlight>
              </a:rPr>
              <a:t>, classes=np.unique(y_train), y= y_train)</a:t>
            </a:r>
            <a:endParaRPr sz="1150">
              <a:solidFill>
                <a:srgbClr val="232629"/>
              </a:solidFill>
              <a:highlight>
                <a:srgbClr val="FFFFFF"/>
              </a:highlight>
            </a:endParaRPr>
          </a:p>
          <a:p>
            <a:pPr indent="-301625" lvl="0" marL="749300" rtl="0" algn="l">
              <a:spcBef>
                <a:spcPts val="0"/>
              </a:spcBef>
              <a:spcAft>
                <a:spcPts val="0"/>
              </a:spcAft>
              <a:buClr>
                <a:srgbClr val="232629"/>
              </a:buClr>
              <a:buSzPts val="1150"/>
              <a:buAutoNum type="arabicPeriod"/>
            </a:pPr>
            <a:r>
              <a:rPr lang="pt-BR" sz="1000">
                <a:solidFill>
                  <a:srgbClr val="232629"/>
                </a:solidFill>
                <a:highlight>
                  <a:srgbClr val="E3E6E8"/>
                </a:highlight>
                <a:latin typeface="Courier New"/>
                <a:ea typeface="Courier New"/>
                <a:cs typeface="Courier New"/>
                <a:sym typeface="Courier New"/>
              </a:rPr>
              <a:t>class_weights=</a:t>
            </a:r>
            <a:r>
              <a:rPr lang="pt-BR" sz="1000">
                <a:solidFill>
                  <a:srgbClr val="232629"/>
                </a:solidFill>
                <a:highlight>
                  <a:srgbClr val="E3E6E8"/>
                </a:highlight>
                <a:latin typeface="Courier New"/>
                <a:ea typeface="Courier New"/>
                <a:cs typeface="Courier New"/>
                <a:sym typeface="Courier New"/>
              </a:rPr>
              <a:t>dict(enumerate(class_weights))</a:t>
            </a:r>
            <a:endParaRPr sz="1150">
              <a:solidFill>
                <a:srgbClr val="232629"/>
              </a:solidFill>
              <a:highlight>
                <a:srgbClr val="FFFFFF"/>
              </a:highlight>
            </a:endParaRPr>
          </a:p>
          <a:p>
            <a:pPr indent="-301625" lvl="0" marL="749300" rtl="0" algn="l">
              <a:spcBef>
                <a:spcPts val="0"/>
              </a:spcBef>
              <a:spcAft>
                <a:spcPts val="0"/>
              </a:spcAft>
              <a:buClr>
                <a:srgbClr val="232629"/>
              </a:buClr>
              <a:buSzPts val="1150"/>
              <a:buAutoNum type="arabicPeriod"/>
            </a:pPr>
            <a:r>
              <a:rPr lang="pt-BR" sz="1150">
                <a:solidFill>
                  <a:srgbClr val="232629"/>
                </a:solidFill>
                <a:highlight>
                  <a:srgbClr val="FFFFFF"/>
                </a:highlight>
              </a:rPr>
              <a:t>Thirdly and lastly add it to the model fitting</a:t>
            </a:r>
            <a:br>
              <a:rPr lang="pt-BR" sz="1150">
                <a:solidFill>
                  <a:srgbClr val="232629"/>
                </a:solidFill>
                <a:highlight>
                  <a:srgbClr val="FFFFFF"/>
                </a:highlight>
              </a:rPr>
            </a:br>
            <a:r>
              <a:rPr lang="pt-BR" sz="1150">
                <a:solidFill>
                  <a:srgbClr val="232629"/>
                </a:solidFill>
                <a:highlight>
                  <a:srgbClr val="FFFFFF"/>
                </a:highlight>
              </a:rPr>
              <a:t>model.fit(X_train, y_train, class_weight=class_weights)</a:t>
            </a:r>
            <a:endParaRPr sz="1150">
              <a:solidFill>
                <a:srgbClr val="232629"/>
              </a:solidFill>
              <a:highlight>
                <a:srgbClr val="FFFFFF"/>
              </a:highlight>
            </a:endParaRPr>
          </a:p>
          <a:p>
            <a:pPr indent="0" lvl="2" marL="0" rtl="0" algn="l">
              <a:lnSpc>
                <a:spcPct val="90000"/>
              </a:lnSpc>
              <a:spcBef>
                <a:spcPts val="500"/>
              </a:spcBef>
              <a:spcAft>
                <a:spcPts val="0"/>
              </a:spcAft>
              <a:buNone/>
            </a:pPr>
            <a:r>
              <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0" name="Shape 780"/>
        <p:cNvGrpSpPr/>
        <p:nvPr/>
      </p:nvGrpSpPr>
      <p:grpSpPr>
        <a:xfrm>
          <a:off x="0" y="0"/>
          <a:ext cx="0" cy="0"/>
          <a:chOff x="0" y="0"/>
          <a:chExt cx="0" cy="0"/>
        </a:xfrm>
      </p:grpSpPr>
      <p:sp>
        <p:nvSpPr>
          <p:cNvPr id="781" name="Google Shape;781;p9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dicas</a:t>
            </a:r>
            <a:endParaRPr/>
          </a:p>
        </p:txBody>
      </p:sp>
      <p:sp>
        <p:nvSpPr>
          <p:cNvPr id="782" name="Google Shape;782;p9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pt-BR" sz="1150">
                <a:solidFill>
                  <a:srgbClr val="232629"/>
                </a:solidFill>
                <a:highlight>
                  <a:srgbClr val="FFFFFF"/>
                </a:highlight>
              </a:rPr>
              <a:t>https://machinelearningmastery.com/improve-deep-learning-performance/</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